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1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4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5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9" r:id="rId4"/>
    <p:sldId id="272" r:id="rId5"/>
    <p:sldId id="262" r:id="rId6"/>
    <p:sldId id="265" r:id="rId7"/>
    <p:sldId id="284" r:id="rId8"/>
    <p:sldId id="283" r:id="rId9"/>
    <p:sldId id="288" r:id="rId10"/>
    <p:sldId id="287" r:id="rId11"/>
    <p:sldId id="286" r:id="rId12"/>
    <p:sldId id="273" r:id="rId13"/>
    <p:sldId id="275" r:id="rId14"/>
    <p:sldId id="292" r:id="rId15"/>
    <p:sldId id="291" r:id="rId16"/>
    <p:sldId id="290" r:id="rId17"/>
    <p:sldId id="274" r:id="rId18"/>
    <p:sldId id="289" r:id="rId19"/>
    <p:sldId id="282" r:id="rId20"/>
    <p:sldId id="281" r:id="rId21"/>
    <p:sldId id="263" r:id="rId22"/>
    <p:sldId id="264" r:id="rId23"/>
    <p:sldId id="266" r:id="rId24"/>
    <p:sldId id="269" r:id="rId25"/>
    <p:sldId id="270" r:id="rId26"/>
    <p:sldId id="277" r:id="rId27"/>
    <p:sldId id="276" r:id="rId28"/>
    <p:sldId id="271" r:id="rId29"/>
    <p:sldId id="279" r:id="rId30"/>
    <p:sldId id="260" r:id="rId31"/>
    <p:sldId id="261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0619DA5B-B58B-4A5A-B5EF-BAFCD498429B}">
          <p14:sldIdLst>
            <p14:sldId id="256"/>
            <p14:sldId id="257"/>
            <p14:sldId id="259"/>
            <p14:sldId id="272"/>
          </p14:sldIdLst>
        </p14:section>
        <p14:section name="Enrollment" id="{2EB879E7-6C3C-4C94-972F-9F0BBC01F1E4}">
          <p14:sldIdLst>
            <p14:sldId id="262"/>
            <p14:sldId id="265"/>
          </p14:sldIdLst>
        </p14:section>
        <p14:section name="Claims &amp; Utilization" id="{B8BEBF95-2D9F-4689-A935-D0C13404A057}">
          <p14:sldIdLst>
            <p14:sldId id="284"/>
            <p14:sldId id="283"/>
          </p14:sldIdLst>
        </p14:section>
        <p14:section name="Quality &amp; Star Ratings" id="{B972F16E-424C-4FE6-B50E-266709E509F5}">
          <p14:sldIdLst>
            <p14:sldId id="288"/>
            <p14:sldId id="287"/>
          </p14:sldIdLst>
        </p14:section>
        <p14:section name="Provider Network" id="{4F1E476B-809C-4CC0-A9C3-DE2E7888455C}">
          <p14:sldIdLst>
            <p14:sldId id="286"/>
          </p14:sldIdLst>
        </p14:section>
        <p14:section name="Recommendations" id="{A029862D-51F3-4D79-BFBB-D0C8F07E947E}">
          <p14:sldIdLst>
            <p14:sldId id="273"/>
          </p14:sldIdLst>
        </p14:section>
        <p14:section name="Dashboard Showcase" id="{D1AE6DF7-159C-4093-B5F5-5E347B829A0D}">
          <p14:sldIdLst>
            <p14:sldId id="275"/>
            <p14:sldId id="292"/>
            <p14:sldId id="291"/>
            <p14:sldId id="290"/>
          </p14:sldIdLst>
        </p14:section>
        <p14:section name="Sources &amp; Limitations" id="{6847C510-CE78-4CD2-BD20-54EEDB0CF702}">
          <p14:sldIdLst>
            <p14:sldId id="274"/>
          </p14:sldIdLst>
        </p14:section>
        <p14:section name="Technical Appendix: Part B Specialty Analysis" id="{2850FA8C-51F5-4198-B509-CFACF86A8CD7}">
          <p14:sldIdLst>
            <p14:sldId id="289"/>
            <p14:sldId id="282"/>
            <p14:sldId id="281"/>
            <p14:sldId id="263"/>
            <p14:sldId id="264"/>
            <p14:sldId id="266"/>
            <p14:sldId id="269"/>
            <p14:sldId id="270"/>
            <p14:sldId id="277"/>
            <p14:sldId id="276"/>
            <p14:sldId id="271"/>
            <p14:sldId id="27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16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81841-73FF-4678-9FFF-C6E09482BF58}" v="9" dt="2026-09-04T23:31:28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634" autoAdjust="0"/>
  </p:normalViewPr>
  <p:slideViewPr>
    <p:cSldViewPr snapToGrid="0">
      <p:cViewPr varScale="1">
        <p:scale>
          <a:sx n="74" d="100"/>
          <a:sy n="74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." userId="3236c6b2e56daa40" providerId="LiveId" clId="{85A99607-DB28-43FE-BA94-4B6B159B34CD}"/>
    <pc:docChg chg="undo custSel addSld modSld sldOrd addSection delSection modSection">
      <pc:chgData name="Lisa ." userId="3236c6b2e56daa40" providerId="LiveId" clId="{85A99607-DB28-43FE-BA94-4B6B159B34CD}" dt="2026-09-05T00:23:04.860" v="29" actId="26606"/>
      <pc:docMkLst>
        <pc:docMk/>
      </pc:docMkLst>
      <pc:sldChg chg="addSp 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56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9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Lisa ." userId="3236c6b2e56daa40" providerId="LiveId" clId="{85A99607-DB28-43FE-BA94-4B6B159B34CD}" dt="2026-09-04T23:53:33.678" v="10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Lisa ." userId="3236c6b2e56daa40" providerId="LiveId" clId="{85A99607-DB28-43FE-BA94-4B6B159B34CD}" dt="2026-09-05T00:17:03.541" v="23" actId="26606"/>
          <ac:spMkLst>
            <pc:docMk/>
            <pc:sldMk cId="0" sldId="256"/>
            <ac:spMk id="28" creationId="{00000000-0000-0000-0000-000000000000}"/>
          </ac:spMkLst>
        </pc:spChg>
        <pc:graphicFrameChg chg="add mod">
          <ac:chgData name="Lisa ." userId="3236c6b2e56daa40" providerId="LiveId" clId="{85A99607-DB28-43FE-BA94-4B6B159B34CD}" dt="2026-09-04T23:31:28.144" v="8"/>
          <ac:graphicFrameMkLst>
            <pc:docMk/>
            <pc:sldMk cId="0" sldId="256"/>
            <ac:graphicFrameMk id="29" creationId="{EFF3C7F1-2BFA-FFB0-6FCA-B52710720458}"/>
          </ac:graphicFrameMkLst>
        </pc:graphicFrame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57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7"/>
            <ac:spMk id="55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59"/>
        </pc:sldMkLst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9"/>
            <ac:spMk id="6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Lisa ." userId="3236c6b2e56daa40" providerId="LiveId" clId="{85A99607-DB28-43FE-BA94-4B6B159B34CD}" dt="2026-09-05T00:17:03.541" v="23" actId="2660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59"/>
            <ac:spMk id="29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60"/>
        </pc:sldMkLst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0"/>
            <ac:spMk id="31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61"/>
        </pc:sldMkLst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1"/>
            <ac:spMk id="5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1"/>
            <ac:spMk id="36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62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2"/>
            <ac:spMk id="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2"/>
            <ac:spMk id="6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2"/>
            <ac:spMk id="17" creationId="{00000000-0000-0000-0000-000000000000}"/>
          </ac:spMkLst>
        </pc:spChg>
        <pc:graphicFrameChg chg="mod">
          <ac:chgData name="Lisa ." userId="3236c6b2e56daa40" providerId="LiveId" clId="{85A99607-DB28-43FE-BA94-4B6B159B34CD}" dt="2026-08-26T23:28:30.301" v="1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63"/>
        </pc:sldMkLst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3"/>
            <ac:spMk id="18" creationId="{00000000-0000-0000-0000-000000000000}"/>
          </ac:spMkLst>
        </pc:spChg>
        <pc:graphicFrameChg chg="mod">
          <ac:chgData name="Lisa ." userId="3236c6b2e56daa40" providerId="LiveId" clId="{85A99607-DB28-43FE-BA94-4B6B159B34CD}" dt="2026-08-26T23:28:58.624" v="2"/>
          <ac:graphicFrameMkLst>
            <pc:docMk/>
            <pc:sldMk cId="0" sldId="263"/>
            <ac:graphicFrameMk id="7" creationId="{00000000-0000-0000-0000-000000000000}"/>
          </ac:graphicFrameMkLst>
        </pc:graphicFrame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64"/>
        </pc:sldMkLst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4"/>
            <ac:spMk id="6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4"/>
            <ac:spMk id="8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4"/>
            <ac:spMk id="19" creationId="{00000000-0000-0000-0000-000000000000}"/>
          </ac:spMkLst>
        </pc:spChg>
        <pc:graphicFrameChg chg="mod">
          <ac:chgData name="Lisa ." userId="3236c6b2e56daa40" providerId="LiveId" clId="{85A99607-DB28-43FE-BA94-4B6B159B34CD}" dt="2026-08-26T23:30:26.832" v="3"/>
          <ac:graphicFrameMkLst>
            <pc:docMk/>
            <pc:sldMk cId="0" sldId="264"/>
            <ac:graphicFrameMk id="7" creationId="{00000000-0000-0000-0000-000000000000}"/>
          </ac:graphicFrameMkLst>
        </pc:graphicFrameChg>
        <pc:graphicFrameChg chg="mod">
          <ac:chgData name="Lisa ." userId="3236c6b2e56daa40" providerId="LiveId" clId="{85A99607-DB28-43FE-BA94-4B6B159B34CD}" dt="2026-08-26T23:30:32.546" v="4"/>
          <ac:graphicFrameMkLst>
            <pc:docMk/>
            <pc:sldMk cId="0" sldId="264"/>
            <ac:graphicFrameMk id="9" creationId="{00000000-0000-0000-0000-000000000000}"/>
          </ac:graphicFrameMkLst>
        </pc:graphicFrame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65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5"/>
            <ac:spMk id="4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5"/>
            <ac:spMk id="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5"/>
            <ac:spMk id="17" creationId="{00000000-0000-0000-0000-000000000000}"/>
          </ac:spMkLst>
        </pc:spChg>
        <pc:graphicFrameChg chg="mod">
          <ac:chgData name="Lisa ." userId="3236c6b2e56daa40" providerId="LiveId" clId="{85A99607-DB28-43FE-BA94-4B6B159B34CD}" dt="2026-08-26T23:30:39.554" v="5"/>
          <ac:graphicFrameMkLst>
            <pc:docMk/>
            <pc:sldMk cId="0" sldId="265"/>
            <ac:graphicFrameMk id="7" creationId="{00000000-0000-0000-0000-000000000000}"/>
          </ac:graphicFrameMkLst>
        </pc:graphicFrameChg>
      </pc:sldChg>
      <pc:sldChg chg="addSp delSp 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66"/>
        </pc:sldMkLst>
        <pc:spChg chg="del">
          <ac:chgData name="Lisa ." userId="3236c6b2e56daa40" providerId="LiveId" clId="{85A99607-DB28-43FE-BA94-4B6B159B34CD}" dt="2026-09-04T23:58:39.934" v="14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Lisa ." userId="3236c6b2e56daa40" providerId="LiveId" clId="{85A99607-DB28-43FE-BA94-4B6B159B34CD}" dt="2026-09-04T23:59:57.137" v="20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Lisa ." userId="3236c6b2e56daa40" providerId="LiveId" clId="{85A99607-DB28-43FE-BA94-4B6B159B34CD}" dt="2026-09-04T23:58:49.814" v="15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6"/>
            <ac:spMk id="47" creationId="{00000000-0000-0000-0000-000000000000}"/>
          </ac:spMkLst>
        </pc:spChg>
        <pc:spChg chg="add">
          <ac:chgData name="Lisa ." userId="3236c6b2e56daa40" providerId="LiveId" clId="{85A99607-DB28-43FE-BA94-4B6B159B34CD}" dt="2026-09-04T23:59:18.310" v="17" actId="22"/>
          <ac:spMkLst>
            <pc:docMk/>
            <pc:sldMk cId="0" sldId="266"/>
            <ac:spMk id="49" creationId="{BB9D08D9-CE1D-B6E1-013A-C14C25FB464D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69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69"/>
            <ac:spMk id="17" creationId="{00000000-0000-0000-0000-000000000000}"/>
          </ac:spMkLst>
        </pc:spChg>
        <pc:graphicFrameChg chg="mod">
          <ac:chgData name="Lisa ." userId="3236c6b2e56daa40" providerId="LiveId" clId="{85A99607-DB28-43FE-BA94-4B6B159B34CD}" dt="2026-08-26T23:30:46.828" v="6"/>
          <ac:graphicFrameMkLst>
            <pc:docMk/>
            <pc:sldMk cId="0" sldId="269"/>
            <ac:graphicFrameMk id="7" creationId="{00000000-0000-0000-0000-000000000000}"/>
          </ac:graphicFrameMkLst>
        </pc:graphicFrame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70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0"/>
            <ac:spMk id="25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71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1"/>
            <ac:spMk id="33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72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7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8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2"/>
            <ac:spMk id="22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73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8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9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23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3"/>
            <ac:spMk id="26" creationId="{00000000-0000-0000-0000-000000000000}"/>
          </ac:spMkLst>
        </pc:spChg>
      </pc:sldChg>
      <pc:sldChg chg="addSp 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74"/>
        </pc:sldMkLst>
        <pc:spChg chg="mod">
          <ac:chgData name="Lisa ." userId="3236c6b2e56daa40" providerId="LiveId" clId="{85A99607-DB28-43FE-BA94-4B6B159B34CD}" dt="2026-09-05T00:20:32.466" v="27" actId="1076"/>
          <ac:spMkLst>
            <pc:docMk/>
            <pc:sldMk cId="0" sldId="274"/>
            <ac:spMk id="5" creationId="{00000000-0000-0000-0000-000000000000}"/>
          </ac:spMkLst>
        </pc:spChg>
        <pc:spChg chg="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7" creationId="{00000000-0000-0000-0000-000000000000}"/>
          </ac:spMkLst>
        </pc:spChg>
        <pc:spChg chg="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8" creationId="{00000000-0000-0000-0000-000000000000}"/>
          </ac:spMkLst>
        </pc:spChg>
        <pc:spChg chg="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9" creationId="{00000000-0000-0000-0000-000000000000}"/>
          </ac:spMkLst>
        </pc:spChg>
        <pc:spChg chg="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Lisa ." userId="3236c6b2e56daa40" providerId="LiveId" clId="{85A99607-DB28-43FE-BA94-4B6B159B34CD}" dt="2026-09-05T00:07:18.459" v="21" actId="2660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14" creationId="{00000000-0000-0000-0000-000000000000}"/>
          </ac:spMkLst>
        </pc:spChg>
        <pc:spChg chg="mod">
          <ac:chgData name="Lisa ." userId="3236c6b2e56daa40" providerId="LiveId" clId="{85A99607-DB28-43FE-BA94-4B6B159B34CD}" dt="2026-09-05T00:07:18.459" v="21" actId="2660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Lisa ." userId="3236c6b2e56daa40" providerId="LiveId" clId="{85A99607-DB28-43FE-BA94-4B6B159B34CD}" dt="2026-09-05T00:20:38.279" v="28" actId="107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4"/>
            <ac:spMk id="20" creationId="{00000000-0000-0000-0000-000000000000}"/>
          </ac:spMkLst>
        </pc:spChg>
        <pc:spChg chg="add 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21" creationId="{00000000-0000-0000-0000-000000000000}"/>
          </ac:spMkLst>
        </pc:spChg>
        <pc:spChg chg="add mod">
          <ac:chgData name="Lisa ." userId="3236c6b2e56daa40" providerId="LiveId" clId="{85A99607-DB28-43FE-BA94-4B6B159B34CD}" dt="2026-09-05T00:19:59.092" v="24" actId="26606"/>
          <ac:spMkLst>
            <pc:docMk/>
            <pc:sldMk cId="0" sldId="274"/>
            <ac:spMk id="23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75"/>
        </pc:sldMkLst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75"/>
            <ac:spMk id="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5"/>
            <ac:spMk id="67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76"/>
        </pc:sldMkLst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76"/>
            <ac:spMk id="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6"/>
            <ac:spMk id="36" creationId="{00000000-0000-0000-0000-000000000000}"/>
          </ac:spMkLst>
        </pc:spChg>
      </pc:sldChg>
      <pc:sldChg chg="modSp mod ord">
        <pc:chgData name="Lisa ." userId="3236c6b2e56daa40" providerId="LiveId" clId="{85A99607-DB28-43FE-BA94-4B6B159B34CD}" dt="2026-09-05T00:23:04.860" v="29" actId="26606"/>
        <pc:sldMkLst>
          <pc:docMk/>
          <pc:sldMk cId="0" sldId="277"/>
        </pc:sldMkLst>
        <pc:spChg chg="mod">
          <ac:chgData name="Lisa ." userId="3236c6b2e56daa40" providerId="LiveId" clId="{85A99607-DB28-43FE-BA94-4B6B159B34CD}" dt="2026-09-05T00:23:04.860" v="29" actId="26606"/>
          <ac:spMkLst>
            <pc:docMk/>
            <pc:sldMk cId="0" sldId="277"/>
            <ac:spMk id="5" creationId="{00000000-0000-0000-0000-000000000000}"/>
          </ac:spMkLst>
        </pc:spChg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7"/>
            <ac:spMk id="17" creationId="{00000000-0000-0000-0000-000000000000}"/>
          </ac:spMkLst>
        </pc:spChg>
      </pc:sldChg>
      <pc:sldChg chg="modSp mod ord modNotes">
        <pc:chgData name="Lisa ." userId="3236c6b2e56daa40" providerId="LiveId" clId="{85A99607-DB28-43FE-BA94-4B6B159B34CD}" dt="2026-09-05T00:23:04.860" v="29" actId="26606"/>
        <pc:sldMkLst>
          <pc:docMk/>
          <pc:sldMk cId="0" sldId="279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79"/>
            <ac:spMk id="17" creationId="{00000000-0000-0000-0000-000000000000}"/>
          </ac:spMkLst>
        </pc:spChg>
      </pc:sldChg>
      <pc:sldChg chg="modSp mod ord">
        <pc:chgData name="Lisa ." userId="3236c6b2e56daa40" providerId="LiveId" clId="{85A99607-DB28-43FE-BA94-4B6B159B34CD}" dt="2026-09-04T23:50:11.278" v="9" actId="26606"/>
        <pc:sldMkLst>
          <pc:docMk/>
          <pc:sldMk cId="0" sldId="280"/>
        </pc:sldMkLst>
        <pc:spChg chg="mod">
          <ac:chgData name="Lisa ." userId="3236c6b2e56daa40" providerId="LiveId" clId="{85A99607-DB28-43FE-BA94-4B6B159B34CD}" dt="2026-09-04T23:50:11.278" v="9" actId="26606"/>
          <ac:spMkLst>
            <pc:docMk/>
            <pc:sldMk cId="0" sldId="280"/>
            <ac:spMk id="31" creationId="{00000000-0000-0000-0000-000000000000}"/>
          </ac:spMkLst>
        </pc:spChg>
      </pc:sldChg>
      <pc:sldChg chg="add modNotes">
        <pc:chgData name="Lisa ." userId="3236c6b2e56daa40" providerId="LiveId" clId="{85A99607-DB28-43FE-BA94-4B6B159B34CD}" dt="2026-09-05T00:23:04.860" v="29" actId="26606"/>
        <pc:sldMkLst>
          <pc:docMk/>
          <pc:sldMk cId="3603658171" sldId="281"/>
        </pc:sldMkLst>
      </pc:sldChg>
      <pc:sldChg chg="add modNotes">
        <pc:chgData name="Lisa ." userId="3236c6b2e56daa40" providerId="LiveId" clId="{85A99607-DB28-43FE-BA94-4B6B159B34CD}" dt="2026-09-05T00:23:04.860" v="29" actId="26606"/>
        <pc:sldMkLst>
          <pc:docMk/>
          <pc:sldMk cId="2320825184" sldId="282"/>
        </pc:sldMkLst>
      </pc:sldChg>
      <pc:sldChg chg="add modNotes">
        <pc:chgData name="Lisa ." userId="3236c6b2e56daa40" providerId="LiveId" clId="{85A99607-DB28-43FE-BA94-4B6B159B34CD}" dt="2026-09-05T00:23:04.860" v="29" actId="26606"/>
        <pc:sldMkLst>
          <pc:docMk/>
          <pc:sldMk cId="989618283" sldId="283"/>
        </pc:sldMkLst>
      </pc:sldChg>
      <pc:sldChg chg="add modNotes">
        <pc:chgData name="Lisa ." userId="3236c6b2e56daa40" providerId="LiveId" clId="{85A99607-DB28-43FE-BA94-4B6B159B34CD}" dt="2026-09-05T00:23:04.860" v="29" actId="26606"/>
        <pc:sldMkLst>
          <pc:docMk/>
          <pc:sldMk cId="1615806751" sldId="284"/>
        </pc:sldMkLst>
      </pc:sldChg>
      <pc:sldChg chg="add modNotes">
        <pc:chgData name="Lisa ." userId="3236c6b2e56daa40" providerId="LiveId" clId="{85A99607-DB28-43FE-BA94-4B6B159B34CD}" dt="2026-09-05T00:23:04.860" v="29" actId="26606"/>
        <pc:sldMkLst>
          <pc:docMk/>
          <pc:sldMk cId="2590152230" sldId="285"/>
        </pc:sldMkLst>
      </pc:sldChg>
      <pc:sldChg chg="modSp add mod modNotes">
        <pc:chgData name="Lisa ." userId="3236c6b2e56daa40" providerId="LiveId" clId="{85A99607-DB28-43FE-BA94-4B6B159B34CD}" dt="2026-09-05T00:23:04.860" v="29" actId="26606"/>
        <pc:sldMkLst>
          <pc:docMk/>
          <pc:sldMk cId="3892382485" sldId="286"/>
        </pc:sldMkLst>
        <pc:spChg chg="mod">
          <ac:chgData name="Lisa ." userId="3236c6b2e56daa40" providerId="LiveId" clId="{85A99607-DB28-43FE-BA94-4B6B159B34CD}" dt="2026-09-05T00:17:03.541" v="23" actId="26606"/>
          <ac:spMkLst>
            <pc:docMk/>
            <pc:sldMk cId="3892382485" sldId="286"/>
            <ac:spMk id="5" creationId="{00000000-0000-0000-0000-000000000000}"/>
          </ac:spMkLst>
        </pc:spChg>
        <pc:spChg chg="mod">
          <ac:chgData name="Lisa ." userId="3236c6b2e56daa40" providerId="LiveId" clId="{85A99607-DB28-43FE-BA94-4B6B159B34CD}" dt="2026-09-05T00:17:03.541" v="23" actId="26606"/>
          <ac:spMkLst>
            <pc:docMk/>
            <pc:sldMk cId="3892382485" sldId="286"/>
            <ac:spMk id="12" creationId="{00000000-0000-0000-0000-000000000000}"/>
          </ac:spMkLst>
        </pc:spChg>
        <pc:spChg chg="mod">
          <ac:chgData name="Lisa ." userId="3236c6b2e56daa40" providerId="LiveId" clId="{85A99607-DB28-43FE-BA94-4B6B159B34CD}" dt="2026-09-05T00:17:03.541" v="23" actId="26606"/>
          <ac:spMkLst>
            <pc:docMk/>
            <pc:sldMk cId="3892382485" sldId="286"/>
            <ac:spMk id="16" creationId="{00000000-0000-0000-0000-000000000000}"/>
          </ac:spMkLst>
        </pc:spChg>
      </pc:sldChg>
      <pc:sldChg chg="add modNotes">
        <pc:chgData name="Lisa ." userId="3236c6b2e56daa40" providerId="LiveId" clId="{85A99607-DB28-43FE-BA94-4B6B159B34CD}" dt="2026-09-05T00:23:04.860" v="29" actId="26606"/>
        <pc:sldMkLst>
          <pc:docMk/>
          <pc:sldMk cId="3785270594" sldId="287"/>
        </pc:sldMkLst>
      </pc:sldChg>
      <pc:sldChg chg="add modNotes">
        <pc:chgData name="Lisa ." userId="3236c6b2e56daa40" providerId="LiveId" clId="{85A99607-DB28-43FE-BA94-4B6B159B34CD}" dt="2026-09-05T00:23:04.860" v="29" actId="26606"/>
        <pc:sldMkLst>
          <pc:docMk/>
          <pc:sldMk cId="1150017375" sldId="28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Beneficiaries (M)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Original Medicare</c:v>
                </c:pt>
                <c:pt idx="1">
                  <c:v>Medicare Advantage &amp;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34.4</c:v>
                </c:pt>
                <c:pt idx="1">
                  <c:v>36.1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A2-42D7-8157-464E9B581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Medicare Advantage Share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Puerto Rico</c:v>
                </c:pt>
                <c:pt idx="1">
                  <c:v>Michigan</c:v>
                </c:pt>
                <c:pt idx="2">
                  <c:v>Alabama</c:v>
                </c:pt>
                <c:pt idx="3">
                  <c:v>Rhode Island</c:v>
                </c:pt>
                <c:pt idx="4">
                  <c:v>Maine</c:v>
                </c:pt>
                <c:pt idx="5">
                  <c:v>North Carolina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86.8</c:v>
                </c:pt>
                <c:pt idx="1">
                  <c:v>58.9</c:v>
                </c:pt>
                <c:pt idx="2">
                  <c:v>57.9</c:v>
                </c:pt>
                <c:pt idx="3">
                  <c:v>57.2</c:v>
                </c:pt>
                <c:pt idx="4">
                  <c:v>56.8</c:v>
                </c:pt>
                <c:pt idx="5">
                  <c:v>56.6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E-40AC-8F69-2D1E2B6C27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none"/>
        <c:minorTickMark val="none"/>
        <c:tickLblPos val="low"/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 per Beneficiary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2014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9191</c:v>
                </c:pt>
                <c:pt idx="1">
                  <c:v>12553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A2-42D7-8157-464E9B581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FFS Payments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Hospital Inpatient</c:v>
                </c:pt>
                <c:pt idx="1">
                  <c:v>Procedures</c:v>
                </c:pt>
                <c:pt idx="2">
                  <c:v>Inpatient Rehab</c:v>
                </c:pt>
                <c:pt idx="3">
                  <c:v>Outpatient Dialysis</c:v>
                </c:pt>
                <c:pt idx="4">
                  <c:v>Ambulance</c:v>
                </c:pt>
                <c:pt idx="5">
                  <c:v>Long-Term 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3.9</c:v>
                </c:pt>
                <c:pt idx="2">
                  <c:v>2.7</c:v>
                </c:pt>
                <c:pt idx="3">
                  <c:v>1.4</c:v>
                </c:pt>
                <c:pt idx="4">
                  <c:v>1.1000000000000001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E-40AC-8F69-2D1E2B6C27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none"/>
        <c:minorTickMark val="none"/>
        <c:tickLblPos val="low"/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Star Rating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3.68</c:v>
                </c:pt>
                <c:pt idx="1">
                  <c:v>3.65</c:v>
                </c:pt>
                <c:pt idx="2">
                  <c:v>3.71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A2-42D7-8157-464E9B581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8"/>
          <c:min val="3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5.0 stars</c:v>
                </c:pt>
                <c:pt idx="1">
                  <c:v>4.5 stars</c:v>
                </c:pt>
                <c:pt idx="2">
                  <c:v>4.0 stars</c:v>
                </c:pt>
                <c:pt idx="3">
                  <c:v>3.5 stars</c:v>
                </c:pt>
                <c:pt idx="4">
                  <c:v>3.0 stars</c:v>
                </c:pt>
                <c:pt idx="5">
                  <c:v>2.5 stars</c:v>
                </c:pt>
                <c:pt idx="6">
                  <c:v>2.0 stars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89</c:v>
                </c:pt>
                <c:pt idx="2">
                  <c:v>118</c:v>
                </c:pt>
                <c:pt idx="3">
                  <c:v>167</c:v>
                </c:pt>
                <c:pt idx="4">
                  <c:v>97</c:v>
                </c:pt>
                <c:pt idx="5">
                  <c:v>21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19-4CF0-AF97-B840672BE0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Provider Entities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Nurse Practitioner</c:v>
                </c:pt>
                <c:pt idx="1">
                  <c:v>Physical Therapist</c:v>
                </c:pt>
                <c:pt idx="2">
                  <c:v>Certified Registered Nurse</c:v>
                </c:pt>
                <c:pt idx="3">
                  <c:v>Chiropractic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359719</c:v>
                </c:pt>
                <c:pt idx="1">
                  <c:v>112317</c:v>
                </c:pt>
                <c:pt idx="2">
                  <c:v>61646</c:v>
                </c:pt>
                <c:pt idx="3">
                  <c:v>45832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E-40AC-8F69-2D1E2B6C27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#,##0" sourceLinked="0"/>
        <c:majorTickMark val="none"/>
        <c:minorTickMark val="none"/>
        <c:tickLblPos val="low"/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Medicare Payment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115.9</c:v>
                </c:pt>
                <c:pt idx="1">
                  <c:v>125.7</c:v>
                </c:pt>
                <c:pt idx="2">
                  <c:v>131.69999999999999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A2-42D7-8157-464E9B581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 ($B)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Internal Medicine</c:v>
                </c:pt>
                <c:pt idx="1">
                  <c:v>Ophthalmology</c:v>
                </c:pt>
                <c:pt idx="2">
                  <c:v>Clinical Laboratory</c:v>
                </c:pt>
                <c:pt idx="3">
                  <c:v>Hematology/Oncology</c:v>
                </c:pt>
                <c:pt idx="4">
                  <c:v>Nurse Practitioner</c:v>
                </c:pt>
                <c:pt idx="5">
                  <c:v>Ambulatory Surgical Ctr</c:v>
                </c:pt>
                <c:pt idx="6">
                  <c:v>Family Practice</c:v>
                </c:pt>
                <c:pt idx="7">
                  <c:v>Medical Supply Co.</c:v>
                </c:pt>
                <c:pt idx="8">
                  <c:v>Ambulance Supplier</c:v>
                </c:pt>
                <c:pt idx="9">
                  <c:v>Diagnostic Radiology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7.29</c:v>
                </c:pt>
                <c:pt idx="1">
                  <c:v>7.25</c:v>
                </c:pt>
                <c:pt idx="2">
                  <c:v>6.45</c:v>
                </c:pt>
                <c:pt idx="3">
                  <c:v>6.3</c:v>
                </c:pt>
                <c:pt idx="4">
                  <c:v>5.55</c:v>
                </c:pt>
                <c:pt idx="5">
                  <c:v>4.79</c:v>
                </c:pt>
                <c:pt idx="6">
                  <c:v>4.63</c:v>
                </c:pt>
                <c:pt idx="7">
                  <c:v>4.3499999999999996</c:v>
                </c:pt>
                <c:pt idx="8">
                  <c:v>4.2</c:v>
                </c:pt>
                <c:pt idx="9">
                  <c:v>4.0199999999999996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E-40AC-8F69-2D1E2B6C27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Allowed Charges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</c:v>
                </c:pt>
                <c:pt idx="1">
                  <c:v>163</c:v>
                </c:pt>
                <c:pt idx="2">
                  <c:v>171.4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A2-42D7-8157-464E9B5814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Medicare Payment</c:v>
                </c:pt>
              </c:strCache>
            </c:strRef>
          </c:tx>
          <c:spPr>
            <a:solidFill>
              <a:srgbClr val="C5162B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115.9</c:v>
                </c:pt>
                <c:pt idx="1">
                  <c:v>125.7</c:v>
                </c:pt>
                <c:pt idx="2">
                  <c:v>131.69999999999999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A2-42D7-8157-464E9B581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Allowed Services (B)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5.48</c:v>
                </c:pt>
                <c:pt idx="1">
                  <c:v>6.14</c:v>
                </c:pt>
                <c:pt idx="2">
                  <c:v>5.96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4A-4ADC-8089-97A923786E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 / Service ($)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21.15</c:v>
                </c:pt>
                <c:pt idx="1">
                  <c:v>20.47</c:v>
                </c:pt>
                <c:pt idx="2">
                  <c:v>22.08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8F-4751-AA4E-F480E6A41A1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1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 / Service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Pharmacy</c:v>
                </c:pt>
                <c:pt idx="1">
                  <c:v>Clinical Laboratory</c:v>
                </c:pt>
                <c:pt idx="2">
                  <c:v>Internal Medicine</c:v>
                </c:pt>
                <c:pt idx="3">
                  <c:v>Ophthalmology</c:v>
                </c:pt>
                <c:pt idx="4">
                  <c:v>Ambulatory Surgical Ctr</c:v>
                </c:pt>
                <c:pt idx="5">
                  <c:v>Neurosurgery</c:v>
                </c:pt>
                <c:pt idx="6">
                  <c:v>Cardiac Surgery</c:v>
                </c:pt>
                <c:pt idx="7">
                  <c:v>Thoracic Surgery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1.71</c:v>
                </c:pt>
                <c:pt idx="1">
                  <c:v>20.440000000000001</c:v>
                </c:pt>
                <c:pt idx="2">
                  <c:v>41.59</c:v>
                </c:pt>
                <c:pt idx="3">
                  <c:v>123.92</c:v>
                </c:pt>
                <c:pt idx="4">
                  <c:v>177.31</c:v>
                </c:pt>
                <c:pt idx="5">
                  <c:v>208.51</c:v>
                </c:pt>
                <c:pt idx="6">
                  <c:v>271.68</c:v>
                </c:pt>
                <c:pt idx="7">
                  <c:v>276.37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19-4CF0-AF97-B840672BE0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High-Volume Commodity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11"/>
            <c:spPr>
              <a:solidFill>
                <a:srgbClr val="0FA3C4"/>
              </a:solidFill>
              <a:ln w="12700">
                <a:solidFill>
                  <a:srgbClr val="FFFFFF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1900</c:v>
                </c:pt>
                <c:pt idx="1">
                  <c:v>443</c:v>
                </c:pt>
                <c:pt idx="2">
                  <c:v>315</c:v>
                </c:pt>
                <c:pt idx="3">
                  <c:v>203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1.71</c:v>
                </c:pt>
                <c:pt idx="1">
                  <c:v>9.81</c:v>
                </c:pt>
                <c:pt idx="2">
                  <c:v>20.440000000000001</c:v>
                </c:pt>
                <c:pt idx="3">
                  <c:v>19.829999999999998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7E8-46E8-B232-958C07794A1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Balanced High-Spend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11"/>
            <c:spPr>
              <a:solidFill>
                <a:srgbClr val="0071BB"/>
              </a:solidFill>
              <a:ln w="1270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 wrap="square" lIns="0" tIns="0" rIns="0" bIns="0"/>
                  <a:lstStyle/>
                  <a:p>
                    <a:pPr algn="ctr"/>
                    <a:r>
                      <a:rPr lang="en-US" sz="1000" b="1">
                        <a:solidFill>
                          <a:srgbClr val="0071BB"/>
                        </a:solidFill>
                        <a:latin typeface="Trebuchet MS"/>
                      </a:rPr>
                      <a:t>Internal Medicine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37E8-46E8-B232-958C07794A1F}"/>
                </c:ext>
              </c:extLst>
            </c:dLbl>
            <c:dLbl>
              <c:idx val="1"/>
              <c:tx>
                <c:rich>
                  <a:bodyPr wrap="square" lIns="0" tIns="0" rIns="0" bIns="0"/>
                  <a:lstStyle/>
                  <a:p>
                    <a:pPr algn="ctr"/>
                    <a:r>
                      <a:rPr lang="en-US" sz="1000" b="1">
                        <a:solidFill>
                          <a:srgbClr val="0071BB"/>
                        </a:solidFill>
                        <a:latin typeface="Trebuchet MS"/>
                      </a:rPr>
                      <a:t>Ophthalmology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37E8-46E8-B232-958C07794A1F}"/>
                </c:ext>
              </c:extLst>
            </c:dLbl>
            <c:numFmt formatCode="General" sourceLinked="0"/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Sheet1!$C$2:$C$3</c:f>
              <c:numCache>
                <c:formatCode>General</c:formatCode>
                <c:ptCount val="2"/>
                <c:pt idx="0">
                  <c:v>175.2</c:v>
                </c:pt>
                <c:pt idx="1">
                  <c:v>58.5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41.59</c:v>
                </c:pt>
                <c:pt idx="1">
                  <c:v>123.92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37E8-46E8-B232-958C07794A1F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Specialized High-Intensity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11"/>
            <c:spPr>
              <a:solidFill>
                <a:srgbClr val="003F72"/>
              </a:solidFill>
              <a:ln w="1270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 wrap="square" lIns="0" tIns="0" rIns="0" bIns="0"/>
                  <a:lstStyle/>
                  <a:p>
                    <a:pPr algn="ctr"/>
                    <a:r>
                      <a:rPr lang="en-US" sz="1000" b="1">
                        <a:solidFill>
                          <a:srgbClr val="003F72"/>
                        </a:solidFill>
                        <a:latin typeface="Trebuchet MS"/>
                      </a:rPr>
                      <a:t>Ambulatory Surgical Ctr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8-37E8-46E8-B232-958C07794A1F}"/>
                </c:ext>
              </c:extLst>
            </c:dLbl>
            <c:dLbl>
              <c:idx val="1"/>
              <c:tx>
                <c:rich>
                  <a:bodyPr wrap="square" lIns="0" tIns="0" rIns="0" bIns="0"/>
                  <a:lstStyle/>
                  <a:p>
                    <a:pPr algn="ctr"/>
                    <a:r>
                      <a:rPr lang="en-US" sz="1000" b="1">
                        <a:solidFill>
                          <a:srgbClr val="003F72"/>
                        </a:solidFill>
                        <a:latin typeface="Trebuchet MS"/>
                      </a:rPr>
                      <a:t>Radiation Oncology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37E8-46E8-B232-958C07794A1F}"/>
                </c:ext>
              </c:extLst>
            </c:dLbl>
            <c:dLbl>
              <c:idx val="2"/>
              <c:tx>
                <c:rich>
                  <a:bodyPr wrap="square" lIns="0" tIns="0" rIns="0" bIns="0"/>
                  <a:lstStyle/>
                  <a:p>
                    <a:pPr algn="ctr"/>
                    <a:r>
                      <a:rPr lang="en-US" sz="1000" b="1">
                        <a:solidFill>
                          <a:srgbClr val="003F72"/>
                        </a:solidFill>
                        <a:latin typeface="Trebuchet MS"/>
                      </a:rPr>
                      <a:t>Neurosurgery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A-37E8-46E8-B232-958C07794A1F}"/>
                </c:ext>
              </c:extLst>
            </c:dLbl>
            <c:dLbl>
              <c:idx val="3"/>
              <c:tx>
                <c:rich>
                  <a:bodyPr wrap="square" lIns="0" tIns="0" rIns="0" bIns="0"/>
                  <a:lstStyle/>
                  <a:p>
                    <a:pPr algn="ctr"/>
                    <a:r>
                      <a:rPr lang="en-US" sz="1000" b="1">
                        <a:solidFill>
                          <a:srgbClr val="003F72"/>
                        </a:solidFill>
                        <a:latin typeface="Trebuchet MS"/>
                      </a:rPr>
                      <a:t>Thoracic Surgery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B-37E8-46E8-B232-958C07794A1F}"/>
                </c:ext>
              </c:extLst>
            </c:dLbl>
            <c:numFmt formatCode="General" sourceLinked="0"/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Sheet1!$E$2:$E$6</c:f>
              <c:numCache>
                <c:formatCode>General</c:formatCode>
                <c:ptCount val="5"/>
                <c:pt idx="0">
                  <c:v>27</c:v>
                </c:pt>
                <c:pt idx="1">
                  <c:v>14.8</c:v>
                </c:pt>
                <c:pt idx="2">
                  <c:v>2.7</c:v>
                </c:pt>
                <c:pt idx="3">
                  <c:v>0.9</c:v>
                </c:pt>
                <c:pt idx="4">
                  <c:v>0.5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0">
                  <c:v>177.31</c:v>
                </c:pt>
                <c:pt idx="1">
                  <c:v>98.71</c:v>
                </c:pt>
                <c:pt idx="2">
                  <c:v>208.51</c:v>
                </c:pt>
                <c:pt idx="3">
                  <c:v>276.37</c:v>
                </c:pt>
                <c:pt idx="4">
                  <c:v>271.68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37E8-46E8-B232-958C07794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scatterChart>
      <c:valAx>
        <c:axId val="111111111"/>
        <c:scaling>
          <c:logBase val="10"/>
          <c:orientation val="minMax"/>
          <c:max val="2500"/>
          <c:min val="0.2"/>
        </c:scaling>
        <c:delete val="0"/>
        <c:axPos val="b"/>
        <c:majorGridlines>
          <c:spPr>
            <a:ln w="6350" cap="flat">
              <a:solidFill>
                <a:srgbClr val="EAEFF4"/>
              </a:solidFill>
              <a:prstDash val="solid"/>
              <a:round/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1">
                    <a:solidFill>
                      <a:srgbClr val="003F72"/>
                    </a:solidFill>
                    <a:latin typeface="Trebuchet MS"/>
                  </a:defRPr>
                </a:pPr>
                <a:r>
                  <a:rPr lang="en-US" sz="1100" b="1">
                    <a:solidFill>
                      <a:srgbClr val="003F72"/>
                    </a:solidFill>
                    <a:latin typeface="Trebuchet MS"/>
                  </a:rPr>
                  <a:t>Annual Allowed Services — volume, millions (log scale)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>
                <a:solidFill>
                  <a:srgbClr val="5A6B7E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crossBetween val="midCat"/>
      </c:valAx>
      <c:valAx>
        <c:axId val="222222222"/>
        <c:scaling>
          <c:orientation val="minMax"/>
          <c:max val="330"/>
          <c:min val="0"/>
        </c:scaling>
        <c:delete val="0"/>
        <c:axPos val="l"/>
        <c:majorGridlines>
          <c:spPr>
            <a:ln w="6350" cap="flat">
              <a:solidFill>
                <a:srgbClr val="EAEFF4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>
                    <a:solidFill>
                      <a:srgbClr val="003F72"/>
                    </a:solidFill>
                    <a:latin typeface="Trebuchet MS"/>
                  </a:defRPr>
                </a:pPr>
                <a:r>
                  <a:rPr lang="en-US" sz="1100" b="1">
                    <a:solidFill>
                      <a:srgbClr val="003F72"/>
                    </a:solidFill>
                    <a:latin typeface="Trebuchet MS"/>
                  </a:rPr>
                  <a:t>Payment per Service ($)</a:t>
                </a:r>
              </a:p>
            </c:rich>
          </c:tx>
          <c:overlay val="0"/>
        </c:title>
        <c:numFmt formatCode="\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>
                <a:solidFill>
                  <a:srgbClr val="5A6B7E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midCat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Specialties (CY 2022, n = 125)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7"/>
            <c:spPr>
              <a:solidFill>
                <a:srgbClr val="0FA3C4">
                  <a:alpha val="80000"/>
                </a:srgbClr>
              </a:solidFill>
              <a:ln w="6350">
                <a:solidFill>
                  <a:srgbClr val="FFFFFF"/>
                </a:solidFill>
              </a:ln>
            </c:spPr>
          </c:marker>
          <c:xVal>
            <c:numRef>
              <c:f>Sheet1!$D$2:$D$126</c:f>
              <c:numCache>
                <c:formatCode>General</c:formatCode>
                <c:ptCount val="125"/>
                <c:pt idx="0">
                  <c:v>7.5821199999999997</c:v>
                </c:pt>
                <c:pt idx="1">
                  <c:v>2.0592999999999999</c:v>
                </c:pt>
                <c:pt idx="2">
                  <c:v>64.958399999999997</c:v>
                </c:pt>
                <c:pt idx="3">
                  <c:v>119.956</c:v>
                </c:pt>
                <c:pt idx="4">
                  <c:v>392.41800000000001</c:v>
                </c:pt>
                <c:pt idx="5">
                  <c:v>4140.41</c:v>
                </c:pt>
                <c:pt idx="6">
                  <c:v>4680.8999999999996</c:v>
                </c:pt>
                <c:pt idx="7">
                  <c:v>32.702300000000001</c:v>
                </c:pt>
                <c:pt idx="8">
                  <c:v>1415.59</c:v>
                </c:pt>
                <c:pt idx="9">
                  <c:v>57.234999999999999</c:v>
                </c:pt>
                <c:pt idx="10">
                  <c:v>578.74199999999996</c:v>
                </c:pt>
                <c:pt idx="11">
                  <c:v>144.554</c:v>
                </c:pt>
                <c:pt idx="12">
                  <c:v>3826.27</c:v>
                </c:pt>
                <c:pt idx="13">
                  <c:v>612.66</c:v>
                </c:pt>
                <c:pt idx="14">
                  <c:v>47.4861</c:v>
                </c:pt>
                <c:pt idx="15">
                  <c:v>4.4935600000000004</c:v>
                </c:pt>
                <c:pt idx="16">
                  <c:v>836.59400000000005</c:v>
                </c:pt>
                <c:pt idx="17">
                  <c:v>520.07799999999997</c:v>
                </c:pt>
                <c:pt idx="18">
                  <c:v>5157.2700000000004</c:v>
                </c:pt>
                <c:pt idx="19">
                  <c:v>574.11400000000003</c:v>
                </c:pt>
                <c:pt idx="20">
                  <c:v>120.67</c:v>
                </c:pt>
                <c:pt idx="21">
                  <c:v>271.09699999999998</c:v>
                </c:pt>
                <c:pt idx="22">
                  <c:v>9.8439300000000003</c:v>
                </c:pt>
                <c:pt idx="23">
                  <c:v>0.55423800000000001</c:v>
                </c:pt>
                <c:pt idx="24">
                  <c:v>2960.47</c:v>
                </c:pt>
                <c:pt idx="25">
                  <c:v>3978.37</c:v>
                </c:pt>
                <c:pt idx="26">
                  <c:v>2085.25</c:v>
                </c:pt>
                <c:pt idx="27">
                  <c:v>538.654</c:v>
                </c:pt>
                <c:pt idx="28">
                  <c:v>4985.63</c:v>
                </c:pt>
                <c:pt idx="29">
                  <c:v>1391.8</c:v>
                </c:pt>
                <c:pt idx="30">
                  <c:v>348.36</c:v>
                </c:pt>
                <c:pt idx="31">
                  <c:v>1339.66</c:v>
                </c:pt>
                <c:pt idx="32">
                  <c:v>157.661</c:v>
                </c:pt>
                <c:pt idx="33">
                  <c:v>11.519</c:v>
                </c:pt>
                <c:pt idx="34">
                  <c:v>109.182</c:v>
                </c:pt>
                <c:pt idx="35">
                  <c:v>221.255</c:v>
                </c:pt>
                <c:pt idx="36">
                  <c:v>170.46199999999999</c:v>
                </c:pt>
                <c:pt idx="37">
                  <c:v>6232.07</c:v>
                </c:pt>
                <c:pt idx="38">
                  <c:v>24.790099999999999</c:v>
                </c:pt>
                <c:pt idx="39">
                  <c:v>0.56133299999999997</c:v>
                </c:pt>
                <c:pt idx="40">
                  <c:v>12.6755</c:v>
                </c:pt>
                <c:pt idx="41">
                  <c:v>55.802799999999998</c:v>
                </c:pt>
                <c:pt idx="42">
                  <c:v>5.7585899999999999</c:v>
                </c:pt>
                <c:pt idx="43">
                  <c:v>970.96100000000001</c:v>
                </c:pt>
                <c:pt idx="44">
                  <c:v>897.125</c:v>
                </c:pt>
                <c:pt idx="45">
                  <c:v>185.4</c:v>
                </c:pt>
                <c:pt idx="46">
                  <c:v>210.46700000000001</c:v>
                </c:pt>
                <c:pt idx="47">
                  <c:v>37.101199999999999</c:v>
                </c:pt>
                <c:pt idx="48">
                  <c:v>582.62800000000004</c:v>
                </c:pt>
                <c:pt idx="49">
                  <c:v>0.38722499999999999</c:v>
                </c:pt>
                <c:pt idx="50">
                  <c:v>3.5777700000000003E-2</c:v>
                </c:pt>
                <c:pt idx="51">
                  <c:v>7556.38</c:v>
                </c:pt>
                <c:pt idx="52">
                  <c:v>941.56</c:v>
                </c:pt>
                <c:pt idx="53">
                  <c:v>335.27800000000002</c:v>
                </c:pt>
                <c:pt idx="54">
                  <c:v>384.23899999999998</c:v>
                </c:pt>
                <c:pt idx="55">
                  <c:v>490.315</c:v>
                </c:pt>
                <c:pt idx="56">
                  <c:v>1.50295</c:v>
                </c:pt>
                <c:pt idx="57">
                  <c:v>992.40700000000004</c:v>
                </c:pt>
                <c:pt idx="58">
                  <c:v>12.0038</c:v>
                </c:pt>
                <c:pt idx="59">
                  <c:v>0.68779299999999999</c:v>
                </c:pt>
                <c:pt idx="60">
                  <c:v>1892.36</c:v>
                </c:pt>
                <c:pt idx="61">
                  <c:v>4401.8999999999996</c:v>
                </c:pt>
                <c:pt idx="62">
                  <c:v>113.815</c:v>
                </c:pt>
                <c:pt idx="63">
                  <c:v>14.3246</c:v>
                </c:pt>
                <c:pt idx="64">
                  <c:v>20.8965</c:v>
                </c:pt>
                <c:pt idx="65">
                  <c:v>108.986</c:v>
                </c:pt>
                <c:pt idx="66">
                  <c:v>7.9138099999999998</c:v>
                </c:pt>
                <c:pt idx="67">
                  <c:v>777.65300000000002</c:v>
                </c:pt>
                <c:pt idx="68">
                  <c:v>0.93982600000000005</c:v>
                </c:pt>
                <c:pt idx="69">
                  <c:v>0.182648</c:v>
                </c:pt>
                <c:pt idx="70">
                  <c:v>209.46199999999999</c:v>
                </c:pt>
                <c:pt idx="71">
                  <c:v>1486.22</c:v>
                </c:pt>
                <c:pt idx="72">
                  <c:v>1598.69</c:v>
                </c:pt>
                <c:pt idx="73">
                  <c:v>8.7593999999999994</c:v>
                </c:pt>
                <c:pt idx="74">
                  <c:v>566.05399999999997</c:v>
                </c:pt>
                <c:pt idx="75">
                  <c:v>133.405</c:v>
                </c:pt>
                <c:pt idx="76">
                  <c:v>5694.15</c:v>
                </c:pt>
                <c:pt idx="77">
                  <c:v>1.11675E-2</c:v>
                </c:pt>
                <c:pt idx="78">
                  <c:v>434.779</c:v>
                </c:pt>
                <c:pt idx="79">
                  <c:v>355.55200000000002</c:v>
                </c:pt>
                <c:pt idx="80">
                  <c:v>4.5625200000000001</c:v>
                </c:pt>
                <c:pt idx="81">
                  <c:v>7367.81</c:v>
                </c:pt>
                <c:pt idx="82">
                  <c:v>183.83199999999999</c:v>
                </c:pt>
                <c:pt idx="83">
                  <c:v>2.37357</c:v>
                </c:pt>
                <c:pt idx="84">
                  <c:v>1035.69</c:v>
                </c:pt>
                <c:pt idx="85">
                  <c:v>50.236800000000002</c:v>
                </c:pt>
                <c:pt idx="86">
                  <c:v>3051.25</c:v>
                </c:pt>
                <c:pt idx="87">
                  <c:v>48.375399999999999</c:v>
                </c:pt>
                <c:pt idx="88">
                  <c:v>939.63699999999994</c:v>
                </c:pt>
                <c:pt idx="89">
                  <c:v>78.864699999999999</c:v>
                </c:pt>
                <c:pt idx="90">
                  <c:v>493.73200000000003</c:v>
                </c:pt>
                <c:pt idx="91">
                  <c:v>1033.97</c:v>
                </c:pt>
                <c:pt idx="92">
                  <c:v>71.735100000000003</c:v>
                </c:pt>
                <c:pt idx="93">
                  <c:v>4.8271600000000001</c:v>
                </c:pt>
                <c:pt idx="94">
                  <c:v>16.662600000000001</c:v>
                </c:pt>
                <c:pt idx="95">
                  <c:v>3230.49</c:v>
                </c:pt>
                <c:pt idx="96">
                  <c:v>959.33199999999999</c:v>
                </c:pt>
                <c:pt idx="97">
                  <c:v>3254.97</c:v>
                </c:pt>
                <c:pt idx="98">
                  <c:v>2699.07</c:v>
                </c:pt>
                <c:pt idx="99">
                  <c:v>293.68299999999999</c:v>
                </c:pt>
                <c:pt idx="100">
                  <c:v>2007.48</c:v>
                </c:pt>
                <c:pt idx="101">
                  <c:v>191.232</c:v>
                </c:pt>
                <c:pt idx="102">
                  <c:v>13.2151</c:v>
                </c:pt>
                <c:pt idx="103">
                  <c:v>723.86</c:v>
                </c:pt>
                <c:pt idx="104">
                  <c:v>9.8987400000000001</c:v>
                </c:pt>
                <c:pt idx="105">
                  <c:v>4.9843999999999999</c:v>
                </c:pt>
                <c:pt idx="106">
                  <c:v>1111.8900000000001</c:v>
                </c:pt>
                <c:pt idx="107">
                  <c:v>1433.28</c:v>
                </c:pt>
                <c:pt idx="108">
                  <c:v>27.131</c:v>
                </c:pt>
                <c:pt idx="109">
                  <c:v>13.2582</c:v>
                </c:pt>
                <c:pt idx="110">
                  <c:v>7.9729999999999992E-3</c:v>
                </c:pt>
                <c:pt idx="111">
                  <c:v>2417.92</c:v>
                </c:pt>
                <c:pt idx="112">
                  <c:v>23.086500000000001</c:v>
                </c:pt>
                <c:pt idx="113">
                  <c:v>0.13674800000000001</c:v>
                </c:pt>
                <c:pt idx="114">
                  <c:v>51.0167</c:v>
                </c:pt>
                <c:pt idx="115">
                  <c:v>1.71963</c:v>
                </c:pt>
                <c:pt idx="116">
                  <c:v>69.162800000000004</c:v>
                </c:pt>
                <c:pt idx="117">
                  <c:v>158.476</c:v>
                </c:pt>
                <c:pt idx="118">
                  <c:v>71.239999999999995</c:v>
                </c:pt>
                <c:pt idx="119">
                  <c:v>241.4</c:v>
                </c:pt>
                <c:pt idx="120">
                  <c:v>21.0595</c:v>
                </c:pt>
                <c:pt idx="121">
                  <c:v>40.056199999999997</c:v>
                </c:pt>
                <c:pt idx="122">
                  <c:v>0.47445399999999999</c:v>
                </c:pt>
                <c:pt idx="123">
                  <c:v>1683.36</c:v>
                </c:pt>
                <c:pt idx="124">
                  <c:v>843.53899999999999</c:v>
                </c:pt>
              </c:numCache>
            </c:numRef>
          </c:xVal>
          <c:yVal>
            <c:numRef>
              <c:f>Sheet1!$E$2:$E$126</c:f>
              <c:numCache>
                <c:formatCode>General</c:formatCode>
                <c:ptCount val="125"/>
                <c:pt idx="0">
                  <c:v>7.45282</c:v>
                </c:pt>
                <c:pt idx="1">
                  <c:v>1.99095</c:v>
                </c:pt>
                <c:pt idx="2">
                  <c:v>63.374400000000001</c:v>
                </c:pt>
                <c:pt idx="3">
                  <c:v>129.208</c:v>
                </c:pt>
                <c:pt idx="4">
                  <c:v>383.64</c:v>
                </c:pt>
                <c:pt idx="5">
                  <c:v>4198.2</c:v>
                </c:pt>
                <c:pt idx="6">
                  <c:v>4785.8599999999997</c:v>
                </c:pt>
                <c:pt idx="7">
                  <c:v>33.147399999999998</c:v>
                </c:pt>
                <c:pt idx="8">
                  <c:v>1436.35</c:v>
                </c:pt>
                <c:pt idx="9">
                  <c:v>52.050199999999997</c:v>
                </c:pt>
                <c:pt idx="10">
                  <c:v>566.375</c:v>
                </c:pt>
                <c:pt idx="11">
                  <c:v>147.33699999999999</c:v>
                </c:pt>
                <c:pt idx="12">
                  <c:v>3719.64</c:v>
                </c:pt>
                <c:pt idx="13">
                  <c:v>776.298</c:v>
                </c:pt>
                <c:pt idx="14">
                  <c:v>44.7913</c:v>
                </c:pt>
                <c:pt idx="15">
                  <c:v>4.31114</c:v>
                </c:pt>
                <c:pt idx="16">
                  <c:v>856.28899999999999</c:v>
                </c:pt>
                <c:pt idx="17">
                  <c:v>469.077</c:v>
                </c:pt>
                <c:pt idx="18">
                  <c:v>6447.93</c:v>
                </c:pt>
                <c:pt idx="19">
                  <c:v>569.04499999999996</c:v>
                </c:pt>
                <c:pt idx="20">
                  <c:v>120.22499999999999</c:v>
                </c:pt>
                <c:pt idx="21">
                  <c:v>273.416</c:v>
                </c:pt>
                <c:pt idx="22">
                  <c:v>9.8639399999999995</c:v>
                </c:pt>
                <c:pt idx="23">
                  <c:v>0.53399200000000002</c:v>
                </c:pt>
                <c:pt idx="24">
                  <c:v>2826.72</c:v>
                </c:pt>
                <c:pt idx="25">
                  <c:v>4021.73</c:v>
                </c:pt>
                <c:pt idx="26">
                  <c:v>2214.6799999999998</c:v>
                </c:pt>
                <c:pt idx="27">
                  <c:v>514.14400000000001</c:v>
                </c:pt>
                <c:pt idx="28">
                  <c:v>4631.29</c:v>
                </c:pt>
                <c:pt idx="29">
                  <c:v>1378.52</c:v>
                </c:pt>
                <c:pt idx="30">
                  <c:v>340.03100000000001</c:v>
                </c:pt>
                <c:pt idx="31">
                  <c:v>1347.33</c:v>
                </c:pt>
                <c:pt idx="32">
                  <c:v>148.84200000000001</c:v>
                </c:pt>
                <c:pt idx="33">
                  <c:v>11.132</c:v>
                </c:pt>
                <c:pt idx="34">
                  <c:v>108.41500000000001</c:v>
                </c:pt>
                <c:pt idx="35">
                  <c:v>213.959</c:v>
                </c:pt>
                <c:pt idx="36">
                  <c:v>170.39500000000001</c:v>
                </c:pt>
                <c:pt idx="37">
                  <c:v>6303.32</c:v>
                </c:pt>
                <c:pt idx="38">
                  <c:v>24.765699999999999</c:v>
                </c:pt>
                <c:pt idx="39">
                  <c:v>0.48409400000000002</c:v>
                </c:pt>
                <c:pt idx="40">
                  <c:v>12.7202</c:v>
                </c:pt>
                <c:pt idx="41">
                  <c:v>55.831699999999998</c:v>
                </c:pt>
                <c:pt idx="42">
                  <c:v>5.5957999999999997</c:v>
                </c:pt>
                <c:pt idx="43">
                  <c:v>984.048</c:v>
                </c:pt>
                <c:pt idx="44">
                  <c:v>895.86900000000003</c:v>
                </c:pt>
                <c:pt idx="45">
                  <c:v>186.72900000000001</c:v>
                </c:pt>
                <c:pt idx="46">
                  <c:v>212.41</c:v>
                </c:pt>
                <c:pt idx="47">
                  <c:v>37.427100000000003</c:v>
                </c:pt>
                <c:pt idx="48">
                  <c:v>584.89800000000002</c:v>
                </c:pt>
                <c:pt idx="49">
                  <c:v>0.38774799999999998</c:v>
                </c:pt>
                <c:pt idx="50">
                  <c:v>3.5123300000000003E-2</c:v>
                </c:pt>
                <c:pt idx="51">
                  <c:v>7288.54</c:v>
                </c:pt>
                <c:pt idx="52">
                  <c:v>923.36699999999996</c:v>
                </c:pt>
                <c:pt idx="53">
                  <c:v>331.77699999999999</c:v>
                </c:pt>
                <c:pt idx="54">
                  <c:v>387.48200000000003</c:v>
                </c:pt>
                <c:pt idx="55">
                  <c:v>477.298</c:v>
                </c:pt>
                <c:pt idx="56">
                  <c:v>1.8332200000000001</c:v>
                </c:pt>
                <c:pt idx="57">
                  <c:v>1257.25</c:v>
                </c:pt>
                <c:pt idx="58">
                  <c:v>11.6967</c:v>
                </c:pt>
                <c:pt idx="59">
                  <c:v>0.65045500000000001</c:v>
                </c:pt>
                <c:pt idx="60">
                  <c:v>1910.12</c:v>
                </c:pt>
                <c:pt idx="61">
                  <c:v>4348.3900000000003</c:v>
                </c:pt>
                <c:pt idx="62">
                  <c:v>113.97199999999999</c:v>
                </c:pt>
                <c:pt idx="63">
                  <c:v>14.2591</c:v>
                </c:pt>
                <c:pt idx="64">
                  <c:v>20.72</c:v>
                </c:pt>
                <c:pt idx="65">
                  <c:v>108.90300000000001</c:v>
                </c:pt>
                <c:pt idx="66">
                  <c:v>7.6752900000000004</c:v>
                </c:pt>
                <c:pt idx="67">
                  <c:v>753.53700000000003</c:v>
                </c:pt>
                <c:pt idx="68">
                  <c:v>0.95937799999999995</c:v>
                </c:pt>
                <c:pt idx="69">
                  <c:v>0.229936</c:v>
                </c:pt>
                <c:pt idx="70">
                  <c:v>210.108</c:v>
                </c:pt>
                <c:pt idx="71">
                  <c:v>1471.78</c:v>
                </c:pt>
                <c:pt idx="72">
                  <c:v>1555.61</c:v>
                </c:pt>
                <c:pt idx="73">
                  <c:v>8.4750099999999993</c:v>
                </c:pt>
                <c:pt idx="74">
                  <c:v>573.18100000000004</c:v>
                </c:pt>
                <c:pt idx="75">
                  <c:v>134.87700000000001</c:v>
                </c:pt>
                <c:pt idx="76">
                  <c:v>5545.31</c:v>
                </c:pt>
                <c:pt idx="77">
                  <c:v>1.08278E-2</c:v>
                </c:pt>
                <c:pt idx="78">
                  <c:v>429.09399999999999</c:v>
                </c:pt>
                <c:pt idx="79">
                  <c:v>349.08699999999999</c:v>
                </c:pt>
                <c:pt idx="80">
                  <c:v>4.4991399999999997</c:v>
                </c:pt>
                <c:pt idx="81">
                  <c:v>7249.78</c:v>
                </c:pt>
                <c:pt idx="82">
                  <c:v>230.315</c:v>
                </c:pt>
                <c:pt idx="83">
                  <c:v>2.27298</c:v>
                </c:pt>
                <c:pt idx="84">
                  <c:v>889.99699999999996</c:v>
                </c:pt>
                <c:pt idx="85">
                  <c:v>50.331000000000003</c:v>
                </c:pt>
                <c:pt idx="86">
                  <c:v>2999.4</c:v>
                </c:pt>
                <c:pt idx="87">
                  <c:v>47.114199999999997</c:v>
                </c:pt>
                <c:pt idx="88">
                  <c:v>900.76099999999997</c:v>
                </c:pt>
                <c:pt idx="89">
                  <c:v>77.136300000000006</c:v>
                </c:pt>
                <c:pt idx="90">
                  <c:v>489.23700000000002</c:v>
                </c:pt>
                <c:pt idx="91">
                  <c:v>1053.79</c:v>
                </c:pt>
                <c:pt idx="92">
                  <c:v>70.111599999999996</c:v>
                </c:pt>
                <c:pt idx="93">
                  <c:v>4.8307500000000001</c:v>
                </c:pt>
                <c:pt idx="94">
                  <c:v>16.666799999999999</c:v>
                </c:pt>
                <c:pt idx="95">
                  <c:v>3249.75</c:v>
                </c:pt>
                <c:pt idx="96">
                  <c:v>951.87099999999998</c:v>
                </c:pt>
                <c:pt idx="97">
                  <c:v>3145.7</c:v>
                </c:pt>
                <c:pt idx="98">
                  <c:v>2591.16</c:v>
                </c:pt>
                <c:pt idx="99">
                  <c:v>294.52199999999999</c:v>
                </c:pt>
                <c:pt idx="100">
                  <c:v>1939.12</c:v>
                </c:pt>
                <c:pt idx="101">
                  <c:v>187.51499999999999</c:v>
                </c:pt>
                <c:pt idx="102">
                  <c:v>13.2072</c:v>
                </c:pt>
                <c:pt idx="103">
                  <c:v>693.66200000000003</c:v>
                </c:pt>
                <c:pt idx="104">
                  <c:v>9.7526299999999999</c:v>
                </c:pt>
                <c:pt idx="105">
                  <c:v>6.2522799999999998</c:v>
                </c:pt>
                <c:pt idx="106">
                  <c:v>1105.1400000000001</c:v>
                </c:pt>
                <c:pt idx="107">
                  <c:v>1462.9</c:v>
                </c:pt>
                <c:pt idx="108">
                  <c:v>27.54</c:v>
                </c:pt>
                <c:pt idx="109">
                  <c:v>15.6805</c:v>
                </c:pt>
                <c:pt idx="110">
                  <c:v>7.8211600000000006E-3</c:v>
                </c:pt>
                <c:pt idx="111">
                  <c:v>2408.67</c:v>
                </c:pt>
                <c:pt idx="112">
                  <c:v>23.3903</c:v>
                </c:pt>
                <c:pt idx="113">
                  <c:v>0.132795</c:v>
                </c:pt>
                <c:pt idx="114">
                  <c:v>48.654800000000002</c:v>
                </c:pt>
                <c:pt idx="115">
                  <c:v>1.66605</c:v>
                </c:pt>
                <c:pt idx="116">
                  <c:v>69.184899999999999</c:v>
                </c:pt>
                <c:pt idx="117">
                  <c:v>151.88499999999999</c:v>
                </c:pt>
                <c:pt idx="118">
                  <c:v>71.244100000000003</c:v>
                </c:pt>
                <c:pt idx="119">
                  <c:v>246.32499999999999</c:v>
                </c:pt>
                <c:pt idx="120">
                  <c:v>21.256799999999998</c:v>
                </c:pt>
                <c:pt idx="121">
                  <c:v>39.747900000000001</c:v>
                </c:pt>
                <c:pt idx="122">
                  <c:v>0.45702300000000001</c:v>
                </c:pt>
                <c:pt idx="123">
                  <c:v>1646.52</c:v>
                </c:pt>
                <c:pt idx="124">
                  <c:v>850.327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264-4855-AFCD-946297C64121}"/>
            </c:ext>
          </c:extLst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Perfect fit (y = x)</c:v>
                </c:pt>
              </c:strCache>
            </c:strRef>
          </c:tx>
          <c:spPr>
            <a:ln w="19050" cap="rnd">
              <a:solidFill>
                <a:srgbClr val="1B2A41"/>
              </a:solidFill>
              <a:prstDash val="dash"/>
            </a:ln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5.0000000000000001E-3</c:v>
                </c:pt>
                <c:pt idx="1">
                  <c:v>10000</c:v>
                </c:pt>
              </c:numCache>
            </c:numRef>
          </c:xVal>
          <c:yVal>
            <c:numRef>
              <c:f>Sheet1!$C$2:$C$3</c:f>
              <c:numCache>
                <c:formatCode>General</c:formatCode>
                <c:ptCount val="2"/>
                <c:pt idx="0">
                  <c:v>5.0000000000000001E-3</c:v>
                </c:pt>
                <c:pt idx="1">
                  <c:v>10000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264-4855-AFCD-946297C64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1111111"/>
        <c:axId val="322222222"/>
      </c:scatterChart>
      <c:valAx>
        <c:axId val="311111111"/>
        <c:scaling>
          <c:logBase val="10"/>
          <c:orientation val="minMax"/>
          <c:max val="10000"/>
          <c:min val="5.0000000000000001E-3"/>
        </c:scaling>
        <c:delete val="0"/>
        <c:axPos val="b"/>
        <c:majorGridlines>
          <c:spPr>
            <a:ln w="6350" cap="flat">
              <a:solidFill>
                <a:srgbClr val="EAEFF4"/>
              </a:solidFill>
              <a:prstDash val="solid"/>
              <a:round/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1">
                    <a:solidFill>
                      <a:srgbClr val="1B2A41"/>
                    </a:solidFill>
                    <a:latin typeface="Trebuchet MS"/>
                  </a:defRPr>
                </a:pPr>
                <a:r>
                  <a:rPr lang="en-US" sz="1100" b="1">
                    <a:solidFill>
                      <a:srgbClr val="1B2A41"/>
                    </a:solidFill>
                    <a:latin typeface="Trebuchet MS"/>
                  </a:rPr>
                  <a:t>Model-predicted payment ($M, log scale)</a:t>
                </a:r>
              </a:p>
            </c:rich>
          </c:tx>
          <c:overlay val="0"/>
        </c:title>
        <c:numFmt formatCode="[&gt;=1]\$#,##0;\$#,##0.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>
                <a:solidFill>
                  <a:srgbClr val="5A6B7E"/>
                </a:solidFill>
                <a:latin typeface="Calibri"/>
              </a:defRPr>
            </a:pPr>
            <a:endParaRPr lang="en-US"/>
          </a:p>
        </c:txPr>
        <c:crossAx val="322222222"/>
        <c:crosses val="min"/>
        <c:crossBetween val="midCat"/>
      </c:valAx>
      <c:valAx>
        <c:axId val="322222222"/>
        <c:scaling>
          <c:logBase val="10"/>
          <c:orientation val="minMax"/>
          <c:max val="10000"/>
          <c:min val="5.0000000000000001E-3"/>
        </c:scaling>
        <c:delete val="0"/>
        <c:axPos val="l"/>
        <c:majorGridlines>
          <c:spPr>
            <a:ln w="6350" cap="flat">
              <a:solidFill>
                <a:srgbClr val="EAEFF4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>
                    <a:solidFill>
                      <a:srgbClr val="1B2A41"/>
                    </a:solidFill>
                    <a:latin typeface="Trebuchet MS"/>
                  </a:defRPr>
                </a:pPr>
                <a:r>
                  <a:rPr lang="en-US" sz="1100" b="1">
                    <a:solidFill>
                      <a:srgbClr val="1B2A41"/>
                    </a:solidFill>
                    <a:latin typeface="Trebuchet MS"/>
                  </a:rPr>
                  <a:t>Actual payment ($M, log scale)</a:t>
                </a:r>
              </a:p>
            </c:rich>
          </c:tx>
          <c:overlay val="0"/>
        </c:title>
        <c:numFmt formatCode="[&gt;=1]\$#,##0;\$#,##0.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>
                <a:solidFill>
                  <a:srgbClr val="5A6B7E"/>
                </a:solidFill>
                <a:latin typeface="Calibri"/>
              </a:defRPr>
            </a:pPr>
            <a:endParaRPr lang="en-US"/>
          </a:p>
        </c:txPr>
        <c:crossAx val="311111111"/>
        <c:crosses val="min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 b="0">
              <a:solidFill>
                <a:srgbClr val="5A6B7E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  <a:effectLst/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Monthly Enrollment, May 2026 release — data.cms.gov/summary-statistics-on-beneficiary-enrollment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Monthly Enrollment, May 2026 release — data.cms.gov/summary-statistics-on-beneficiary-enrollment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Geographic Variation, National/State/County, 2014–2024 — data.cms.gov/medicare-geographic-variation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Geographic Variation, National/State/County, 2014–2024 — data.cms.gov/medicare-geographic-variation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Advantage and Part D Star Ratings Data Tables, 2024–2026 — cms.gov/medicare/health-plans/medicareadvtgspecratestats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Advantage and Part D Star Ratings Data Tables, 2024–2026 — cms.gov/medicare/health-plans/medicareadvtgspecratestats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FFS Public Provider Enrollment (PPEF), 2026 Q3 — data.cms.gov/provider-characteristics/medicare-provider-supplier-enrollment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Monthly Enrollment, May 2026 release — data.cms.gov/summary-statistics-on-beneficiary-enrollment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Geographic Variation, National/State/County, 2014–2024 — data.cms.gov/medicare-geographic-variation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Advantage and Part D Star Ratings Data Tables, 2024–2026 — cms.gov/medicare/health-plans/medicareadvtgspecratestats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FFS Public Provider Enrollment (PPEF), 2026 Q3 — data.cms.gov/provider-characteristics/medicare-provider-supplier-enrollment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88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CMS Medicare Part B PBAR national summary files, CY 2022–2024 — data.cms.gov</a:t>
            </a:r>
          </a:p>
          <a:p>
            <a:r>
              <a:rPr lang="en-US"/>
              <a:t>Independent portfolio analysis; not commissioned, reviewed, endorsed, or published by CMS.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18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rai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bar moti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8160" y="3886200"/>
            <a:ext cx="502920" cy="1005840"/>
          </a:xfrm>
          <a:prstGeom prst="rect">
            <a:avLst/>
          </a:prstGeom>
          <a:solidFill>
            <a:srgbClr val="0071B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ar moti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0" y="3337560"/>
            <a:ext cx="502920" cy="1554480"/>
          </a:xfrm>
          <a:prstGeom prst="rect">
            <a:avLst/>
          </a:prstGeom>
          <a:solidFill>
            <a:srgbClr val="003F7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ar moti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84080" y="3657600"/>
            <a:ext cx="502920" cy="1234440"/>
          </a:xfrm>
          <a:prstGeom prst="rect">
            <a:avLst/>
          </a:prstGeom>
          <a:solidFill>
            <a:srgbClr val="0071B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bar moti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7040" y="2926080"/>
            <a:ext cx="502920" cy="1965960"/>
          </a:xfrm>
          <a:prstGeom prst="rect">
            <a:avLst/>
          </a:prstGeom>
          <a:solidFill>
            <a:srgbClr val="003F7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bar moti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0" y="3474720"/>
            <a:ext cx="502920" cy="1417320"/>
          </a:xfrm>
          <a:prstGeom prst="rect">
            <a:avLst/>
          </a:prstGeom>
          <a:solidFill>
            <a:srgbClr val="0071B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141274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61288" y="13167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 ·  FOUR-DOMAIN ANALYST DEEP-DIVE</a:t>
            </a:r>
            <a:endParaRPr lang="en-US" sz="1250" dirty="0"/>
          </a:p>
        </p:txBody>
      </p:sp>
      <p:sp>
        <p:nvSpPr>
          <p:cNvPr id="10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Program</a:t>
            </a:r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704088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claims and utilization, plan quality, </a:t>
            </a:r>
            <a:r>
              <a:rPr lang="en-US" sz="18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provider </a:t>
            </a:r>
            <a:r>
              <a:rPr lang="en-US" sz="18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in a single view</a:t>
            </a:r>
            <a:endParaRPr lang="en-US" sz="1800" dirty="0"/>
          </a:p>
        </p:txBody>
      </p:sp>
      <p:sp>
        <p:nvSpPr>
          <p:cNvPr id="12" name="sta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5074920"/>
            <a:ext cx="1920240" cy="86868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5074920"/>
            <a:ext cx="64008" cy="86868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51389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70.5M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69848" y="55595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CBD8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BENEFICIARIES</a:t>
            </a:r>
            <a:endParaRPr lang="en-US" sz="950" dirty="0"/>
          </a:p>
        </p:txBody>
      </p:sp>
      <p:sp>
        <p:nvSpPr>
          <p:cNvPr id="16" name="sta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520" y="5074920"/>
            <a:ext cx="1920240" cy="86868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520" y="5074920"/>
            <a:ext cx="64008" cy="86868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51389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$377.3B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218688" y="55595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CBD8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FFS PAYMENTS</a:t>
            </a:r>
            <a:endParaRPr lang="en-US" sz="950" dirty="0"/>
          </a:p>
        </p:txBody>
      </p:sp>
      <p:sp>
        <p:nvSpPr>
          <p:cNvPr id="20" name="sta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6360" y="5074920"/>
            <a:ext cx="1920240" cy="86868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6360" y="5074920"/>
            <a:ext cx="64008" cy="86868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51389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 / 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367528" y="55595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CBD8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STAR RATING</a:t>
            </a:r>
            <a:endParaRPr lang="en-US" sz="950" dirty="0"/>
          </a:p>
        </p:txBody>
      </p:sp>
      <p:sp>
        <p:nvSpPr>
          <p:cNvPr id="24" name="sta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074920"/>
            <a:ext cx="1920240" cy="86868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074920"/>
            <a:ext cx="64008" cy="86868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0" y="51389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2.98M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516368" y="55595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>
                <a:solidFill>
                  <a:srgbClr val="CBD8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ENROLLMENT RECORDS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r>
              <a:rPr lang="en-US" sz="11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CMS</a:t>
            </a:r>
            <a:r>
              <a:rPr lang="en-US" sz="1100" i="1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Medicare</a:t>
            </a:r>
            <a:r>
              <a:rPr lang="en-US" sz="11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Enrollment (May 2026) · Geographic Variation (2014–2024) · MA &amp; Part D Star Ratings (2024–2026) · Provider Enrollment PPEF (2026 Q3) · </a:t>
            </a:r>
            <a:r>
              <a:rPr lang="en-US" sz="11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PBAR</a:t>
            </a:r>
            <a:r>
              <a:rPr lang="en-US" sz="1100" i="1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 2022–2024</a:t>
            </a:r>
            <a:r>
              <a:rPr lang="en-US" sz="1100" i="1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1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Independent portfolio analysis; not commissioned, reviewed, endorsed, or published by CMS.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LEADERSHIP · EXECUTIVE SUMMARY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2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r>
              <a:rPr lang="en-US" sz="14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decision-makers</a:t>
            </a: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Medicare covers, </a:t>
            </a: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4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spends</a:t>
            </a: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plans perform</a:t>
            </a: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4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enrolled provider network is composed</a:t>
            </a: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2523744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82296" cy="128016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1975104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70.5M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7824" y="259689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BENEFICIARIES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287121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 in MA &amp; Other plans</a:t>
            </a:r>
            <a:endParaRPr lang="en-US" sz="1050" dirty="0"/>
          </a:p>
        </p:txBody>
      </p:sp>
      <p:sp>
        <p:nvSpPr>
          <p:cNvPr id="11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828800"/>
            <a:ext cx="2523744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828800"/>
            <a:ext cx="82296" cy="128016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975104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$377.3B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75888" y="259689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FFS PAYMENTS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87121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C5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$12,553 per beneficiary</a:t>
            </a:r>
            <a:endParaRPr lang="en-US" sz="1050" dirty="0"/>
          </a:p>
        </p:txBody>
      </p:sp>
      <p:sp>
        <p:nvSpPr>
          <p:cNvPr id="16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1828800"/>
            <a:ext cx="2523744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1828800"/>
            <a:ext cx="82296" cy="128016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55664" y="1975104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 / 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73952" y="259689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STAR RATING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3952" y="287121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 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at 4+ stars</a:t>
            </a:r>
            <a:endParaRPr lang="en-US" sz="1050" dirty="0"/>
          </a:p>
        </p:txBody>
      </p:sp>
      <p:sp>
        <p:nvSpPr>
          <p:cNvPr id="21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34272" y="1828800"/>
            <a:ext cx="2523744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34272" y="1828800"/>
            <a:ext cx="82296" cy="128016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53728" y="1975104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2.98M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272016" y="259689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ENROLLMENT RECORDS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72016" y="287121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2.55M individual-practitioner enrollments</a:t>
            </a:r>
            <a:endParaRPr lang="en-US" sz="1050" dirty="0"/>
          </a:p>
        </p:txBody>
      </p:sp>
      <p:sp>
        <p:nvSpPr>
          <p:cNvPr id="26" name="Text 2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33101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says</a:t>
            </a:r>
            <a:endParaRPr lang="en-US" sz="1400" dirty="0"/>
          </a:p>
        </p:txBody>
      </p:sp>
      <p:sp>
        <p:nvSpPr>
          <p:cNvPr id="27" name="findin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12464"/>
            <a:ext cx="82296" cy="5303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6384" y="36758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3657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has tipped to MA &amp; Other plans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80160" y="39502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and other plans now cover 36.1M of 70.5M beneficiaries 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— 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crossing above Original Medicare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1" name="findin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370832"/>
            <a:ext cx="82296" cy="5303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86384" y="433425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80160" y="43159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FFS cost is rising per person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280160" y="46085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payment per beneficiary climbed from $9,191 in 2014 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$12,553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2024.</a:t>
            </a:r>
            <a:endParaRPr lang="en-US" sz="1050" dirty="0"/>
          </a:p>
        </p:txBody>
      </p:sp>
      <p:sp>
        <p:nvSpPr>
          <p:cNvPr id="35" name="findin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029200"/>
            <a:ext cx="82296" cy="5303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86384" y="49926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80160" y="49743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has plateaued below 4 stars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80160" y="52669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contract has held near 3.7 of 5 since 2024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only 44.4% reach 4+ stars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9" name="findin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687568"/>
            <a:ext cx="82296" cy="5303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86384" y="56509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80160" y="563270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 practitioners lead primary provider types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280160" y="59253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practitioners are the largest primary provider type at 359,719 unique provider entities within 2.98M enrollment records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43" name="prioriti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2360" y="3310128"/>
            <a:ext cx="4096512" cy="2962656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52360" y="3310128"/>
            <a:ext cx="4096512" cy="8229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26680" y="354787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focus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726680" y="4059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FB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10728" y="40416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for an MA-majority program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10728" y="433425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beneficiaries are in MA &amp; Other plans — quality </a:t>
            </a:r>
            <a:r>
              <a:rPr lang="en-US" sz="10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0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levers outweigh FFS pricing</a:t>
            </a:r>
            <a:r>
              <a:rPr lang="en-US" sz="10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726680" y="4773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FB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10728" y="475488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Bend the per-beneficiary curve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10728" y="504748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inpatient is 28.0% of FFS payments — the largest single block</a:t>
            </a:r>
            <a:r>
              <a:rPr lang="en-US" sz="10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726680" y="5486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FB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110728" y="54681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the four-star gap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10728" y="57607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clustered at 3.5 stars are the clearest path to bonus-eligible performance</a:t>
            </a:r>
            <a:r>
              <a:rPr lang="en-US" sz="10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Analysis Covers</a:t>
            </a:r>
            <a:endParaRPr lang="en-US" sz="30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6112" y="1801368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5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6112" y="231343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CMS data domains — enrollment and demographics, FFS claims and utilization, MA plan quality,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provider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600200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56832" y="1801368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</a:t>
            </a:r>
            <a:endParaRPr lang="en-US" sz="1500" dirty="0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656832" y="231343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 nationally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rated MA contracts and the enrolled fee-for-service provider network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1568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3602736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Question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411480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Medicare cover, what does it pay for, how well do plans perform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enrolled provider network composed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3401568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656832" y="3602736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56832" y="411480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Enrollment (May 2026), Geographic Variation (2014–2024), MA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Star Ratings (2024–2026), Provider Enrollment PPEF (2026 Q3),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PBAR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(CY 2022–2024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7" name="fac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221224"/>
            <a:ext cx="2674620" cy="841248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41248" y="5330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74520" y="5330952"/>
            <a:ext cx="13030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domains</a:t>
            </a:r>
            <a:endParaRPr lang="en-US" sz="1150" dirty="0"/>
          </a:p>
        </p:txBody>
      </p:sp>
      <p:sp>
        <p:nvSpPr>
          <p:cNvPr id="20" name="fac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9020" y="5221224"/>
            <a:ext cx="2674620" cy="841248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90188" y="5330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70.5M</a:t>
            </a:r>
            <a:endParaRPr lang="en-US" sz="2400" dirty="0"/>
          </a:p>
        </p:txBody>
      </p:sp>
      <p:sp>
        <p:nvSpPr>
          <p:cNvPr id="22" name="Text 2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823460" y="5330952"/>
            <a:ext cx="13030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 covered</a:t>
            </a:r>
            <a:endParaRPr lang="en-US" sz="1150" dirty="0"/>
          </a:p>
        </p:txBody>
      </p:sp>
      <p:sp>
        <p:nvSpPr>
          <p:cNvPr id="23" name="fac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5221224"/>
            <a:ext cx="2674620" cy="841248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39128" y="5330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772400" y="5330952"/>
            <a:ext cx="13030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MA contracts</a:t>
            </a:r>
            <a:endParaRPr lang="en-US" sz="1150" dirty="0"/>
          </a:p>
        </p:txBody>
      </p:sp>
      <p:sp>
        <p:nvSpPr>
          <p:cNvPr id="26" name="fac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6900" y="5221224"/>
            <a:ext cx="2674620" cy="841248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88068" y="5330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2.98M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721340" y="5330952"/>
            <a:ext cx="13030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enrollment records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Domains at a Glance</a:t>
            </a:r>
            <a:endParaRPr lang="en-US" sz="3000" dirty="0"/>
          </a:p>
        </p:txBody>
      </p:sp>
      <p:sp>
        <p:nvSpPr>
          <p:cNvPr id="40" name="through-line callout"/>
          <p:cNvSpPr/>
          <p:nvPr/>
        </p:nvSpPr>
        <p:spPr>
          <a:xfrm>
            <a:off x="640080" y="1276350"/>
            <a:ext cx="1130232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datasets in one line — </a:t>
            </a:r>
            <a:r>
              <a:rPr lang="en-US" sz="1100" b="1" i="1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70.5M beneficiaries  ·  $377.3B FFS payments  ·  3.7 avg stars  ·  2.98M provider enrollment records</a:t>
            </a:r>
            <a:r>
              <a:rPr lang="en-US" sz="11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i="1"/>
          </a:p>
        </p:txBody>
      </p:sp>
      <p:sp>
        <p:nvSpPr>
          <p:cNvPr id="5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08760"/>
            <a:ext cx="5486400" cy="2212848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70992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10512" y="172821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 &amp; Beneficiaries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70.5M covered, 51.2% of them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&amp; Other plans, on a base weighted toward ages 65–74 (48.4%).</a:t>
            </a:r>
            <a:endParaRPr lang="en-US" sz="1250" dirty="0"/>
          </a:p>
        </p:txBody>
      </p:sp>
      <p:sp>
        <p:nvSpPr>
          <p:cNvPr id="9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1508760"/>
            <a:ext cx="5486400" cy="2212848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11696" y="170992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26096" y="172821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&amp; Utilization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9984" y="2532888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$377.3B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FFS payments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$12,553 per beneficiary, led by hospital inpatient at 28.0%.</a:t>
            </a:r>
            <a:endParaRPr lang="en-US" sz="1250" dirty="0"/>
          </a:p>
        </p:txBody>
      </p:sp>
      <p:sp>
        <p:nvSpPr>
          <p:cNvPr id="13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95928"/>
            <a:ext cx="5486400" cy="2212848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419709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10512" y="421538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&amp; Star Ratings</a:t>
            </a:r>
            <a:endParaRPr lang="en-US" sz="1500" dirty="0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14400" y="5020056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516 rated contracts averaging 3.7 of 5; 44.4% reach 4+ stars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22 hit five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3995928"/>
            <a:ext cx="5486400" cy="2212848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11696" y="419709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626096" y="421538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Network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9984" y="5020056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2.98M enrollment records — 2.55M individual-practitioner enrollments 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432,233 organizations across 321 provider types</a:t>
            </a: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 · DELIVERY SYSTEM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Advantage &amp; Other Plans Now Cover the Majority</a:t>
            </a:r>
            <a:endParaRPr lang="en-US" sz="2800" dirty="0"/>
          </a:p>
        </p:txBody>
      </p:sp>
      <p:sp>
        <p:nvSpPr>
          <p:cNvPr id="5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0866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enrollment by coverage delivery system, May 2026 (Millions)</a:t>
            </a:r>
            <a:endParaRPr lang="en-US" sz="1350" dirty="0"/>
          </a:p>
        </p:txBody>
      </p:sp>
      <p:graphicFrame>
        <p:nvGraphicFramePr>
          <p:cNvPr id="7" name="Payment amount by year" descr="Column chart of Medicare Part B payments: $115.9B in 2022, $125.7B in 2023, $131.7B in 2024"/>
          <p:cNvGraphicFramePr/>
          <p:nvPr>
            <p:extLst>
              <p:ext uri="{D42A27DB-BD31-4B8C-83A1-F6EECF244321}">
                <p14:modId xmlns:p14="http://schemas.microsoft.com/office/powerpoint/2010/main" val="1374848703"/>
              </p:ext>
            </p:extLst>
          </p:nvPr>
        </p:nvGraphicFramePr>
        <p:xfrm>
          <a:off x="868680" y="2148840"/>
          <a:ext cx="6629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82296" cy="141732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20456" y="1700784"/>
            <a:ext cx="3154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51.2%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38744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ADVANTAGE &amp; OTHER SHARE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38744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50" dirty="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3127248"/>
            <a:ext cx="3520440" cy="2999232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57032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happening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57032" y="3703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70.5M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beneficiaries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36.1M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and other plans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&amp; Other now exceed Original Medicare by approximately 1.7M beneficiaries, reflecting a continuing shift in delivery-system mix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 · GEOGRAPHY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Medicare Advantage &amp; Other Lead</a:t>
            </a:r>
            <a:endParaRPr lang="en-US" sz="27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Medicare Advantage &amp; Other share by state or territory, May 2026</a:t>
            </a: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37360"/>
            <a:ext cx="749808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Top 10 specialties by payment" descr="Horizontal bar chart of top 10 specialties by 2022 Medicare payment, led by Internal Medicine at $7.29B and Ophthalmology at $7.25B"/>
          <p:cNvGraphicFramePr/>
          <p:nvPr>
            <p:extLst>
              <p:ext uri="{D42A27DB-BD31-4B8C-83A1-F6EECF244321}">
                <p14:modId xmlns:p14="http://schemas.microsoft.com/office/powerpoint/2010/main" val="915223502"/>
              </p:ext>
            </p:extLst>
          </p:nvPr>
        </p:nvGraphicFramePr>
        <p:xfrm>
          <a:off x="822960" y="1874520"/>
          <a:ext cx="7178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3246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82296" cy="13716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94776" y="18836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86.8%</a:t>
            </a:r>
            <a:endParaRPr lang="en-US" sz="3000" dirty="0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13064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HIGHEST MA &amp; OTHER SHARE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13064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Rico</a:t>
            </a:r>
            <a:endParaRPr lang="en-US" sz="1050" dirty="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3246120"/>
            <a:ext cx="3246120" cy="292608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13064" y="3401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13064" y="3767328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Rico is a clear outlier at </a:t>
            </a: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well above every mainland state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mainland leaders cluster tightly in the high 50s — Michigan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Rhode Island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Maine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Carolina all sit near 57–59%, so MA &amp; Other majorities are now ordinary rather than exceptional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· NATIONAL TREND</a:t>
            </a:r>
            <a:endParaRPr lang="en-US" sz="125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FFS Spending per Beneficiary Keeps Rising</a:t>
            </a:r>
            <a:endParaRPr lang="en-US" sz="2800"/>
          </a:p>
        </p:txBody>
      </p:sp>
      <p:sp>
        <p:nvSpPr>
          <p:cNvPr id="5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0866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Standardized payment per Original Medicare beneficiary ($)</a:t>
            </a:r>
            <a:endParaRPr lang="en-US" sz="1350"/>
          </a:p>
        </p:txBody>
      </p:sp>
      <p:graphicFrame>
        <p:nvGraphicFramePr>
          <p:cNvPr id="7" name="Payment amount by year" descr="Column chart of Medicare Part B payments: $115.9B in 2022, $125.7B in 2023, $131.7B in 2024"/>
          <p:cNvGraphicFramePr/>
          <p:nvPr>
            <p:extLst>
              <p:ext uri="{D42A27DB-BD31-4B8C-83A1-F6EECF244321}">
                <p14:modId xmlns:p14="http://schemas.microsoft.com/office/powerpoint/2010/main" val="1774888819"/>
              </p:ext>
            </p:extLst>
          </p:nvPr>
        </p:nvGraphicFramePr>
        <p:xfrm>
          <a:off x="868680" y="2148840"/>
          <a:ext cx="6629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82296" cy="141732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20456" y="1700784"/>
            <a:ext cx="3154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$377.3B</a:t>
            </a:r>
            <a:endParaRPr lang="en-US" sz="3000"/>
          </a:p>
        </p:txBody>
      </p:sp>
      <p:sp>
        <p:nvSpPr>
          <p:cNvPr id="11" name="Text 8"/>
          <p:cNvSpPr/>
          <p:nvPr/>
        </p:nvSpPr>
        <p:spPr>
          <a:xfrm>
            <a:off x="8238744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FFS PAYMENTS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238744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3127248"/>
            <a:ext cx="3520440" cy="2999232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57032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happening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257032" y="3703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payment per beneficiary rose from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$9,191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2014 to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$12,553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2024.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37% increase per person over a decade, on a shrinking Original Medicare population — the pressure is per-capita cost, not enrollment growth.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61580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· SERVICE MIX</a:t>
            </a:r>
            <a:endParaRPr lang="en-US" sz="125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Fee-for-Service Dollars Go</a:t>
            </a:r>
            <a:endParaRPr lang="en-US" sz="270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Original Medicare FFS payments by service type, 2024 — selected published categories.</a:t>
            </a:r>
            <a:endParaRPr lang="en-US" sz="1300"/>
          </a:p>
        </p:txBody>
      </p:sp>
      <p:sp>
        <p:nvSpPr>
          <p:cNvPr id="6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37360"/>
            <a:ext cx="749808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Top 10 specialties by payment" descr="Horizontal bar chart of top 10 specialties by 2022 Medicare payment, led by Internal Medicine at $7.29B and Ophthalmology at $7.25B"/>
          <p:cNvGraphicFramePr/>
          <p:nvPr>
            <p:extLst>
              <p:ext uri="{D42A27DB-BD31-4B8C-83A1-F6EECF244321}">
                <p14:modId xmlns:p14="http://schemas.microsoft.com/office/powerpoint/2010/main" val="2122605478"/>
              </p:ext>
            </p:extLst>
          </p:nvPr>
        </p:nvGraphicFramePr>
        <p:xfrm>
          <a:off x="822960" y="1874520"/>
          <a:ext cx="7178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3246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82296" cy="13716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94776" y="18836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28.0%</a:t>
            </a:r>
            <a:endParaRPr lang="en-US" sz="3000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13064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LARGEST SERVICE TYPE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513064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Inpatient</a:t>
            </a:r>
            <a:endParaRPr lang="en-US" sz="105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3246120"/>
            <a:ext cx="3246120" cy="292608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13064" y="3401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513064" y="3767328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inpatient alone absorbs </a:t>
            </a: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every fee-for-service dollar.</a:t>
            </a:r>
            <a:endParaRPr lang="en-US" sz="125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hospital care the mix flattens into a long tail — procedures, rehab, dialysis and ambulance each land in the low single digits, so cost control has to start with the hospital block.</a:t>
            </a:r>
            <a:endParaRPr lang="en-US" sz="125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89618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· THREE-YEAR TREND</a:t>
            </a:r>
            <a:endParaRPr lang="en-US" sz="125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Quality Has Remained Stable Near 3.7 Stars</a:t>
            </a:r>
            <a:endParaRPr lang="en-US" sz="2800"/>
          </a:p>
        </p:txBody>
      </p:sp>
      <p:sp>
        <p:nvSpPr>
          <p:cNvPr id="5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0866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overall star rating, unweighted contract average, 2024–2026</a:t>
            </a:r>
            <a:endParaRPr lang="en-US" sz="1350"/>
          </a:p>
        </p:txBody>
      </p:sp>
      <p:graphicFrame>
        <p:nvGraphicFramePr>
          <p:cNvPr id="7" name="Payment amount by year" descr="Column chart of Medicare Part B payments: $115.9B in 2022, $125.7B in 2023, $131.7B in 2024"/>
          <p:cNvGraphicFramePr/>
          <p:nvPr>
            <p:extLst>
              <p:ext uri="{D42A27DB-BD31-4B8C-83A1-F6EECF244321}">
                <p14:modId xmlns:p14="http://schemas.microsoft.com/office/powerpoint/2010/main" val="3290621811"/>
              </p:ext>
            </p:extLst>
          </p:nvPr>
        </p:nvGraphicFramePr>
        <p:xfrm>
          <a:off x="868680" y="2148840"/>
          <a:ext cx="6629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82296" cy="141732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20456" y="1700784"/>
            <a:ext cx="3154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 / 5</a:t>
            </a:r>
            <a:endParaRPr lang="en-US" sz="3000"/>
          </a:p>
        </p:txBody>
      </p:sp>
      <p:sp>
        <p:nvSpPr>
          <p:cNvPr id="11" name="Text 8"/>
          <p:cNvSpPr/>
          <p:nvPr/>
        </p:nvSpPr>
        <p:spPr>
          <a:xfrm>
            <a:off x="8238744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OVERALL RATING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238744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516 rated contracts</a:t>
            </a:r>
            <a:endParaRPr lang="en-US" sz="105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3127248"/>
            <a:ext cx="3520440" cy="2999232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57032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happening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257032" y="3703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contract moved from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3.68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2024 to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3.71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2026 — effectively flat.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ratings have remained stable near 3.7 across three years, so gains are likelier to come from contract-level execution than from a rising tide.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15001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· DISTRIBUTION</a:t>
            </a:r>
            <a:endParaRPr lang="en-US" sz="125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Contracts Fall Short of Four Stars</a:t>
            </a:r>
            <a:endParaRPr lang="en-US" sz="270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contracts by CMS overall star rating, 2026 (n = 516).</a:t>
            </a:r>
            <a:endParaRPr lang="en-US" sz="1300"/>
          </a:p>
        </p:txBody>
      </p:sp>
      <p:sp>
        <p:nvSpPr>
          <p:cNvPr id="6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37360"/>
            <a:ext cx="749808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Payment per service spectrum" descr="Horizontal bar chart of payment per service ranging from $1.71 for Pharmacy to $276.37 for Thoracic Surgery"/>
          <p:cNvGraphicFramePr/>
          <p:nvPr>
            <p:extLst>
              <p:ext uri="{D42A27DB-BD31-4B8C-83A1-F6EECF244321}">
                <p14:modId xmlns:p14="http://schemas.microsoft.com/office/powerpoint/2010/main" val="1184225345"/>
              </p:ext>
            </p:extLst>
          </p:nvPr>
        </p:nvGraphicFramePr>
        <p:xfrm>
          <a:off x="822960" y="1874520"/>
          <a:ext cx="7178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3246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82296" cy="13716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94776" y="18836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44.4%</a:t>
            </a:r>
            <a:endParaRPr lang="en-US" sz="3000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13064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CONTRACTS AT 4+ STARS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513064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contracts at five stars</a:t>
            </a:r>
            <a:endParaRPr lang="en-US" sz="105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3246120"/>
            <a:ext cx="3246120" cy="292608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13064" y="3401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Implication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513064" y="3767328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peaks at 3.5 stars — 167 contracts sit one half-step below the bonus threshold.</a:t>
            </a:r>
            <a:endParaRPr lang="en-US" sz="125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cluster is a priority segment for contract-level measure review: focused measure improvements could move some contracts toward four stars.</a:t>
            </a:r>
            <a:endParaRPr lang="en-US" sz="1250"/>
          </a:p>
        </p:txBody>
      </p:sp>
      <p:sp>
        <p:nvSpPr>
          <p:cNvPr id="16" name="Text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/>
          </a:p>
        </p:txBody>
      </p:sp>
      <p:sp>
        <p:nvSpPr>
          <p:cNvPr id="18" name="cy2022 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6181344"/>
            <a:ext cx="7498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Contract-level CMS overall star ratings; nonnumeric rating statuses excluded.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78527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NETWORK · COMPOSITION</a:t>
            </a:r>
            <a:endParaRPr lang="en-US" sz="125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 Practitioners Are the Largest Primary Provider Type</a:t>
            </a:r>
            <a:endParaRPr lang="en-US" sz="270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PECOS provider entities by reported primary provider type, 2026 Q3.</a:t>
            </a:r>
            <a:endParaRPr lang="en-US" sz="1300"/>
          </a:p>
        </p:txBody>
      </p:sp>
      <p:sp>
        <p:nvSpPr>
          <p:cNvPr id="6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37360"/>
            <a:ext cx="749808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Top 10 specialties by payment" descr="Horizontal bar chart of top 10 specialties by 2022 Medicare payment, led by Internal Medicine at $7.29B and Ophthalmology at $7.25B"/>
          <p:cNvGraphicFramePr/>
          <p:nvPr>
            <p:extLst>
              <p:ext uri="{D42A27DB-BD31-4B8C-83A1-F6EECF244321}">
                <p14:modId xmlns:p14="http://schemas.microsoft.com/office/powerpoint/2010/main" val="881262192"/>
              </p:ext>
            </p:extLst>
          </p:nvPr>
        </p:nvGraphicFramePr>
        <p:xfrm>
          <a:off x="822960" y="1874520"/>
          <a:ext cx="7178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3246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82296" cy="13716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94776" y="18836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2.98M</a:t>
            </a:r>
            <a:endParaRPr lang="en-US" sz="3000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13064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 RECORDS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513064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PPEF 2026 Q3</a:t>
            </a:r>
            <a:endParaRPr lang="en-US" sz="105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3246120"/>
            <a:ext cx="3246120" cy="292608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13064" y="3401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513064" y="3767328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practitioners are the largest primary provider type at </a:t>
            </a: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359,719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unique provider entities.</a:t>
            </a:r>
            <a:endParaRPr lang="en-US" sz="125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321 primary provider types, 2.55M enrollments are individual practitioners and 432,233 are organizations and suppliers. This describes enrollment composition, not workforce supply or care delivered.</a:t>
            </a:r>
            <a:endParaRPr lang="en-US" sz="125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9238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Focus Next</a:t>
            </a:r>
            <a:endParaRPr lang="en-US" sz="3000" dirty="0"/>
          </a:p>
        </p:txBody>
      </p:sp>
      <p:sp>
        <p:nvSpPr>
          <p:cNvPr id="5" name="rec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5486400" cy="219456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19456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7739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175564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for an MA-majority program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51.2% of beneficiaries in plans, network adequacy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adjustment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performance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value than fee-for-service pricing levers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rec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1554480"/>
            <a:ext cx="5486400" cy="219456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1554480"/>
            <a:ext cx="82296" cy="219456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11696" y="17739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52944" y="175564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Bend the per-beneficiary cost curve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29984" y="245059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spend per beneficiary rose 37% in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decade; hospital inpatient at 28.0%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is the largest service category in this dataset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rec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23360"/>
            <a:ext cx="5486400" cy="219456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23360"/>
            <a:ext cx="82296" cy="219456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42428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422452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the four-star gap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91947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44.4% of contracts reach 4+ stars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has been flat since 2024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improvement on the 167 contracts sitting at 3.5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rec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4023360"/>
            <a:ext cx="5486400" cy="219456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4023360"/>
            <a:ext cx="82296" cy="219456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11696" y="42428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52944" y="422452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enrollment composition to guide network analysis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9984" y="491947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Advanced-practice types dominate enrollment records; use that composition as an input to network design and analysis, not as a measure of care delivered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1 · ENROLLMENT</a:t>
            </a:r>
            <a:endParaRPr lang="en-US" sz="1000"/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Enrollment &amp; Beneficiaries</a:t>
            </a:r>
            <a:endParaRPr lang="en-US" sz="3200"/>
          </a:p>
        </p:txBody>
      </p:sp>
      <p:sp>
        <p:nvSpPr>
          <p:cNvPr id="5" name="subtitl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mix, geography, and age structure.</a:t>
            </a:r>
            <a:endParaRPr lang="en-US" sz="1000"/>
          </a:p>
        </p:txBody>
      </p:sp>
      <p:sp>
        <p:nvSpPr>
          <p:cNvPr id="66" name="footer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1000"/>
          </a:p>
        </p:txBody>
      </p:sp>
      <p:sp>
        <p:nvSpPr>
          <p:cNvPr id="67" name="page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/>
          </a:p>
        </p:txBody>
      </p:sp>
      <p:sp>
        <p:nvSpPr>
          <p:cNvPr id="204" name="tableau link"/>
          <p:cNvSpPr txBox="1"/>
          <p:nvPr/>
        </p:nvSpPr>
        <p:spPr>
          <a:xfrm>
            <a:off x="5245290" y="1298448"/>
            <a:ext cx="6303520" cy="329184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r">
              <a:buNone/>
            </a:pPr>
            <a:r>
              <a:rPr lang="en-US" sz="1100" b="0" kern="0">
                <a:solidFill>
                  <a:srgbClr val="0071BB"/>
                </a:solidFill>
                <a:latin typeface="Trebuchet MS"/>
                <a:cs typeface="Trebuchet MS"/>
              </a:rPr>
              <a:t>Live on Tableau Public:  public.tableau.com/app/profile/lisa.a.phillips</a:t>
            </a:r>
          </a:p>
        </p:txBody>
      </p:sp>
      <p:pic>
        <p:nvPicPr>
          <p:cNvPr id="300" name="dashboard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41448" y="1783080"/>
            <a:ext cx="7315200" cy="4389119"/>
          </a:xfrm>
          <a:prstGeom prst="rect">
            <a:avLst/>
          </a:prstGeom>
          <a:ln w="9525">
            <a:solidFill>
              <a:srgbClr val="C3D2E0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2 · CLAIMS</a:t>
            </a:r>
            <a:endParaRPr lang="en-US" sz="1000"/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&amp; Utilization</a:t>
            </a:r>
            <a:endParaRPr lang="en-US" sz="3200"/>
          </a:p>
        </p:txBody>
      </p:sp>
      <p:sp>
        <p:nvSpPr>
          <p:cNvPr id="5" name="subtitl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FFS payments, service mix, and per-beneficiary cost.</a:t>
            </a:r>
            <a:endParaRPr lang="en-US" sz="1000"/>
          </a:p>
        </p:txBody>
      </p:sp>
      <p:sp>
        <p:nvSpPr>
          <p:cNvPr id="66" name="footer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1000"/>
          </a:p>
        </p:txBody>
      </p:sp>
      <p:sp>
        <p:nvSpPr>
          <p:cNvPr id="67" name="page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/>
          </a:p>
        </p:txBody>
      </p:sp>
      <p:sp>
        <p:nvSpPr>
          <p:cNvPr id="204" name="tableau link"/>
          <p:cNvSpPr txBox="1"/>
          <p:nvPr/>
        </p:nvSpPr>
        <p:spPr>
          <a:xfrm>
            <a:off x="5245290" y="1298448"/>
            <a:ext cx="6303520" cy="329184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r">
              <a:buNone/>
            </a:pPr>
            <a:r>
              <a:rPr lang="en-US" sz="1100" b="0" kern="0">
                <a:solidFill>
                  <a:srgbClr val="0071BB"/>
                </a:solidFill>
                <a:latin typeface="Trebuchet MS"/>
                <a:cs typeface="Trebuchet MS"/>
              </a:rPr>
              <a:t>Live on Tableau Public:  public.tableau.com/app/profile/lisa.a.phillips</a:t>
            </a:r>
          </a:p>
        </p:txBody>
      </p:sp>
      <p:pic>
        <p:nvPicPr>
          <p:cNvPr id="300" name="dashboard 1" descr="Tableau dashboard screenshot: Claims and Utilization. KPI tiles for $377.3B total Medicare payments, $12,553 standardized payment per beneficiary, 224.8 inpatient stays per 1,000 and 4,816.1 outpatient visits per 1,000, a 2014 to 2024 payment trend chart, a state standardized spending map, a state cost and utilization scatterplot, and a payment mix by service type bar chart led by hospital inpatient at 28.0%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1783080"/>
            <a:ext cx="7315200" cy="4389120"/>
          </a:xfrm>
          <a:prstGeom prst="rect">
            <a:avLst/>
          </a:prstGeom>
          <a:ln w="9525">
            <a:solidFill>
              <a:srgbClr val="C3D2E0"/>
            </a:solidFill>
          </a:ln>
        </p:spPr>
      </p:pic>
    </p:spTree>
    <p:extLst>
      <p:ext uri="{BB962C8B-B14F-4D97-AF65-F5344CB8AC3E}">
        <p14:creationId xmlns:p14="http://schemas.microsoft.com/office/powerpoint/2010/main" val="3529321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3 · QUALITY</a:t>
            </a:r>
            <a:endParaRPr lang="en-US" sz="1000"/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Measures &amp; Star Ratings</a:t>
            </a:r>
            <a:endParaRPr lang="en-US" sz="3200"/>
          </a:p>
        </p:txBody>
      </p:sp>
      <p:sp>
        <p:nvSpPr>
          <p:cNvPr id="5" name="subtitl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Contract-level rating trend and distribution.</a:t>
            </a:r>
            <a:endParaRPr lang="en-US" sz="1000"/>
          </a:p>
        </p:txBody>
      </p:sp>
      <p:sp>
        <p:nvSpPr>
          <p:cNvPr id="66" name="footer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1000"/>
          </a:p>
        </p:txBody>
      </p:sp>
      <p:sp>
        <p:nvSpPr>
          <p:cNvPr id="67" name="page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/>
          </a:p>
        </p:txBody>
      </p:sp>
      <p:sp>
        <p:nvSpPr>
          <p:cNvPr id="204" name="tableau link"/>
          <p:cNvSpPr txBox="1"/>
          <p:nvPr/>
        </p:nvSpPr>
        <p:spPr>
          <a:xfrm>
            <a:off x="5245290" y="1298448"/>
            <a:ext cx="6303520" cy="329184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r">
              <a:buNone/>
            </a:pPr>
            <a:r>
              <a:rPr lang="en-US" sz="1100" b="0" kern="0">
                <a:solidFill>
                  <a:srgbClr val="0071BB"/>
                </a:solidFill>
                <a:latin typeface="Trebuchet MS"/>
                <a:cs typeface="Trebuchet MS"/>
              </a:rPr>
              <a:t>Live on Tableau Public:  public.tableau.com/app/profile/lisa.a.phillips</a:t>
            </a:r>
          </a:p>
        </p:txBody>
      </p:sp>
      <p:pic>
        <p:nvPicPr>
          <p:cNvPr id="300" name="dashboard 1" descr="Tableau dashboard screenshot: Quality Measures and Star Ratings. KPI tiles for 516 rated contracts, 3.7 of 5 average overall star rating, 44.4% of contracts at 4 or more stars and 22 five-star contracts, an overall star rating distribution bar chart peaking at 3.5 stars with 167 contracts, a 2024 to 2026 average rating trend, average rating by quality domain, and a selected contract measure profil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1783080"/>
            <a:ext cx="7315200" cy="4389120"/>
          </a:xfrm>
          <a:prstGeom prst="rect">
            <a:avLst/>
          </a:prstGeom>
          <a:ln w="9525">
            <a:solidFill>
              <a:srgbClr val="C3D2E0"/>
            </a:solidFill>
          </a:ln>
        </p:spPr>
      </p:pic>
    </p:spTree>
    <p:extLst>
      <p:ext uri="{BB962C8B-B14F-4D97-AF65-F5344CB8AC3E}">
        <p14:creationId xmlns:p14="http://schemas.microsoft.com/office/powerpoint/2010/main" val="1618769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4 · PROVIDERS</a:t>
            </a:r>
            <a:endParaRPr lang="en-US" sz="1000"/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Provider Network</a:t>
            </a:r>
            <a:endParaRPr lang="en-US" sz="3200"/>
          </a:p>
        </p:txBody>
      </p:sp>
      <p:sp>
        <p:nvSpPr>
          <p:cNvPr id="5" name="subtitl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composition by primary provider type.</a:t>
            </a:r>
            <a:endParaRPr lang="en-US" sz="1000"/>
          </a:p>
        </p:txBody>
      </p:sp>
      <p:sp>
        <p:nvSpPr>
          <p:cNvPr id="66" name="footer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1000"/>
          </a:p>
        </p:txBody>
      </p:sp>
      <p:sp>
        <p:nvSpPr>
          <p:cNvPr id="67" name="page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/>
          </a:p>
        </p:txBody>
      </p:sp>
      <p:sp>
        <p:nvSpPr>
          <p:cNvPr id="204" name="tableau link"/>
          <p:cNvSpPr txBox="1"/>
          <p:nvPr/>
        </p:nvSpPr>
        <p:spPr>
          <a:xfrm>
            <a:off x="5245290" y="1298448"/>
            <a:ext cx="6303520" cy="329184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r">
              <a:buNone/>
            </a:pPr>
            <a:r>
              <a:rPr lang="en-US" sz="1100" b="0" kern="0">
                <a:solidFill>
                  <a:srgbClr val="0071BB"/>
                </a:solidFill>
                <a:latin typeface="Trebuchet MS"/>
                <a:cs typeface="Trebuchet MS"/>
              </a:rPr>
              <a:t>Live on Tableau Public:  public.tableau.com/app/profile/lisa.a.phillips</a:t>
            </a:r>
          </a:p>
        </p:txBody>
      </p:sp>
      <p:pic>
        <p:nvPicPr>
          <p:cNvPr id="300" name="dashboard 1" descr="Tableau dashboard screenshot: Medicare Provider Network. KPI tiles for 2,978,925 enrollment records, 2,546,692 individual practitioner enrollments, 432,233 organization and supplier enrollments and 321 primary provider types, a provider entities map by state, a top primary provider types bar chart led by nurse practitioners at 359,719, top reported secondary specialties, and a provider network detail tabl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1783080"/>
            <a:ext cx="7315200" cy="4389120"/>
          </a:xfrm>
          <a:prstGeom prst="rect">
            <a:avLst/>
          </a:prstGeom>
          <a:ln w="9525">
            <a:solidFill>
              <a:srgbClr val="C3D2E0"/>
            </a:solidFill>
          </a:ln>
        </p:spPr>
      </p:pic>
    </p:spTree>
    <p:extLst>
      <p:ext uri="{BB962C8B-B14F-4D97-AF65-F5344CB8AC3E}">
        <p14:creationId xmlns:p14="http://schemas.microsoft.com/office/powerpoint/2010/main" val="122613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&amp; Notes</a:t>
            </a:r>
            <a:endParaRPr lang="en-US" sz="3000" dirty="0"/>
          </a:p>
        </p:txBody>
      </p:sp>
      <p:sp>
        <p:nvSpPr>
          <p:cNvPr id="5" name="source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55064"/>
            <a:ext cx="6400800" cy="44805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8105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 Datasets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121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9748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Monthly Enrollment — May 2026 release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https://data.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cms.gov/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summary-statistics-on-beneficiary-enrollment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8895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97480" y="28712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Geographic Variation — National, State &amp; County, 2014–2024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33284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https://data.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cms.gov/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medicare-geographic-variation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3639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and Part D Star Ratings Data Tables, 2024–2026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4096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cms.gov/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health-plans</a:t>
            </a: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medicareadvtgspecratestats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" y="4425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2697480" y="4407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FFS Public Provider Enrollment (PPEF), 2026 Q3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2697480" y="4864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data.cms.gov/provider-characteristics/medicare-provider-supplier-enrollment</a:t>
            </a:r>
            <a:endParaRPr lang="en-US" sz="1050"/>
          </a:p>
        </p:txBody>
      </p:sp>
      <p:sp>
        <p:nvSpPr>
          <p:cNvPr id="16" name="note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80411" y="1655064"/>
            <a:ext cx="4297680" cy="448056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79792" y="1810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&amp; Limitations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79792" y="228600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public-use national summary data — not beneficiary-level claims.</a:t>
            </a:r>
            <a:endParaRPr lang="en-US" sz="1250">
              <a:solidFill>
                <a:srgbClr val="CBD8E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figures use the PPEF enrollment extract related through ENRLMT_ID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>
              <a:solidFill>
                <a:srgbClr val="CBD8E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are contract-level; nonnumeric statuses excluded from averages.</a:t>
            </a:r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Specialty-level charts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CY 2022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historical baseline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national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Aggregate/Total and source rows excluded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figures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rounded for presentation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portfolio analysis; not commissioned, reviewed, endorsed, or published by CMS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301" name="Text 19"/>
          <p:cNvSpPr/>
          <p:nvPr/>
        </p:nvSpPr>
        <p:spPr>
          <a:xfrm>
            <a:off x="896112" y="5193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B</a:t>
            </a:r>
            <a:endParaRPr lang="en-US" sz="1800"/>
          </a:p>
        </p:txBody>
      </p:sp>
      <p:sp>
        <p:nvSpPr>
          <p:cNvPr id="302" name="Text 20"/>
          <p:cNvSpPr/>
          <p:nvPr/>
        </p:nvSpPr>
        <p:spPr>
          <a:xfrm>
            <a:off x="2697480" y="51755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Part B PBAR — National Summary, CY 2022–2024</a:t>
            </a:r>
            <a:endParaRPr lang="en-US" sz="1300"/>
          </a:p>
        </p:txBody>
      </p:sp>
      <p:sp>
        <p:nvSpPr>
          <p:cNvPr id="303" name="Text 21"/>
          <p:cNvSpPr/>
          <p:nvPr/>
        </p:nvSpPr>
        <p:spPr>
          <a:xfrm>
            <a:off x="2697480" y="56327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data.cms.gov/provider-summary-by-type-of-service</a:t>
            </a:r>
            <a:endParaRPr lang="en-US"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" name="rule"/>
          <p:cNvSpPr txBox="1"/>
          <p:nvPr/>
        </p:nvSpPr>
        <p:spPr>
          <a:xfrm>
            <a:off x="640080" y="2788920"/>
            <a:ext cx="1463040" cy="5486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" name="kicker"/>
          <p:cNvSpPr txBox="1"/>
          <p:nvPr/>
        </p:nvSpPr>
        <p:spPr>
          <a:xfrm>
            <a:off x="640080" y="23317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300">
                <a:solidFill>
                  <a:srgbClr val="7FB6E0"/>
                </a:solidFill>
                <a:latin typeface="Trebuchet MS"/>
                <a:cs typeface="Trebuchet MS"/>
              </a:rPr>
              <a:t>APPENDIX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80" y="3017520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3600" b="1" spc="0">
                <a:solidFill>
                  <a:srgbClr val="FFFFFF"/>
                </a:solidFill>
                <a:latin typeface="Trebuchet MS"/>
                <a:cs typeface="Trebuchet MS"/>
              </a:rPr>
              <a:t>Technical Appendix: Part B Specialty Analysis</a:t>
            </a:r>
          </a:p>
        </p:txBody>
      </p:sp>
      <p:sp>
        <p:nvSpPr>
          <p:cNvPr id="14" name="sub"/>
          <p:cNvSpPr txBox="1"/>
          <p:nvPr/>
        </p:nvSpPr>
        <p:spPr>
          <a:xfrm>
            <a:off x="640080" y="4023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0" spc="0">
                <a:solidFill>
                  <a:srgbClr val="C3D9EE"/>
                </a:solidFill>
                <a:latin typeface="Calibri"/>
                <a:cs typeface="Calibri"/>
              </a:rPr>
              <a:t>Descriptive Part B analysis, analyst-defined specialty segments, and the payment reconciliation checks that support the main findings.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0" spc="0">
                <a:solidFill>
                  <a:srgbClr val="9FBFDC"/>
                </a:solidFill>
                <a:latin typeface="Calibri"/>
                <a:cs typeface="Calibri"/>
              </a:rPr>
              <a:t>Lisa A. Phillips | Independent analysis of publicly available CMS data</a:t>
            </a:r>
          </a:p>
        </p:txBody>
      </p:sp>
      <p:sp>
        <p:nvSpPr>
          <p:cNvPr id="16" name="page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900">
                <a:solidFill>
                  <a:srgbClr val="9FBFDC"/>
                </a:solidFill>
                <a:latin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57880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· NATIONAL TREND</a:t>
            </a:r>
            <a:endParaRPr lang="en-US" sz="125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Part B Spending Is Climbing</a:t>
            </a:r>
            <a:endParaRPr lang="en-US" sz="2800"/>
          </a:p>
        </p:txBody>
      </p:sp>
      <p:sp>
        <p:nvSpPr>
          <p:cNvPr id="5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0866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Medicare Payment Amount by Year ($ Billions)</a:t>
            </a:r>
            <a:endParaRPr lang="en-US" sz="1350"/>
          </a:p>
        </p:txBody>
      </p:sp>
      <p:graphicFrame>
        <p:nvGraphicFramePr>
          <p:cNvPr id="7" name="Payment amount by year" descr="Column chart of Medicare Part B payments: $115.9B in 2022, $125.7B in 2023, $131.7B in 2024"/>
          <p:cNvGraphicFramePr/>
          <p:nvPr>
            <p:extLst>
              <p:ext uri="{D42A27DB-BD31-4B8C-83A1-F6EECF244321}">
                <p14:modId xmlns:p14="http://schemas.microsoft.com/office/powerpoint/2010/main" val="2962516562"/>
              </p:ext>
            </p:extLst>
          </p:nvPr>
        </p:nvGraphicFramePr>
        <p:xfrm>
          <a:off x="868680" y="2148840"/>
          <a:ext cx="6629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82296" cy="141732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20456" y="1700784"/>
            <a:ext cx="3154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+13.6%</a:t>
            </a:r>
            <a:endParaRPr lang="en-US" sz="3000"/>
          </a:p>
        </p:txBody>
      </p:sp>
      <p:sp>
        <p:nvSpPr>
          <p:cNvPr id="11" name="Text 8"/>
          <p:cNvSpPr/>
          <p:nvPr/>
        </p:nvSpPr>
        <p:spPr>
          <a:xfrm>
            <a:off x="8238744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2-YR PAYMENT GROWTH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238744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→ 2024</a:t>
            </a:r>
            <a:endParaRPr lang="en-US" sz="105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3127248"/>
            <a:ext cx="3520440" cy="2999232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57032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happening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257032" y="3703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rose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2023, then a softer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2024.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slowed in 2024; the following analysis separates changes in service volume and payment per service.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20825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· RANKING</a:t>
            </a:r>
            <a:endParaRPr lang="en-US" sz="125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Specialties by Medicare Payment</a:t>
            </a:r>
            <a:endParaRPr lang="en-US" sz="270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 2022 specialty baseline; national totals run through CY 2024.</a:t>
            </a:r>
            <a:endParaRPr lang="en-US" sz="1300"/>
          </a:p>
        </p:txBody>
      </p:sp>
      <p:sp>
        <p:nvSpPr>
          <p:cNvPr id="6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37360"/>
            <a:ext cx="749808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Top 10 specialties by payment" descr="Horizontal bar chart of top 10 specialties by 2022 Medicare payment, led by Internal Medicine at $7.29B and Ophthalmology at $7.25B"/>
          <p:cNvGraphicFramePr/>
          <p:nvPr>
            <p:extLst>
              <p:ext uri="{D42A27DB-BD31-4B8C-83A1-F6EECF244321}">
                <p14:modId xmlns:p14="http://schemas.microsoft.com/office/powerpoint/2010/main" val="491104300"/>
              </p:ext>
            </p:extLst>
          </p:nvPr>
        </p:nvGraphicFramePr>
        <p:xfrm>
          <a:off x="822960" y="1874520"/>
          <a:ext cx="7178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3246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82296" cy="13716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94776" y="18836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$7.29B</a:t>
            </a:r>
            <a:endParaRPr lang="en-US" sz="3000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13064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SPECIALTY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513064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Medicine</a:t>
            </a:r>
            <a:endParaRPr lang="en-US" sz="105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3246120"/>
            <a:ext cx="3246120" cy="292608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13064" y="3401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8513064" y="3767328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specialties alone account for </a:t>
            </a: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~$54.8B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2022 payments.</a:t>
            </a:r>
            <a:endParaRPr lang="en-US" sz="125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care, ophthalmology, labs, and oncology anchor the spend — a mix of high-volume and drug-heavy fields.</a:t>
            </a:r>
            <a:endParaRPr lang="en-US" sz="125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603658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· CHARGES VS. PAYMENTS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Rate Holds Near 77%</a:t>
            </a:r>
            <a:endParaRPr lang="en-US" sz="2800" dirty="0"/>
          </a:p>
        </p:txBody>
      </p:sp>
      <p:sp>
        <p:nvSpPr>
          <p:cNvPr id="5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0866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Charges vs. Medicare Payment ($ Billions)</a:t>
            </a:r>
            <a:endParaRPr lang="en-US" sz="1350" dirty="0"/>
          </a:p>
        </p:txBody>
      </p:sp>
      <p:graphicFrame>
        <p:nvGraphicFramePr>
          <p:cNvPr id="7" name="Charges vs payment by year" descr="Clustered columns comparing allowed charges and Medicare payment 2022-2024"/>
          <p:cNvGraphicFramePr/>
          <p:nvPr>
            <p:extLst>
              <p:ext uri="{D42A27DB-BD31-4B8C-83A1-F6EECF244321}">
                <p14:modId xmlns:p14="http://schemas.microsoft.com/office/powerpoint/2010/main" val="4155192331"/>
              </p:ext>
            </p:extLst>
          </p:nvPr>
        </p:nvGraphicFramePr>
        <p:xfrm>
          <a:off x="868680" y="2194560"/>
          <a:ext cx="6629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623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rate:  2022  77.3%      2023  77.1%      2024  76.8%</a:t>
            </a:r>
            <a:endParaRPr lang="en-US" sz="1200" dirty="0"/>
          </a:p>
        </p:txBody>
      </p:sp>
      <p:sp>
        <p:nvSpPr>
          <p:cNvPr id="9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82296" cy="141732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20456" y="1700784"/>
            <a:ext cx="3154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76.8%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38744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 PAYMENT RATE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38744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allowed charges paid</a:t>
            </a:r>
            <a:endParaRPr lang="en-US" sz="1050" dirty="0"/>
          </a:p>
        </p:txBody>
      </p:sp>
      <p:sp>
        <p:nvSpPr>
          <p:cNvPr id="14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3127248"/>
            <a:ext cx="3520440" cy="2999232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57032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57032" y="3703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cents on every approved dollar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paid, and that ratio barely moves year to year.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eased slightly 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76.8% in 2024 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small enough that no single driver can be identified from these data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· VOLUME VS. UNIT COST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Peaked in 2023; Unit Cost Rebounded</a:t>
            </a:r>
            <a:endParaRPr lang="en-US" sz="2600" dirty="0"/>
          </a:p>
        </p:txBody>
      </p:sp>
      <p:sp>
        <p:nvSpPr>
          <p:cNvPr id="5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0866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144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Services (Billions)</a:t>
            </a:r>
            <a:endParaRPr lang="en-US" sz="1300" dirty="0"/>
          </a:p>
        </p:txBody>
      </p:sp>
      <p:graphicFrame>
        <p:nvGraphicFramePr>
          <p:cNvPr id="7" name="Allowed services by year" descr="Column chart of allowed services: 5.48B 2022, 6.14B 2023, 5.96B 2024"/>
          <p:cNvGraphicFramePr/>
          <p:nvPr>
            <p:extLst>
              <p:ext uri="{D42A27DB-BD31-4B8C-83A1-F6EECF244321}">
                <p14:modId xmlns:p14="http://schemas.microsoft.com/office/powerpoint/2010/main" val="2534484171"/>
              </p:ext>
            </p:extLst>
          </p:nvPr>
        </p:nvGraphicFramePr>
        <p:xfrm>
          <a:off x="868680" y="2148840"/>
          <a:ext cx="32918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3434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per Service ($)</a:t>
            </a:r>
            <a:endParaRPr lang="en-US" sz="1300" dirty="0"/>
          </a:p>
        </p:txBody>
      </p:sp>
      <p:graphicFrame>
        <p:nvGraphicFramePr>
          <p:cNvPr id="9" name="Payment per service by year" descr="Line chart of payment per service: $21.15 2022, $20.47 2023, $22.08 2024"/>
          <p:cNvGraphicFramePr/>
          <p:nvPr>
            <p:extLst>
              <p:ext uri="{D42A27DB-BD31-4B8C-83A1-F6EECF244321}">
                <p14:modId xmlns:p14="http://schemas.microsoft.com/office/powerpoint/2010/main" val="2735089913"/>
              </p:ext>
            </p:extLst>
          </p:nvPr>
        </p:nvGraphicFramePr>
        <p:xfrm>
          <a:off x="4297680" y="2148840"/>
          <a:ext cx="33375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35204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82296" cy="141732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220456" y="1700784"/>
            <a:ext cx="3154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6.14B</a:t>
            </a:r>
            <a:endParaRPr lang="en-US" sz="3000" dirty="0"/>
          </a:p>
        </p:txBody>
      </p:sp>
      <p:sp>
        <p:nvSpPr>
          <p:cNvPr id="13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238744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SERVICES (2023)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38744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eased to 5.96B in 2024</a:t>
            </a:r>
            <a:endParaRPr lang="en-US" sz="1050" dirty="0"/>
          </a:p>
        </p:txBody>
      </p:sp>
      <p:sp>
        <p:nvSpPr>
          <p:cNvPr id="15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3127248"/>
            <a:ext cx="3520440" cy="2999232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257032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split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57032" y="3703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volume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peaked in 2023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eased, while payment per service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dipped then rebounded to $22.08</a:t>
            </a: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2024's spending growth was driven more by higher unit cost than by more services.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24128" y="3337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SPECIALTY SPOTLIGHT · #1 BY PAYMENT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76072" y="731520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Medicine: The Volume Engine</a:t>
            </a:r>
            <a:endParaRPr lang="en-US" sz="27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specialty by Medicare payment — built on immense service volume at a modest unit price (CY 2022).</a:t>
            </a:r>
            <a:endParaRPr lang="en-US" sz="1300" dirty="0"/>
          </a:p>
        </p:txBody>
      </p:sp>
      <p:sp>
        <p:nvSpPr>
          <p:cNvPr id="6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2523744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82296" cy="132588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1975104"/>
            <a:ext cx="215798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$7.29B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7824" y="262432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PAYMENT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2898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of all specialties</a:t>
            </a:r>
            <a:endParaRPr lang="en-US" sz="1050" dirty="0"/>
          </a:p>
        </p:txBody>
      </p:sp>
      <p:sp>
        <p:nvSpPr>
          <p:cNvPr id="11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828800"/>
            <a:ext cx="2523744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828800"/>
            <a:ext cx="82296" cy="132588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975104"/>
            <a:ext cx="215798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175.2M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75888" y="262432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SERVICES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898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physician volume</a:t>
            </a:r>
            <a:endParaRPr lang="en-US" sz="1050" dirty="0"/>
          </a:p>
        </p:txBody>
      </p:sp>
      <p:sp>
        <p:nvSpPr>
          <p:cNvPr id="16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1828800"/>
            <a:ext cx="2523744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1828800"/>
            <a:ext cx="82296" cy="132588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55664" y="1975104"/>
            <a:ext cx="215798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$41.59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73952" y="262432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/ 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3952" y="2898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unit cost</a:t>
            </a:r>
            <a:endParaRPr lang="en-US" sz="1050" dirty="0"/>
          </a:p>
        </p:txBody>
      </p:sp>
      <p:sp>
        <p:nvSpPr>
          <p:cNvPr id="21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34272" y="1828800"/>
            <a:ext cx="2523744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34272" y="1828800"/>
            <a:ext cx="82296" cy="132588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3728" y="1975104"/>
            <a:ext cx="215798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74.1%</a:t>
            </a:r>
            <a:endParaRPr lang="en-US" sz="3000" dirty="0"/>
          </a:p>
        </p:txBody>
      </p:sp>
      <p:sp>
        <p:nvSpPr>
          <p:cNvPr id="24" name="Text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72016" y="262432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72016" y="2898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below the ~77% norm</a:t>
            </a:r>
            <a:endParaRPr lang="en-US" sz="1050" dirty="0"/>
          </a:p>
        </p:txBody>
      </p:sp>
      <p:sp>
        <p:nvSpPr>
          <p:cNvPr id="26" name="narrativ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29000"/>
            <a:ext cx="5989320" cy="283464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29000"/>
            <a:ext cx="82296" cy="283464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366674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tops the ranking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142232"/>
            <a:ext cx="5422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Medicine bills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million services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year at just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$41.59 each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modest prices multiplied by enormous volume produce the largest payment total of any specialty.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$9.83B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allowed charges, Medicare pays 74.1% — slightly below the national norm.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of exceptionally high service volume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payment per service explains Internal Medicine’s top payment rank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0" name="comparison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2280" y="3429000"/>
            <a:ext cx="4736592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86600" y="36484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spend, opposite shape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86600" y="399592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Medicine and Ophthalmology each paid ≈ $7.3B in 2022 — by completely different mechanics.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45628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Medicine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332720" y="45628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Ophthalmology</a:t>
            </a:r>
            <a:endParaRPr lang="en-US" sz="950" dirty="0"/>
          </a:p>
        </p:txBody>
      </p:sp>
      <p:sp>
        <p:nvSpPr>
          <p:cNvPr id="3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5020056"/>
            <a:ext cx="4370832" cy="38404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04888" y="50566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services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50566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175.2M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332720" y="50566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58.5M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104888" y="5440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service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0" y="54406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$41.59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332720" y="54406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$123.92</a:t>
            </a:r>
            <a:endParaRPr lang="en-US" sz="1150" dirty="0"/>
          </a:p>
        </p:txBody>
      </p:sp>
      <p:sp>
        <p:nvSpPr>
          <p:cNvPr id="42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5788152"/>
            <a:ext cx="4370832" cy="384048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04888" y="5824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0" y="5824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332720" y="58247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Intensity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49" name="kicker mark">
            <a:extLst>
              <a:ext uri="{FF2B5EF4-FFF2-40B4-BE49-F238E27FC236}">
                <a16:creationId xmlns:a16="http://schemas.microsoft.com/office/drawing/2014/main" id="{BB9D08D9-CE1D-B6E1-013A-C14C25FB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· COST INTENSITY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160× Spread in Payment per Service</a:t>
            </a:r>
            <a:endParaRPr lang="en-US" sz="27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specialties, 2022 payment per service ($) — commodity dispensing to complex surgery.</a:t>
            </a:r>
            <a:endParaRPr lang="en-US" sz="1300" dirty="0"/>
          </a:p>
        </p:txBody>
      </p:sp>
      <p:sp>
        <p:nvSpPr>
          <p:cNvPr id="6" name="char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37360"/>
            <a:ext cx="749808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Payment per service spectrum" descr="Horizontal bar chart of payment per service ranging from $1.71 for Pharmacy to $276.37 for Thoracic Surgery"/>
          <p:cNvGraphicFramePr/>
          <p:nvPr>
            <p:extLst>
              <p:ext uri="{D42A27DB-BD31-4B8C-83A1-F6EECF244321}">
                <p14:modId xmlns:p14="http://schemas.microsoft.com/office/powerpoint/2010/main" val="2727518789"/>
              </p:ext>
            </p:extLst>
          </p:nvPr>
        </p:nvGraphicFramePr>
        <p:xfrm>
          <a:off x="822960" y="1874520"/>
          <a:ext cx="7178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3246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737360"/>
            <a:ext cx="82296" cy="13716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94776" y="18836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160×</a:t>
            </a:r>
            <a:endParaRPr lang="en-US" sz="3000" dirty="0"/>
          </a:p>
        </p:txBody>
      </p:sp>
      <p:sp>
        <p:nvSpPr>
          <p:cNvPr id="11" name="Tex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13064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INTENSITY SPREAD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13064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$1.71 → $276 / service</a:t>
            </a:r>
            <a:endParaRPr lang="en-US" sz="1050" dirty="0"/>
          </a:p>
        </p:txBody>
      </p:sp>
      <p:sp>
        <p:nvSpPr>
          <p:cNvPr id="13" name="insigh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3246120"/>
            <a:ext cx="3246120" cy="292608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13064" y="3401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13064" y="3767328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and unit cost tell different stories.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fields win on volume; surgical fields win on intensity. Any cost-management lever must be matched to the right group.</a:t>
            </a:r>
            <a:endParaRPr lang="en-US" sz="1250" dirty="0"/>
          </a:p>
        </p:txBody>
      </p:sp>
      <p:sp>
        <p:nvSpPr>
          <p:cNvPr id="16" name="Text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17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18" name="cy2022 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6181344"/>
            <a:ext cx="7498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Specialty-level figures are CY 2022; national trends span CY 2022–2024.</a:t>
            </a:r>
            <a:endParaRPr lang="en-US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 · CLUSTERING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Analytical Specialty Segments</a:t>
            </a:r>
            <a:endParaRPr lang="en-US" sz="27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Analyst-defined clusters: </a:t>
            </a: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</a:t>
            </a: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log-transformed, standardized </a:t>
            </a: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payment, payment-per-service and payment rate</a:t>
            </a: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 = 3 chosen by elbow and interpretability</a:t>
            </a: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e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3529584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eg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3529584" cy="82296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9385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91640" y="1938528"/>
            <a:ext cx="2295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High-Volume Commodity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834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LABS, PHARMACY, IMAGING, SUPPLIES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3703320"/>
            <a:ext cx="3072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unit cost, immense throughput, high payment rate. Managed through pricing and volume controls.</a:t>
            </a:r>
            <a:endParaRPr lang="en-US" sz="1250" dirty="0"/>
          </a:p>
        </p:txBody>
      </p:sp>
      <p:sp>
        <p:nvSpPr>
          <p:cNvPr id="12" name="se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8848" y="1828800"/>
            <a:ext cx="3529584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eg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8848" y="1828800"/>
            <a:ext cx="3529584" cy="82296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36592" y="19385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50408" y="1938528"/>
            <a:ext cx="2295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Balanced High-Spend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36592" y="2834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MEDICINE, FAMILY PRACTICE, NP, OPHTHALMOLOGY</a:t>
            </a:r>
            <a:endParaRPr lang="en-US" sz="1100" dirty="0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6592" y="3703320"/>
            <a:ext cx="3072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unit cost at large scale — the core of aggregate spending and the biggest budget levers.</a:t>
            </a:r>
            <a:endParaRPr lang="en-US" sz="1250" dirty="0"/>
          </a:p>
        </p:txBody>
      </p:sp>
      <p:sp>
        <p:nvSpPr>
          <p:cNvPr id="18" name="se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7616" y="1828800"/>
            <a:ext cx="3529584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eg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7616" y="1828800"/>
            <a:ext cx="3529584" cy="82296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95360" y="19385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09176" y="1938528"/>
            <a:ext cx="2295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Specialized High-Intensity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2834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5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CARDIAC, THORACIC &amp; NEUROSURGERY, ONCOLOGY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3703320"/>
            <a:ext cx="30723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very high payment per service. Managed through appropriateness and clinical review.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 text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 · THE EVIDENCE</a:t>
            </a:r>
            <a:endParaRPr lang="en-US" sz="1250"/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Clusters, Made Visible</a:t>
            </a:r>
            <a:endParaRPr lang="en-US" sz="2700"/>
          </a:p>
        </p:txBody>
      </p:sp>
      <p:sp>
        <p:nvSpPr>
          <p:cNvPr id="5" name="dek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services vs. payment per service, 12 representative specialties by analyst-defined cluster.</a:t>
            </a:r>
            <a:endParaRPr lang="en-US" sz="1300"/>
          </a:p>
        </p:txBody>
      </p:sp>
      <p:graphicFrame>
        <p:nvGraphicFramePr>
          <p:cNvPr id="6" name="Cluster scatter" descr="Scatterplot of annual allowed services on a log scale versus payment per service, with specialties colored by their k-means cluster. High-volume commodity fields sit at low cost and high volume, specialized high-intensity surgery sits at low volume and high cost, and balanced high-spend specialties sit in between."/>
          <p:cNvGraphicFramePr/>
          <p:nvPr>
            <p:extLst>
              <p:ext uri="{D42A27DB-BD31-4B8C-83A1-F6EECF244321}">
                <p14:modId xmlns:p14="http://schemas.microsoft.com/office/powerpoint/2010/main" val="4258880773"/>
              </p:ext>
            </p:extLst>
          </p:nvPr>
        </p:nvGraphicFramePr>
        <p:xfrm>
          <a:off x="470000" y="1740000"/>
          <a:ext cx="7760000" cy="45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id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20000" y="1740000"/>
            <a:ext cx="3467120" cy="45600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card heading"/>
          <p:cNvSpPr/>
          <p:nvPr/>
        </p:nvSpPr>
        <p:spPr>
          <a:xfrm>
            <a:off x="8657744" y="1938528"/>
            <a:ext cx="299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kern="0" spc="1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CHART</a:t>
            </a:r>
            <a:endParaRPr lang="en-US" sz="1100"/>
          </a:p>
          <a:p>
            <a:pPr marL="0" indent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11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specialty, positioned by annual volume and unit cost.</a:t>
            </a:r>
            <a:endParaRPr lang="en-US" sz="1150"/>
          </a:p>
        </p:txBody>
      </p:sp>
      <p:sp>
        <p:nvSpPr>
          <p:cNvPr id="9" name="swatch1"/>
          <p:cNvSpPr/>
          <p:nvPr/>
        </p:nvSpPr>
        <p:spPr>
          <a:xfrm>
            <a:off x="8657744" y="2743200"/>
            <a:ext cx="192024" cy="192024"/>
          </a:xfrm>
          <a:prstGeom prst="ellipse">
            <a:avLst/>
          </a:prstGeom>
          <a:solidFill>
            <a:srgbClr val="0FA3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key1"/>
          <p:cNvSpPr/>
          <p:nvPr/>
        </p:nvSpPr>
        <p:spPr>
          <a:xfrm>
            <a:off x="8961752" y="2688336"/>
            <a:ext cx="2688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High-Volume Commodity</a:t>
            </a:r>
            <a:br>
              <a:rPr lang="en-US" sz="1000"/>
            </a:br>
            <a:r>
              <a:rPr lang="en-US" sz="10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unit cost, immense volume</a:t>
            </a:r>
            <a:endParaRPr lang="en-US" sz="1000"/>
          </a:p>
        </p:txBody>
      </p:sp>
      <p:sp>
        <p:nvSpPr>
          <p:cNvPr id="11" name="swatch2"/>
          <p:cNvSpPr/>
          <p:nvPr/>
        </p:nvSpPr>
        <p:spPr>
          <a:xfrm>
            <a:off x="8657744" y="3459480"/>
            <a:ext cx="192024" cy="192024"/>
          </a:xfrm>
          <a:prstGeom prst="ellipse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key2"/>
          <p:cNvSpPr/>
          <p:nvPr/>
        </p:nvSpPr>
        <p:spPr>
          <a:xfrm>
            <a:off x="8961752" y="3404616"/>
            <a:ext cx="2688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Balanced High-Spend</a:t>
            </a:r>
            <a:br>
              <a:rPr lang="en-US" sz="1000"/>
            </a:br>
            <a:r>
              <a:rPr lang="en-US" sz="10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cost at large scale</a:t>
            </a:r>
            <a:endParaRPr lang="en-US" sz="1000"/>
          </a:p>
        </p:txBody>
      </p:sp>
      <p:sp>
        <p:nvSpPr>
          <p:cNvPr id="13" name="swatch3"/>
          <p:cNvSpPr/>
          <p:nvPr/>
        </p:nvSpPr>
        <p:spPr>
          <a:xfrm>
            <a:off x="8657744" y="4175760"/>
            <a:ext cx="192024" cy="192024"/>
          </a:xfrm>
          <a:prstGeom prst="ellipse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key3"/>
          <p:cNvSpPr/>
          <p:nvPr/>
        </p:nvSpPr>
        <p:spPr>
          <a:xfrm>
            <a:off x="8961752" y="4120896"/>
            <a:ext cx="2688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Specialized High-Intensity</a:t>
            </a:r>
            <a:br>
              <a:rPr lang="en-US" sz="1000"/>
            </a:br>
            <a:r>
              <a:rPr lang="en-US" sz="100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low volume</a:t>
            </a:r>
            <a:endParaRPr lang="en-US" sz="1000"/>
          </a:p>
        </p:txBody>
      </p:sp>
      <p:sp>
        <p:nvSpPr>
          <p:cNvPr id="15" name="insight bar"/>
          <p:cNvSpPr/>
          <p:nvPr/>
        </p:nvSpPr>
        <p:spPr>
          <a:xfrm>
            <a:off x="8657744" y="4937760"/>
            <a:ext cx="2991632" cy="1188720"/>
          </a:xfrm>
          <a:prstGeom prst="rect">
            <a:avLst/>
          </a:prstGeom>
          <a:solidFill>
            <a:srgbClr val="003F72"/>
          </a:solidFill>
          <a:ln/>
        </p:spPr>
        <p:txBody>
          <a:bodyPr wrap="square" lIns="137160" tIns="118872" rIns="137160" bIns="118872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Clusters separate cleanly. </a:t>
            </a: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unit cost trade off along a clear diagonal. Unlabelled lower-left points: Pharmacy, Medical Supply, Clinical Lab, Diagnostic Radiology.</a:t>
            </a:r>
            <a:endParaRPr lang="en-US" sz="1150"/>
          </a:p>
        </p:txBody>
      </p:sp>
      <p:sp>
        <p:nvSpPr>
          <p:cNvPr id="16" name="footer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page number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SPEC</a:t>
            </a:r>
            <a:endParaRPr lang="en-US" sz="1000"/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62179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Build Blueprint: Part B Specialty Analysis</a:t>
            </a:r>
            <a:endParaRPr lang="en-US" sz="3200"/>
          </a:p>
        </p:txBody>
      </p:sp>
      <p:sp>
        <p:nvSpPr>
          <p:cNvPr id="5" name="subtitl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37160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recipe to reproduce this dashboard — data source, worksheets, and the assembled canvas.</a:t>
            </a:r>
            <a:endParaRPr lang="en-US" sz="100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00000"/>
            <a:ext cx="3400000" cy="2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card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00000"/>
            <a:ext cx="3400000" cy="580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card title"/>
          <p:cNvSpPr/>
          <p:nvPr/>
        </p:nvSpPr>
        <p:spPr>
          <a:xfrm>
            <a:off x="840080" y="1850000"/>
            <a:ext cx="304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DATA SOURCE &amp; FIELDS</a:t>
            </a:r>
            <a:endParaRPr lang="en-US" sz="1000"/>
          </a:p>
        </p:txBody>
      </p:sp>
      <p:sp>
        <p:nvSpPr>
          <p:cNvPr id="9" name="card body"/>
          <p:cNvSpPr/>
          <p:nvPr/>
        </p:nvSpPr>
        <p:spPr>
          <a:xfrm>
            <a:off x="840080" y="2220000"/>
            <a:ext cx="304000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50" b="1" kern="0">
                <a:solidFill>
                  <a:srgbClr val="007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CMS PBAR national summary files (CY 2022–2024).</a:t>
            </a:r>
            <a:endParaRPr lang="en-US" sz="1000"/>
          </a:p>
          <a:p>
            <a:pPr marL="0" indent="0" algn="l">
              <a:spcAft>
                <a:spcPts val="400"/>
              </a:spcAft>
              <a:buNone/>
            </a:pPr>
            <a:r>
              <a:rPr lang="en-US" sz="850" b="1" kern="0">
                <a:solidFill>
                  <a:srgbClr val="007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the three yearly files into one specialty-year table.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Specialty, Year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Allowed Services, Allowed Charges, Payment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 — Pay/Svc: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SUM([Payment]) / SUM([Services])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 — Rate: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SUM([Payment]) / SUM([Allowed Charges])</a:t>
            </a:r>
            <a:endParaRPr lang="en-US" sz="1000"/>
          </a:p>
          <a:p>
            <a:pPr marL="0" indent="0" algn="l">
              <a:spcAft>
                <a:spcPts val="400"/>
              </a:spcAft>
              <a:buNone/>
            </a:pPr>
            <a:r>
              <a:rPr lang="en-US" sz="850" b="1" kern="0">
                <a:solidFill>
                  <a:srgbClr val="007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aggregate / “All” / source rows.</a:t>
            </a:r>
            <a:endParaRPr lang="en-US" sz="100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080" y="1700000"/>
            <a:ext cx="3535920" cy="1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080" y="1700000"/>
            <a:ext cx="3535920" cy="580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ard title"/>
          <p:cNvSpPr/>
          <p:nvPr/>
        </p:nvSpPr>
        <p:spPr>
          <a:xfrm>
            <a:off x="4480080" y="1850000"/>
            <a:ext cx="317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SHEET: KPI TILES</a:t>
            </a:r>
            <a:endParaRPr lang="en-US" sz="1000"/>
          </a:p>
        </p:txBody>
      </p:sp>
      <p:sp>
        <p:nvSpPr>
          <p:cNvPr id="13" name="card body"/>
          <p:cNvSpPr/>
          <p:nvPr/>
        </p:nvSpPr>
        <p:spPr>
          <a:xfrm>
            <a:off x="4480080" y="2220000"/>
            <a:ext cx="3175920" cy="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 (BAN)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Payment, Services, Pay/Svc, Rate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BAN per KPI, 4 across</a:t>
            </a:r>
            <a:endParaRPr lang="en-US" sz="100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6000" y="1700000"/>
            <a:ext cx="3535920" cy="1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card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6000" y="1700000"/>
            <a:ext cx="3535920" cy="580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ard title"/>
          <p:cNvSpPr/>
          <p:nvPr/>
        </p:nvSpPr>
        <p:spPr>
          <a:xfrm>
            <a:off x="8216000" y="1850000"/>
            <a:ext cx="317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SHEET: PAYMENTS BY YEAR</a:t>
            </a:r>
            <a:endParaRPr lang="en-US" sz="1000"/>
          </a:p>
        </p:txBody>
      </p:sp>
      <p:sp>
        <p:nvSpPr>
          <p:cNvPr id="17" name="card body"/>
          <p:cNvSpPr/>
          <p:nvPr/>
        </p:nvSpPr>
        <p:spPr>
          <a:xfrm>
            <a:off x="8216000" y="2220000"/>
            <a:ext cx="3175920" cy="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Bar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YEAR(Year)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SUM([Payment])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SUM([Payment]); blue fill</a:t>
            </a:r>
            <a:endParaRPr lang="en-US" sz="100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080" y="3250000"/>
            <a:ext cx="3535920" cy="1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card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080" y="3250000"/>
            <a:ext cx="3535920" cy="580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card title"/>
          <p:cNvSpPr/>
          <p:nvPr/>
        </p:nvSpPr>
        <p:spPr>
          <a:xfrm>
            <a:off x="4480080" y="3400000"/>
            <a:ext cx="317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SHEET: TOP SPECIALTIES</a:t>
            </a:r>
            <a:endParaRPr lang="en-US" sz="1000"/>
          </a:p>
        </p:txBody>
      </p:sp>
      <p:sp>
        <p:nvSpPr>
          <p:cNvPr id="21" name="card body"/>
          <p:cNvSpPr/>
          <p:nvPr/>
        </p:nvSpPr>
        <p:spPr>
          <a:xfrm>
            <a:off x="4480080" y="3770000"/>
            <a:ext cx="3175920" cy="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Bar (horizontal)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Specialty (sort desc)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SUM([Payment])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Top 10 by Payment</a:t>
            </a:r>
            <a:endParaRPr lang="en-US" sz="100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6000" y="3250000"/>
            <a:ext cx="3535920" cy="1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card t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6000" y="3250000"/>
            <a:ext cx="3535920" cy="580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card title"/>
          <p:cNvSpPr/>
          <p:nvPr/>
        </p:nvSpPr>
        <p:spPr>
          <a:xfrm>
            <a:off x="8216000" y="3400000"/>
            <a:ext cx="317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SHEET: COST INTENSITY</a:t>
            </a:r>
            <a:endParaRPr lang="en-US" sz="1000"/>
          </a:p>
        </p:txBody>
      </p:sp>
      <p:sp>
        <p:nvSpPr>
          <p:cNvPr id="25" name="card body"/>
          <p:cNvSpPr/>
          <p:nvPr/>
        </p:nvSpPr>
        <p:spPr>
          <a:xfrm>
            <a:off x="8216000" y="3770000"/>
            <a:ext cx="3175920" cy="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Circle (scatter)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SUM([Services])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Payment / Service</a:t>
            </a:r>
            <a:endParaRPr lang="en-US" sz="100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50" b="1" kern="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 / Size:</a:t>
            </a:r>
            <a:r>
              <a:rPr lang="en-US" sz="850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Specialty / Payment</a:t>
            </a:r>
            <a:endParaRPr lang="en-US" sz="1000"/>
          </a:p>
        </p:txBody>
      </p:sp>
      <p:sp>
        <p:nvSpPr>
          <p:cNvPr id="26" name="assembl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780000"/>
            <a:ext cx="10911840" cy="150000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assembl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780000"/>
            <a:ext cx="58000" cy="1500000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asm title"/>
          <p:cNvSpPr/>
          <p:nvPr/>
        </p:nvSpPr>
        <p:spPr>
          <a:xfrm>
            <a:off x="860080" y="4900000"/>
            <a:ext cx="104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DASHBOARD ASSEMBLY</a:t>
            </a:r>
            <a:endParaRPr lang="en-US" sz="1000"/>
          </a:p>
        </p:txBody>
      </p:sp>
      <p:sp>
        <p:nvSpPr>
          <p:cNvPr id="29" name="asm h"/>
          <p:cNvSpPr/>
          <p:nvPr/>
        </p:nvSpPr>
        <p:spPr>
          <a:xfrm>
            <a:off x="860080" y="5250000"/>
            <a:ext cx="329061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</a:t>
            </a:r>
            <a:endParaRPr lang="en-US" sz="1000"/>
          </a:p>
        </p:txBody>
      </p:sp>
      <p:sp>
        <p:nvSpPr>
          <p:cNvPr id="30" name="asm t"/>
          <p:cNvSpPr/>
          <p:nvPr/>
        </p:nvSpPr>
        <p:spPr>
          <a:xfrm>
            <a:off x="860080" y="5520000"/>
            <a:ext cx="3290613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30" ker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container: KPI row on top, trend + top-specialties in the middle band, cost-intensity scatter below.</a:t>
            </a:r>
            <a:endParaRPr lang="en-US" sz="1000"/>
          </a:p>
        </p:txBody>
      </p:sp>
      <p:sp>
        <p:nvSpPr>
          <p:cNvPr id="31" name="asm h"/>
          <p:cNvSpPr/>
          <p:nvPr/>
        </p:nvSpPr>
        <p:spPr>
          <a:xfrm>
            <a:off x="4450693" y="5250000"/>
            <a:ext cx="329061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FILTERS &amp; PARAMETERS</a:t>
            </a:r>
            <a:endParaRPr lang="en-US" sz="1000"/>
          </a:p>
        </p:txBody>
      </p:sp>
      <p:sp>
        <p:nvSpPr>
          <p:cNvPr id="32" name="asm t"/>
          <p:cNvSpPr/>
          <p:nvPr/>
        </p:nvSpPr>
        <p:spPr>
          <a:xfrm>
            <a:off x="4450693" y="5520000"/>
            <a:ext cx="3290613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30" ker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Specialty as dropdowns, applied to all worksheets on the dashboard.</a:t>
            </a:r>
            <a:endParaRPr lang="en-US" sz="1000"/>
          </a:p>
        </p:txBody>
      </p:sp>
      <p:sp>
        <p:nvSpPr>
          <p:cNvPr id="33" name="asm h"/>
          <p:cNvSpPr/>
          <p:nvPr/>
        </p:nvSpPr>
        <p:spPr>
          <a:xfrm>
            <a:off x="8041306" y="5250000"/>
            <a:ext cx="329061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</a:t>
            </a:r>
            <a:endParaRPr lang="en-US" sz="1000"/>
          </a:p>
        </p:txBody>
      </p:sp>
      <p:sp>
        <p:nvSpPr>
          <p:cNvPr id="34" name="asm t"/>
          <p:cNvSpPr/>
          <p:nvPr/>
        </p:nvSpPr>
        <p:spPr>
          <a:xfrm>
            <a:off x="8041306" y="5520000"/>
            <a:ext cx="3290613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30" ker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specialty bar to filter the trend and scatter (dashboard filter action) for instant drill-down.</a:t>
            </a:r>
            <a:endParaRPr lang="en-US" sz="1000"/>
          </a:p>
        </p:txBody>
      </p:sp>
      <p:sp>
        <p:nvSpPr>
          <p:cNvPr id="35" name="footer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1000"/>
          </a:p>
        </p:txBody>
      </p:sp>
      <p:sp>
        <p:nvSpPr>
          <p:cNvPr id="36" name="page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RECONCILIATION &amp; VALIDATION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Reconciles to Volume × Price</a:t>
            </a:r>
            <a:endParaRPr lang="en-US" sz="2800" dirty="0"/>
          </a:p>
        </p:txBody>
      </p:sp>
      <p:sp>
        <p:nvSpPr>
          <p:cNvPr id="5" name="model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086600" cy="187452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6FBC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FITTED 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FB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r>
              <a:rPr lang="en-US" sz="14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</a:t>
            </a:r>
            <a:r>
              <a:rPr lang="en-US" sz="14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× Allowed Charge / Service × </a:t>
            </a: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volume × price × payment rate by construction, so the near-perfect fit confirms the accounting reconciles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actually tells us</a:t>
            </a:r>
            <a:endParaRPr lang="en-US" sz="1500" dirty="0"/>
          </a:p>
        </p:txBody>
      </p:sp>
      <p:sp>
        <p:nvSpPr>
          <p:cNvPr id="10" name="featur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160520"/>
            <a:ext cx="3429000" cy="713232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featur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160520"/>
            <a:ext cx="73152" cy="71323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41605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payment identity</a:t>
            </a:r>
            <a:endParaRPr lang="en-US" sz="1250" dirty="0"/>
          </a:p>
        </p:txBody>
      </p:sp>
      <p:sp>
        <p:nvSpPr>
          <p:cNvPr id="13" name="featur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4160520"/>
            <a:ext cx="3429000" cy="713232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eatur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4160520"/>
            <a:ext cx="73152" cy="71323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41605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elasticities ≈ 1.0, as expected</a:t>
            </a:r>
            <a:endParaRPr lang="en-US" sz="1250" dirty="0"/>
          </a:p>
        </p:txBody>
      </p:sp>
      <p:sp>
        <p:nvSpPr>
          <p:cNvPr id="16" name="featur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029200"/>
            <a:ext cx="3429000" cy="713232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eatur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029200"/>
            <a:ext cx="73152" cy="71323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" y="50292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rate near-constant (~78%)</a:t>
            </a:r>
            <a:endParaRPr lang="en-US" sz="1250" dirty="0"/>
          </a:p>
        </p:txBody>
      </p:sp>
      <p:sp>
        <p:nvSpPr>
          <p:cNvPr id="19" name="featur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5029200"/>
            <a:ext cx="3429000" cy="713232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featur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5029200"/>
            <a:ext cx="73152" cy="71323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50292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 all 125 CY 2022 specialties</a:t>
            </a:r>
            <a:endParaRPr lang="en-US" sz="1250" dirty="0"/>
          </a:p>
        </p:txBody>
      </p:sp>
      <p:sp>
        <p:nvSpPr>
          <p:cNvPr id="22" name="eval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3520440" cy="4572000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eval 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1554480"/>
            <a:ext cx="3520440" cy="640080"/>
          </a:xfrm>
          <a:prstGeom prst="rect">
            <a:avLst/>
          </a:prstGeom>
          <a:solidFill>
            <a:srgbClr val="00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57032" y="1554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FIT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57032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 =  0.9995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57032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</a:t>
            </a:r>
            <a:r>
              <a:rPr lang="en-US" sz="12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r>
              <a:rPr lang="en-US" sz="12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variance explained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57032" y="3593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R²  =  1.00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57032" y="40507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holdout validation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57032" y="47640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 =  1.9%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257032" y="52212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payment miss, all 125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57032" y="5715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identity check, not a predictive finding — OLS </a:t>
            </a:r>
            <a:r>
              <a:rPr lang="en-US" sz="10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1000" i="1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125 CY 2022 specialties.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bustness Yo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 text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RECONCILIATION &amp; VALIDATION</a:t>
            </a:r>
            <a:endParaRPr lang="en-US" sz="1250"/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Fit Holds, Year After Year</a:t>
            </a:r>
            <a:endParaRPr lang="en-US" sz="2700"/>
          </a:p>
        </p:txBody>
      </p:sp>
      <p:sp>
        <p:nvSpPr>
          <p:cNvPr id="5" name="dek"/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payment, all 125 CY 2022 specialties — 2023 and 2024 refit reproduce it.</a:t>
            </a:r>
            <a:endParaRPr lang="en-US" sz="1300"/>
          </a:p>
        </p:txBody>
      </p:sp>
      <p:graphicFrame>
        <p:nvGraphicFramePr>
          <p:cNvPr id="6" name="Fit scatter" descr="Scatterplot of model-predicted versus actual Medicare payment for all 125 specialties in CY 2022, both axes in millions of dollars on a log scale. Points fall almost exactly on the diagonal perfect-fit line, showing the log-log regression reproduces actual payment across four orders of magnitude. The model refit independently on 2023 (128 specialties) and 2024 (134) reproduces the same near-perfect fit."/>
          <p:cNvGraphicFramePr/>
          <p:nvPr>
            <p:extLst>
              <p:ext uri="{D42A27DB-BD31-4B8C-83A1-F6EECF244321}">
                <p14:modId xmlns:p14="http://schemas.microsoft.com/office/powerpoint/2010/main" val="842217559"/>
              </p:ext>
            </p:extLst>
          </p:nvPr>
        </p:nvGraphicFramePr>
        <p:xfrm>
          <a:off x="470000" y="1740000"/>
          <a:ext cx="7760000" cy="45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id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20000" y="1740000"/>
            <a:ext cx="3467120" cy="45600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card heading"/>
          <p:cNvSpPr/>
          <p:nvPr/>
        </p:nvSpPr>
        <p:spPr>
          <a:xfrm>
            <a:off x="8657744" y="1938528"/>
            <a:ext cx="299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kern="0" spc="1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IT HOLD? YES</a:t>
            </a:r>
            <a:endParaRPr lang="en-US" sz="1100"/>
          </a:p>
          <a:p>
            <a:pPr marL="0" indent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115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each year, the model barely moves.</a:t>
            </a:r>
            <a:endParaRPr lang="en-US" sz="1150"/>
          </a:p>
        </p:txBody>
      </p:sp>
      <p:graphicFrame>
        <p:nvGraphicFramePr>
          <p:cNvPr id="9" name="YoY consisten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146415"/>
              </p:ext>
            </p:extLst>
          </p:nvPr>
        </p:nvGraphicFramePr>
        <p:xfrm>
          <a:off x="8657744" y="2820000"/>
          <a:ext cx="2991632" cy="1704000"/>
        </p:xfrm>
        <a:graphic>
          <a:graphicData uri="http://schemas.openxmlformats.org/drawingml/2006/table">
            <a:tbl>
              <a:tblPr firstRow="1"/>
              <a:tblGrid>
                <a:gridCol w="6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000">
                <a:tc>
                  <a:txBody>
                    <a:bodyPr/>
                    <a:lstStyle/>
                    <a:p>
                      <a:pPr algn="l"/>
                      <a:r>
                        <a:rPr lang="en-US" sz="800" b="1" spc="40">
                          <a:solidFill>
                            <a:srgbClr val="FFFFFF"/>
                          </a:solidFill>
                          <a:latin typeface="Trebuchet MS" pitchFamily="34" charset="0"/>
                        </a:rPr>
                        <a:t>YEAR</a:t>
                      </a:r>
                    </a:p>
                  </a:txBody>
                  <a:tcPr marL="54864" marR="18288" marT="9144" marB="9144"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spc="40">
                          <a:solidFill>
                            <a:srgbClr val="FFFFFF"/>
                          </a:solidFill>
                          <a:latin typeface="Trebuchet MS" pitchFamily="34" charset="0"/>
                        </a:rPr>
                        <a:t>MODEL R²</a:t>
                      </a:r>
                    </a:p>
                  </a:txBody>
                  <a:tcPr marL="18288" marR="18288" marT="9144" marB="9144"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spc="40">
                          <a:solidFill>
                            <a:srgbClr val="FFFFFF"/>
                          </a:solidFill>
                          <a:latin typeface="Trebuchet MS" pitchFamily="34" charset="0"/>
                        </a:rPr>
                        <a:t>VOL. ELAST.</a:t>
                      </a:r>
                    </a:p>
                  </a:txBody>
                  <a:tcPr marL="18288" marR="18288" marT="9144" marB="9144"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spc="40">
                          <a:solidFill>
                            <a:srgbClr val="FFFFFF"/>
                          </a:solidFill>
                          <a:latin typeface="Trebuchet MS" pitchFamily="34" charset="0"/>
                        </a:rPr>
                        <a:t>PAY RATE</a:t>
                      </a:r>
                    </a:p>
                  </a:txBody>
                  <a:tcPr marL="18288" marR="18288" marT="9144" marB="9144" anchor="ctr">
                    <a:solidFill>
                      <a:srgbClr val="00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3F72"/>
                          </a:solidFill>
                          <a:latin typeface="Trebuchet MS" pitchFamily="34" charset="0"/>
                        </a:rPr>
                        <a:t>2022</a:t>
                      </a:r>
                    </a:p>
                  </a:txBody>
                  <a:tcPr marL="54864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71BB"/>
                          </a:solidFill>
                          <a:latin typeface="Consolas" pitchFamily="34" charset="0"/>
                        </a:rPr>
                        <a:t>0.9995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3F72"/>
                          </a:solidFill>
                          <a:latin typeface="Consolas" pitchFamily="34" charset="0"/>
                        </a:rPr>
                        <a:t>1.00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3F72"/>
                          </a:solidFill>
                          <a:latin typeface="Consolas" pitchFamily="34" charset="0"/>
                        </a:rPr>
                        <a:t>77.3%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3F72"/>
                          </a:solidFill>
                          <a:latin typeface="Trebuchet MS" pitchFamily="34" charset="0"/>
                        </a:rPr>
                        <a:t>2023</a:t>
                      </a:r>
                    </a:p>
                  </a:txBody>
                  <a:tcPr marL="54864" marR="1828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71BB"/>
                          </a:solidFill>
                          <a:latin typeface="Consolas" pitchFamily="34" charset="0"/>
                        </a:rPr>
                        <a:t>0.9996</a:t>
                      </a:r>
                    </a:p>
                  </a:txBody>
                  <a:tcPr marL="18288" marR="1828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3F72"/>
                          </a:solidFill>
                          <a:latin typeface="Consolas" pitchFamily="34" charset="0"/>
                        </a:rPr>
                        <a:t>1.00</a:t>
                      </a:r>
                    </a:p>
                  </a:txBody>
                  <a:tcPr marL="18288" marR="1828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3F72"/>
                          </a:solidFill>
                          <a:latin typeface="Consolas" pitchFamily="34" charset="0"/>
                        </a:rPr>
                        <a:t>77.1%</a:t>
                      </a:r>
                    </a:p>
                  </a:txBody>
                  <a:tcPr marL="18288" marR="1828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3F72"/>
                          </a:solidFill>
                          <a:latin typeface="Trebuchet MS" pitchFamily="34" charset="0"/>
                        </a:rPr>
                        <a:t>2024</a:t>
                      </a:r>
                    </a:p>
                  </a:txBody>
                  <a:tcPr marL="54864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71BB"/>
                          </a:solidFill>
                          <a:latin typeface="Consolas" pitchFamily="34" charset="0"/>
                        </a:rPr>
                        <a:t>0.9997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3F72"/>
                          </a:solidFill>
                          <a:latin typeface="Consolas" pitchFamily="34" charset="0"/>
                        </a:rPr>
                        <a:t>1.00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3F72"/>
                          </a:solidFill>
                          <a:latin typeface="Consolas" pitchFamily="34" charset="0"/>
                        </a:rPr>
                        <a:t>76.8%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insight bar"/>
          <p:cNvSpPr/>
          <p:nvPr/>
        </p:nvSpPr>
        <p:spPr>
          <a:xfrm>
            <a:off x="8657744" y="4937760"/>
            <a:ext cx="2991632" cy="1188720"/>
          </a:xfrm>
          <a:prstGeom prst="rect">
            <a:avLst/>
          </a:prstGeom>
          <a:solidFill>
            <a:srgbClr val="003F72"/>
          </a:solidFill>
          <a:ln/>
        </p:spPr>
        <p:txBody>
          <a:bodyPr wrap="square" lIns="137160" tIns="118872" rIns="137160" bIns="118872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fit is structural. </a:t>
            </a: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≈ volume × price × a near-constant rate — so the relationship reproduces every year, not just 2022.</a:t>
            </a:r>
            <a:endParaRPr lang="en-US" sz="1150"/>
          </a:p>
        </p:txBody>
      </p:sp>
      <p:sp>
        <p:nvSpPr>
          <p:cNvPr id="16" name="footer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CMS data</a:t>
            </a:r>
            <a:endParaRPr lang="en-US" sz="900"/>
          </a:p>
        </p:txBody>
      </p:sp>
      <p:sp>
        <p:nvSpPr>
          <p:cNvPr id="17" name="page number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FRAMEWORK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Core Measures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specialty-year record is measured on the same six dimensions of volume, cost, and payment.</a:t>
            </a:r>
            <a:endParaRPr lang="en-US" sz="1400" dirty="0"/>
          </a:p>
        </p:txBody>
      </p:sp>
      <p:sp>
        <p:nvSpPr>
          <p:cNvPr id="6" name="def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3529584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def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28800"/>
            <a:ext cx="3529584" cy="731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2048256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Services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256032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covered services delivered — the core utilization volume measure.</a:t>
            </a:r>
            <a:endParaRPr lang="en-US" sz="1250" dirty="0"/>
          </a:p>
        </p:txBody>
      </p:sp>
      <p:sp>
        <p:nvSpPr>
          <p:cNvPr id="10" name="def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8848" y="1828800"/>
            <a:ext cx="3529584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def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8848" y="1828800"/>
            <a:ext cx="3529584" cy="731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2048256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Charges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36592" y="256032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Medicare-approved billed amount across all allowed services.</a:t>
            </a:r>
            <a:endParaRPr lang="en-US" sz="1250" dirty="0"/>
          </a:p>
        </p:txBody>
      </p:sp>
      <p:sp>
        <p:nvSpPr>
          <p:cNvPr id="14" name="def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7616" y="1828800"/>
            <a:ext cx="3529584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def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7616" y="1828800"/>
            <a:ext cx="3529584" cy="731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95360" y="2048256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Amount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95360" y="256032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 actually paid by Medicare — the spending headline.</a:t>
            </a:r>
            <a:endParaRPr lang="en-US" sz="1250" dirty="0"/>
          </a:p>
        </p:txBody>
      </p:sp>
      <p:sp>
        <p:nvSpPr>
          <p:cNvPr id="18" name="def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858768"/>
            <a:ext cx="3529584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def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858768"/>
            <a:ext cx="3529584" cy="731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7824" y="4078224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/ Service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77824" y="459028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charges ÷ services — average approved price per service.</a:t>
            </a:r>
            <a:endParaRPr lang="en-US" sz="1250" dirty="0"/>
          </a:p>
        </p:txBody>
      </p:sp>
      <p:sp>
        <p:nvSpPr>
          <p:cNvPr id="22" name="def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8848" y="3858768"/>
            <a:ext cx="3529584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def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98848" y="3858768"/>
            <a:ext cx="3529584" cy="731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36592" y="4078224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/ Service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736592" y="459028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÷ services — average dollars paid per service (cost intensity).</a:t>
            </a:r>
            <a:endParaRPr lang="en-US" sz="1250" dirty="0"/>
          </a:p>
        </p:txBody>
      </p:sp>
      <p:sp>
        <p:nvSpPr>
          <p:cNvPr id="26" name="def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7616" y="3858768"/>
            <a:ext cx="3529584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3F72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def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7616" y="3858768"/>
            <a:ext cx="3529584" cy="73152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595360" y="4078224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03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Rate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595360" y="459028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÷ allowed charges — share of approved charges that is paid.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5A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31" name="Text 2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3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6908"/>
            <a:ext cx="201168" cy="12801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76656"/>
            <a:ext cx="10972800" cy="58521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 Approach</a:t>
            </a:r>
            <a:endParaRPr lang="en-US" sz="30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4008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6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5394960" cy="896112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3040" y="2075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 years</a:t>
            </a:r>
            <a:endParaRPr lang="en-US" sz="1400" dirty="0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3040" y="2423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CY 2022–2024 into one specialty-year table.</a:t>
            </a:r>
            <a:endParaRPr lang="en-US" sz="1150" dirty="0"/>
          </a:p>
        </p:txBody>
      </p:sp>
      <p:sp>
        <p:nvSpPr>
          <p:cNvPr id="10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0088"/>
            <a:ext cx="5394960" cy="896112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17296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30998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 names</a:t>
            </a:r>
            <a:endParaRPr lang="en-US" sz="1400" dirty="0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3040" y="3447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specialty labels for consistent grouping.</a:t>
            </a:r>
            <a:endParaRPr lang="en-US" sz="1150" dirty="0"/>
          </a:p>
        </p:txBody>
      </p:sp>
      <p:sp>
        <p:nvSpPr>
          <p:cNvPr id="14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014216"/>
            <a:ext cx="5394960" cy="896112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19709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63040" y="41239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Exclude Total row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4714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aggregate/source rows from specialty analysis.</a:t>
            </a:r>
            <a:endParaRPr lang="en-US" sz="1150" dirty="0"/>
          </a:p>
        </p:txBody>
      </p:sp>
      <p:sp>
        <p:nvSpPr>
          <p:cNvPr id="1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038344"/>
            <a:ext cx="5394960" cy="896112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22122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463040" y="51480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numerics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4955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currency, services, and rate fields; check ranges.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71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Tracks</a:t>
            </a:r>
            <a:endParaRPr lang="en-US" sz="1600" dirty="0"/>
          </a:p>
        </p:txBody>
      </p:sp>
      <p:sp>
        <p:nvSpPr>
          <p:cNvPr id="23" name="track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1965960"/>
            <a:ext cx="5166360" cy="1225296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ra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1965960"/>
            <a:ext cx="82296" cy="122529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211226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253288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averages, medians, percent change, correlations, and top/bottom rankings.</a:t>
            </a:r>
            <a:endParaRPr lang="en-US" sz="1200" dirty="0"/>
          </a:p>
        </p:txBody>
      </p:sp>
      <p:sp>
        <p:nvSpPr>
          <p:cNvPr id="27" name="track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3337560"/>
            <a:ext cx="5166360" cy="1225296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ra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3337560"/>
            <a:ext cx="82296" cy="122529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29400" y="348386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Reconciliation &amp; Validation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400" y="390448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</a:t>
            </a:r>
            <a:r>
              <a:rPr lang="en-US" sz="12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an accounting-identity check on </a:t>
            </a:r>
            <a:r>
              <a:rPr lang="en-US" sz="12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amount; </a:t>
            </a:r>
            <a:r>
              <a:rPr lang="en-US" sz="12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r>
              <a:rPr lang="en-US" sz="12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MAE, RMSE, and R².</a:t>
            </a:r>
            <a:endParaRPr lang="en-US" sz="1200" dirty="0"/>
          </a:p>
        </p:txBody>
      </p:sp>
      <p:sp>
        <p:nvSpPr>
          <p:cNvPr id="31" name="track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4709160"/>
            <a:ext cx="5166360" cy="1225296"/>
          </a:xfrm>
          <a:prstGeom prst="rect">
            <a:avLst/>
          </a:prstGeom>
          <a:solidFill>
            <a:srgbClr val="003F72"/>
          </a:solidFill>
          <a:ln w="12700">
            <a:solidFill>
              <a:srgbClr val="125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ra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4709160"/>
            <a:ext cx="82296" cy="1225296"/>
          </a:xfrm>
          <a:prstGeom prst="rect">
            <a:avLst/>
          </a:prstGeom>
          <a:solidFill>
            <a:srgbClr val="0071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9400" y="485546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527608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</a:t>
            </a:r>
            <a:r>
              <a:rPr lang="en-US" sz="120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= 3, chosen by elbow) on log-transformed, standardized volume and cost measures; surfaces </a:t>
            </a:r>
            <a:r>
              <a:rPr lang="en-US" sz="12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high-cost and specialized low-volume clusters.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Lisa A. Phillips | Independent analysis of publicly available </a:t>
            </a:r>
            <a:r>
              <a:rPr lang="en-US" sz="900" kern="0" spc="200" dirty="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</a:t>
            </a:r>
            <a:r>
              <a:rPr lang="en-US" sz="900" kern="0" spc="20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71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71B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3F72"/>
      </a:dk2>
      <a:lt2>
        <a:srgbClr val="EFF4F8"/>
      </a:lt2>
      <a:accent1>
        <a:srgbClr val="0071BB"/>
      </a:accent1>
      <a:accent2>
        <a:srgbClr val="003F72"/>
      </a:accent2>
      <a:accent3>
        <a:srgbClr val="C5162B"/>
      </a:accent3>
      <a:accent4>
        <a:srgbClr val="5A6B7E"/>
      </a:accent4>
      <a:accent5>
        <a:srgbClr val="2E8FD4"/>
      </a:accent5>
      <a:accent6>
        <a:srgbClr val="CBD8E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9393</TotalTime>
  <Words>4447</Words>
  <Application>Microsoft Office PowerPoint</Application>
  <PresentationFormat>Widescreen</PresentationFormat>
  <Paragraphs>582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Consolas</vt:lpstr>
      <vt:lpstr>Trebuchet MS</vt:lpstr>
      <vt:lpstr>Office Theme</vt:lpstr>
      <vt:lpstr>Medicare Program Analytics</vt:lpstr>
      <vt:lpstr>The Bottom Line</vt:lpstr>
      <vt:lpstr>What This Analysis Covers</vt:lpstr>
      <vt:lpstr>Four Domains at a Glance</vt:lpstr>
      <vt:lpstr>Medicare Advantage &amp; Other Plans Now Cover the Majority</vt:lpstr>
      <vt:lpstr>Where Medicare Advantage &amp; Other Lead</vt:lpstr>
      <vt:lpstr>FFS Spending per Beneficiary Keeps Rising</vt:lpstr>
      <vt:lpstr>Where Fee-for-Service Dollars Go</vt:lpstr>
      <vt:lpstr>Plan Quality Has Remained Stable Near 3.7 Stars</vt:lpstr>
      <vt:lpstr>Most Contracts Fall Short of Four Stars</vt:lpstr>
      <vt:lpstr>Nurse Practitioners Are the Largest Primary Provider Type</vt:lpstr>
      <vt:lpstr>Where to Focus Next</vt:lpstr>
      <vt:lpstr>Medicare Enrollment &amp; Beneficiaries</vt:lpstr>
      <vt:lpstr>Claims &amp; Utilization</vt:lpstr>
      <vt:lpstr>Quality Measures &amp; Star Ratings</vt:lpstr>
      <vt:lpstr>Medicare Provider Network</vt:lpstr>
      <vt:lpstr>Sources &amp; Notes</vt:lpstr>
      <vt:lpstr>PowerPoint Presentation</vt:lpstr>
      <vt:lpstr>Medicare Part B Spending Is Climbing</vt:lpstr>
      <vt:lpstr>Top 10 Specialties by Medicare Payment</vt:lpstr>
      <vt:lpstr>Payment Rate Holds Near 77%</vt:lpstr>
      <vt:lpstr>Volume Peaked in 2023; Unit Cost Rebounded</vt:lpstr>
      <vt:lpstr>Internal Medicine: The Volume Engine</vt:lpstr>
      <vt:lpstr>A 160× Spread in Payment per Service</vt:lpstr>
      <vt:lpstr>Three Analytical Specialty Segments</vt:lpstr>
      <vt:lpstr>The Clusters, Made Visible</vt:lpstr>
      <vt:lpstr>Tableau Build Blueprint: Part B Specialty Analysis</vt:lpstr>
      <vt:lpstr>Payment Reconciles to Volume × Price</vt:lpstr>
      <vt:lpstr>The Fit Holds, Year After Year</vt:lpstr>
      <vt:lpstr>Six Core Measures</vt:lpstr>
      <vt:lpstr>Analytical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.</dc:creator>
  <cp:lastModifiedBy>Lisa A Phillips</cp:lastModifiedBy>
  <cp:revision>6</cp:revision>
  <dcterms:created xsi:type="dcterms:W3CDTF">2026-07-18T16:02:08Z</dcterms:created>
  <dcterms:modified xsi:type="dcterms:W3CDTF">2026-09-05T01:53:22Z</dcterms:modified>
</cp:coreProperties>
</file>