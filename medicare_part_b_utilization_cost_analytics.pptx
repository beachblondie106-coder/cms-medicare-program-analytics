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6.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7.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8.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3.xml" ContentType="application/vnd.openxmlformats-officedocument.presentationml.notesSlide+xml"/>
  <Override PartName="/ppt/charts/chart7.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8.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2" r:id="rId6"/>
    <p:sldId id="263" r:id="rId7"/>
    <p:sldId id="264" r:id="rId8"/>
    <p:sldId id="265" r:id="rId9"/>
    <p:sldId id="266" r:id="rId10"/>
    <p:sldId id="267" r:id="rId11"/>
    <p:sldId id="268" r:id="rId12"/>
    <p:sldId id="269" r:id="rId13"/>
    <p:sldId id="270" r:id="rId14"/>
    <p:sldId id="277" r:id="rId15"/>
    <p:sldId id="271" r:id="rId16"/>
    <p:sldId id="279" r:id="rId17"/>
    <p:sldId id="272" r:id="rId18"/>
    <p:sldId id="273" r:id="rId19"/>
    <p:sldId id="278" r:id="rId20"/>
    <p:sldId id="275" r:id="rId21"/>
    <p:sldId id="280" r:id="rId22"/>
    <p:sldId id="276" r:id="rId23"/>
    <p:sldId id="260" r:id="rId24"/>
    <p:sldId id="261" r:id="rId25"/>
    <p:sldId id="274"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ecutive Summary" id="{1827A96D-B8F5-4083-8D34-EA8F4E673BB7}">
          <p14:sldIdLst>
            <p14:sldId id="256"/>
            <p14:sldId id="257"/>
            <p14:sldId id="258"/>
            <p14:sldId id="259"/>
          </p14:sldIdLst>
        </p14:section>
        <p14:section name="Analysis" id="{5041651E-0881-4F66-BFA1-C3A36A00C697}">
          <p14:sldIdLst>
            <p14:sldId id="262"/>
            <p14:sldId id="263"/>
            <p14:sldId id="264"/>
            <p14:sldId id="265"/>
            <p14:sldId id="266"/>
            <p14:sldId id="267"/>
            <p14:sldId id="268"/>
            <p14:sldId id="269"/>
            <p14:sldId id="270"/>
            <p14:sldId id="277"/>
            <p14:sldId id="271"/>
            <p14:sldId id="279"/>
          </p14:sldIdLst>
        </p14:section>
        <p14:section name="Recommendations" id="{2BDDFD8B-4B11-4A0D-BA5E-E6B86E7188D3}">
          <p14:sldIdLst>
            <p14:sldId id="272"/>
            <p14:sldId id="273"/>
            <p14:sldId id="278"/>
          </p14:sldIdLst>
        </p14:section>
        <p14:section name="Appendix" id="{0BB0E92C-D916-46B0-BD13-54CB2CE1B82E}">
          <p14:sldIdLst>
            <p14:sldId id="275"/>
            <p14:sldId id="280"/>
            <p14:sldId id="276"/>
            <p14:sldId id="260"/>
            <p14:sldId id="261"/>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29565C-CABC-49CD-86EF-938A98366267}" v="8" dt="2026-08-10T13:20:28.6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61830" autoAdjust="0"/>
  </p:normalViewPr>
  <p:slideViewPr>
    <p:cSldViewPr snapToGrid="0">
      <p:cViewPr varScale="1">
        <p:scale>
          <a:sx n="51" d="100"/>
          <a:sy n="51" d="100"/>
        </p:scale>
        <p:origin x="1906"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sa ." userId="3236c6b2e56daa40" providerId="LiveId" clId="{85A99607-DB28-43FE-BA94-4B6B159B34CD}"/>
    <pc:docChg chg="modSld">
      <pc:chgData name="Lisa ." userId="3236c6b2e56daa40" providerId="LiveId" clId="{85A99607-DB28-43FE-BA94-4B6B159B34CD}" dt="2026-08-10T13:20:28.691" v="7"/>
      <pc:docMkLst>
        <pc:docMk/>
      </pc:docMkLst>
      <pc:sldChg chg="modSp">
        <pc:chgData name="Lisa ." userId="3236c6b2e56daa40" providerId="LiveId" clId="{85A99607-DB28-43FE-BA94-4B6B159B34CD}" dt="2026-08-10T13:20:18.135" v="4"/>
        <pc:sldMkLst>
          <pc:docMk/>
          <pc:sldMk cId="0" sldId="262"/>
        </pc:sldMkLst>
        <pc:graphicFrameChg chg="mod">
          <ac:chgData name="Lisa ." userId="3236c6b2e56daa40" providerId="LiveId" clId="{85A99607-DB28-43FE-BA94-4B6B159B34CD}" dt="2026-08-10T13:20:18.135" v="4"/>
          <ac:graphicFrameMkLst>
            <pc:docMk/>
            <pc:sldMk cId="0" sldId="262"/>
            <ac:graphicFrameMk id="7" creationId="{00000000-0000-0000-0000-000000000000}"/>
          </ac:graphicFrameMkLst>
        </pc:graphicFrameChg>
      </pc:sldChg>
      <pc:sldChg chg="modSp">
        <pc:chgData name="Lisa ." userId="3236c6b2e56daa40" providerId="LiveId" clId="{85A99607-DB28-43FE-BA94-4B6B159B34CD}" dt="2026-08-10T13:20:28.691" v="7"/>
        <pc:sldMkLst>
          <pc:docMk/>
          <pc:sldMk cId="0" sldId="263"/>
        </pc:sldMkLst>
        <pc:graphicFrameChg chg="mod">
          <ac:chgData name="Lisa ." userId="3236c6b2e56daa40" providerId="LiveId" clId="{85A99607-DB28-43FE-BA94-4B6B159B34CD}" dt="2026-08-10T13:20:28.691" v="7"/>
          <ac:graphicFrameMkLst>
            <pc:docMk/>
            <pc:sldMk cId="0" sldId="263"/>
            <ac:graphicFrameMk id="7" creationId="{00000000-0000-0000-0000-000000000000}"/>
          </ac:graphicFrameMkLst>
        </pc:graphicFrameChg>
      </pc:sldChg>
      <pc:sldChg chg="modSp">
        <pc:chgData name="Lisa ." userId="3236c6b2e56daa40" providerId="LiveId" clId="{85A99607-DB28-43FE-BA94-4B6B159B34CD}" dt="2026-08-10T13:20:06.106" v="3"/>
        <pc:sldMkLst>
          <pc:docMk/>
          <pc:sldMk cId="0" sldId="264"/>
        </pc:sldMkLst>
        <pc:graphicFrameChg chg="mod">
          <ac:chgData name="Lisa ." userId="3236c6b2e56daa40" providerId="LiveId" clId="{85A99607-DB28-43FE-BA94-4B6B159B34CD}" dt="2026-08-10T13:19:58.227" v="2"/>
          <ac:graphicFrameMkLst>
            <pc:docMk/>
            <pc:sldMk cId="0" sldId="264"/>
            <ac:graphicFrameMk id="7" creationId="{00000000-0000-0000-0000-000000000000}"/>
          </ac:graphicFrameMkLst>
        </pc:graphicFrameChg>
        <pc:graphicFrameChg chg="mod">
          <ac:chgData name="Lisa ." userId="3236c6b2e56daa40" providerId="LiveId" clId="{85A99607-DB28-43FE-BA94-4B6B159B34CD}" dt="2026-08-10T13:20:06.106" v="3"/>
          <ac:graphicFrameMkLst>
            <pc:docMk/>
            <pc:sldMk cId="0" sldId="264"/>
            <ac:graphicFrameMk id="9" creationId="{00000000-0000-0000-0000-000000000000}"/>
          </ac:graphicFrameMkLst>
        </pc:graphicFrameChg>
      </pc:sldChg>
      <pc:sldChg chg="modSp">
        <pc:chgData name="Lisa ." userId="3236c6b2e56daa40" providerId="LiveId" clId="{85A99607-DB28-43FE-BA94-4B6B159B34CD}" dt="2026-08-10T13:19:48.259" v="1"/>
        <pc:sldMkLst>
          <pc:docMk/>
          <pc:sldMk cId="0" sldId="265"/>
        </pc:sldMkLst>
        <pc:graphicFrameChg chg="mod">
          <ac:chgData name="Lisa ." userId="3236c6b2e56daa40" providerId="LiveId" clId="{85A99607-DB28-43FE-BA94-4B6B159B34CD}" dt="2026-08-10T13:19:48.259" v="1"/>
          <ac:graphicFrameMkLst>
            <pc:docMk/>
            <pc:sldMk cId="0" sldId="265"/>
            <ac:graphicFrameMk id="7" creationId="{00000000-0000-0000-0000-000000000000}"/>
          </ac:graphicFrameMkLst>
        </pc:graphicFrameChg>
      </pc:sldChg>
      <pc:sldChg chg="modSp">
        <pc:chgData name="Lisa ." userId="3236c6b2e56daa40" providerId="LiveId" clId="{85A99607-DB28-43FE-BA94-4B6B159B34CD}" dt="2026-08-10T13:19:32.146" v="0"/>
        <pc:sldMkLst>
          <pc:docMk/>
          <pc:sldMk cId="0" sldId="269"/>
        </pc:sldMkLst>
        <pc:graphicFrameChg chg="mod">
          <ac:chgData name="Lisa ." userId="3236c6b2e56daa40" providerId="LiveId" clId="{85A99607-DB28-43FE-BA94-4B6B159B34CD}" dt="2026-08-10T13:19:32.146" v="0"/>
          <ac:graphicFrameMkLst>
            <pc:docMk/>
            <pc:sldMk cId="0" sldId="269"/>
            <ac:graphicFrameMk id="7" creationId="{00000000-0000-0000-0000-000000000000}"/>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Allowed Charges</c:v>
                </c:pt>
              </c:strCache>
            </c:strRef>
          </c:tx>
          <c:spPr>
            <a:solidFill>
              <a:schemeClr val="accent1"/>
            </a:solidFill>
            <a:ln>
              <a:no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2022</c:v>
                </c:pt>
                <c:pt idx="1">
                  <c:v>2023</c:v>
                </c:pt>
                <c:pt idx="2">
                  <c:v>2024</c:v>
                </c:pt>
              </c:strCache>
            </c:strRef>
          </c:cat>
          <c:val>
            <c:numRef>
              <c:f>Sheet1!$B$2:$B$4</c:f>
              <c:numCache>
                <c:formatCode>General</c:formatCode>
                <c:ptCount val="3"/>
                <c:pt idx="0">
                  <c:v>150</c:v>
                </c:pt>
                <c:pt idx="1">
                  <c:v>163</c:v>
                </c:pt>
                <c:pt idx="2">
                  <c:v>171.4</c:v>
                </c:pt>
              </c:numCache>
            </c:numRef>
          </c:val>
          <c:extLst>
            <c:ext xmlns:c16="http://schemas.microsoft.com/office/drawing/2014/chart" uri="{C3380CC4-5D6E-409C-BE32-E72D297353CC}">
              <c16:uniqueId val="{00000000-C5A2-42D7-8157-464E9B581454}"/>
            </c:ext>
          </c:extLst>
        </c:ser>
        <c:ser>
          <c:idx val="1"/>
          <c:order val="1"/>
          <c:tx>
            <c:strRef>
              <c:f>Sheet1!$C$1</c:f>
              <c:strCache>
                <c:ptCount val="1"/>
                <c:pt idx="0">
                  <c:v>Medicare Payment</c:v>
                </c:pt>
              </c:strCache>
            </c:strRef>
          </c:tx>
          <c:spPr>
            <a:solidFill>
              <a:schemeClr val="accent2"/>
            </a:solidFill>
            <a:ln>
              <a:no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2022</c:v>
                </c:pt>
                <c:pt idx="1">
                  <c:v>2023</c:v>
                </c:pt>
                <c:pt idx="2">
                  <c:v>2024</c:v>
                </c:pt>
              </c:strCache>
            </c:strRef>
          </c:cat>
          <c:val>
            <c:numRef>
              <c:f>Sheet1!$C$2:$C$4</c:f>
              <c:numCache>
                <c:formatCode>General</c:formatCode>
                <c:ptCount val="3"/>
                <c:pt idx="0">
                  <c:v>115.9</c:v>
                </c:pt>
                <c:pt idx="1">
                  <c:v>125.7</c:v>
                </c:pt>
                <c:pt idx="2">
                  <c:v>131.69999999999999</c:v>
                </c:pt>
              </c:numCache>
            </c:numRef>
          </c:val>
          <c:extLst>
            <c:ext xmlns:c16="http://schemas.microsoft.com/office/drawing/2014/chart" uri="{C3380CC4-5D6E-409C-BE32-E72D297353CC}">
              <c16:uniqueId val="{00000001-C5A2-42D7-8157-464E9B581454}"/>
            </c:ext>
          </c:extLst>
        </c:ser>
        <c:dLbls>
          <c:showLegendKey val="0"/>
          <c:showVal val="1"/>
          <c:showCatName val="0"/>
          <c:showSerName val="0"/>
          <c:showPercent val="0"/>
          <c:showBubbleSize val="0"/>
        </c:dLbls>
        <c:gapWidth val="219"/>
        <c:overlap val="-27"/>
        <c:axId val="2094734554"/>
        <c:axId val="2094734552"/>
      </c:barChart>
      <c:catAx>
        <c:axId val="2094734554"/>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94734552"/>
        <c:crosses val="autoZero"/>
        <c:auto val="1"/>
        <c:lblAlgn val="ctr"/>
        <c:lblOffset val="100"/>
        <c:noMultiLvlLbl val="1"/>
      </c:catAx>
      <c:valAx>
        <c:axId val="2094734552"/>
        <c:scaling>
          <c:orientation val="minMax"/>
          <c:max val="200"/>
          <c:min val="0"/>
        </c:scaling>
        <c:delete val="0"/>
        <c:axPos val="l"/>
        <c:majorGridlines>
          <c:spPr>
            <a:ln w="9525" cap="flat" cmpd="sng" algn="ctr">
              <a:solidFill>
                <a:schemeClr val="tx1">
                  <a:lumMod val="15000"/>
                  <a:lumOff val="85000"/>
                </a:schemeClr>
              </a:solidFill>
              <a:round/>
            </a:ln>
            <a:effectLst/>
          </c:spPr>
        </c:majorGridlines>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94734554"/>
        <c:crosses val="autoZero"/>
        <c:crossBetween val="between"/>
        <c:majorUnit val="50"/>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span"/>
    <c:showDLblsOverMax val="1"/>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Allowed Services (B)</c:v>
                </c:pt>
              </c:strCache>
            </c:strRef>
          </c:tx>
          <c:spPr>
            <a:solidFill>
              <a:schemeClr val="accent1"/>
            </a:solidFill>
            <a:ln>
              <a:noFill/>
            </a:ln>
            <a:effectLst/>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2022</c:v>
                </c:pt>
                <c:pt idx="1">
                  <c:v>2023</c:v>
                </c:pt>
                <c:pt idx="2">
                  <c:v>2024</c:v>
                </c:pt>
              </c:strCache>
            </c:strRef>
          </c:cat>
          <c:val>
            <c:numRef>
              <c:f>Sheet1!$B$2:$B$4</c:f>
              <c:numCache>
                <c:formatCode>General</c:formatCode>
                <c:ptCount val="3"/>
                <c:pt idx="0">
                  <c:v>5.48</c:v>
                </c:pt>
                <c:pt idx="1">
                  <c:v>6.14</c:v>
                </c:pt>
                <c:pt idx="2">
                  <c:v>5.96</c:v>
                </c:pt>
              </c:numCache>
            </c:numRef>
          </c:val>
          <c:extLst>
            <c:ext xmlns:c16="http://schemas.microsoft.com/office/drawing/2014/chart" uri="{C3380CC4-5D6E-409C-BE32-E72D297353CC}">
              <c16:uniqueId val="{00000000-634A-4ADC-8089-97A923786ED9}"/>
            </c:ext>
          </c:extLst>
        </c:ser>
        <c:dLbls>
          <c:dLblPos val="outEnd"/>
          <c:showLegendKey val="0"/>
          <c:showVal val="1"/>
          <c:showCatName val="0"/>
          <c:showSerName val="0"/>
          <c:showPercent val="0"/>
          <c:showBubbleSize val="0"/>
        </c:dLbls>
        <c:gapWidth val="219"/>
        <c:overlap val="-27"/>
        <c:axId val="2094734554"/>
        <c:axId val="2094734552"/>
      </c:barChart>
      <c:catAx>
        <c:axId val="2094734554"/>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94734552"/>
        <c:crosses val="autoZero"/>
        <c:auto val="1"/>
        <c:lblAlgn val="ctr"/>
        <c:lblOffset val="100"/>
        <c:noMultiLvlLbl val="1"/>
      </c:catAx>
      <c:valAx>
        <c:axId val="2094734552"/>
        <c:scaling>
          <c:orientation val="minMax"/>
          <c:max val="8"/>
          <c:min val="0"/>
        </c:scaling>
        <c:delete val="0"/>
        <c:axPos val="l"/>
        <c:majorGridlines>
          <c:spPr>
            <a:ln w="9525" cap="flat" cmpd="sng" algn="ctr">
              <a:solidFill>
                <a:schemeClr val="tx1">
                  <a:lumMod val="15000"/>
                  <a:lumOff val="85000"/>
                </a:schemeClr>
              </a:solidFill>
              <a:round/>
            </a:ln>
            <a:effectLst/>
          </c:spPr>
        </c:majorGridlines>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94734554"/>
        <c:crosses val="autoZero"/>
        <c:crossBetween val="between"/>
        <c:majorUnit val="2"/>
      </c:valAx>
      <c:spPr>
        <a:noFill/>
        <a:ln>
          <a:noFill/>
        </a:ln>
        <a:effectLst/>
      </c:spPr>
    </c:plotArea>
    <c:plotVisOnly val="1"/>
    <c:dispBlanksAs val="span"/>
    <c:showDLblsOverMax val="1"/>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Payment ($B)</c:v>
                </c:pt>
              </c:strCache>
            </c:strRef>
          </c:tx>
          <c:spPr>
            <a:solidFill>
              <a:schemeClr val="accent1"/>
            </a:solidFill>
            <a:ln>
              <a:noFill/>
            </a:ln>
            <a:effectLst/>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Internal Medicine</c:v>
                </c:pt>
                <c:pt idx="1">
                  <c:v>Ophthalmology</c:v>
                </c:pt>
                <c:pt idx="2">
                  <c:v>Clinical Laboratory</c:v>
                </c:pt>
                <c:pt idx="3">
                  <c:v>Hematology/Oncology</c:v>
                </c:pt>
                <c:pt idx="4">
                  <c:v>Nurse Practitioner</c:v>
                </c:pt>
                <c:pt idx="5">
                  <c:v>Ambulatory Surgical Ctr</c:v>
                </c:pt>
                <c:pt idx="6">
                  <c:v>Family Practice</c:v>
                </c:pt>
                <c:pt idx="7">
                  <c:v>Medical Supply Co.</c:v>
                </c:pt>
                <c:pt idx="8">
                  <c:v>Ambulance Supplier</c:v>
                </c:pt>
                <c:pt idx="9">
                  <c:v>Diagnostic Radiology</c:v>
                </c:pt>
              </c:strCache>
            </c:strRef>
          </c:cat>
          <c:val>
            <c:numRef>
              <c:f>Sheet1!$B$2:$B$11</c:f>
              <c:numCache>
                <c:formatCode>General</c:formatCode>
                <c:ptCount val="10"/>
                <c:pt idx="0">
                  <c:v>7.29</c:v>
                </c:pt>
                <c:pt idx="1">
                  <c:v>7.25</c:v>
                </c:pt>
                <c:pt idx="2">
                  <c:v>6.45</c:v>
                </c:pt>
                <c:pt idx="3">
                  <c:v>6.3</c:v>
                </c:pt>
                <c:pt idx="4">
                  <c:v>5.55</c:v>
                </c:pt>
                <c:pt idx="5">
                  <c:v>4.79</c:v>
                </c:pt>
                <c:pt idx="6">
                  <c:v>4.63</c:v>
                </c:pt>
                <c:pt idx="7">
                  <c:v>4.3499999999999996</c:v>
                </c:pt>
                <c:pt idx="8">
                  <c:v>4.2</c:v>
                </c:pt>
                <c:pt idx="9">
                  <c:v>4.0199999999999996</c:v>
                </c:pt>
              </c:numCache>
            </c:numRef>
          </c:val>
          <c:extLst>
            <c:ext xmlns:c16="http://schemas.microsoft.com/office/drawing/2014/chart" uri="{C3380CC4-5D6E-409C-BE32-E72D297353CC}">
              <c16:uniqueId val="{00000000-B4BB-4B90-9AB6-E4892BDE2FE5}"/>
            </c:ext>
          </c:extLst>
        </c:ser>
        <c:dLbls>
          <c:showLegendKey val="0"/>
          <c:showVal val="1"/>
          <c:showCatName val="0"/>
          <c:showSerName val="0"/>
          <c:showPercent val="0"/>
          <c:showBubbleSize val="0"/>
        </c:dLbls>
        <c:gapWidth val="182"/>
        <c:axId val="2094734554"/>
        <c:axId val="2094734552"/>
      </c:barChart>
      <c:catAx>
        <c:axId val="209473455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94734552"/>
        <c:crosses val="autoZero"/>
        <c:auto val="1"/>
        <c:lblAlgn val="ctr"/>
        <c:lblOffset val="100"/>
        <c:noMultiLvlLbl val="1"/>
      </c:catAx>
      <c:valAx>
        <c:axId val="2094734552"/>
        <c:scaling>
          <c:orientation val="minMax"/>
          <c:max val="8"/>
          <c:min val="0"/>
        </c:scaling>
        <c:delete val="0"/>
        <c:axPos val="b"/>
        <c:majorGridlines>
          <c:spPr>
            <a:ln w="9525" cap="flat" cmpd="sng" algn="ctr">
              <a:solidFill>
                <a:schemeClr val="tx1">
                  <a:lumMod val="15000"/>
                  <a:lumOff val="85000"/>
                </a:schemeClr>
              </a:solidFill>
              <a:round/>
            </a:ln>
            <a:effectLst/>
          </c:spPr>
        </c:majorGridlines>
        <c:numFmt formatCode="General" sourceLinked="0"/>
        <c:majorTickMark val="none"/>
        <c:minorTickMark val="none"/>
        <c:tickLblPos val="low"/>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94734554"/>
        <c:crosses val="autoZero"/>
        <c:crossBetween val="between"/>
        <c:majorUnit val="2"/>
      </c:valAx>
      <c:spPr>
        <a:noFill/>
        <a:ln>
          <a:noFill/>
        </a:ln>
        <a:effectLst/>
      </c:spPr>
    </c:plotArea>
    <c:plotVisOnly val="1"/>
    <c:dispBlanksAs val="span"/>
    <c:showDLblsOverMax val="1"/>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Payment / Service ($)</c:v>
                </c:pt>
              </c:strCache>
            </c:strRef>
          </c:tx>
          <c:spPr>
            <a:ln w="28575" cap="rnd">
              <a:solidFill>
                <a:schemeClr val="accent1"/>
              </a:solidFill>
              <a:round/>
            </a:ln>
            <a:effectLst/>
          </c:spPr>
          <c:marker>
            <c:symbol val="none"/>
          </c:marker>
          <c:dLbls>
            <c:numFmt formatCode="0.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2022</c:v>
                </c:pt>
                <c:pt idx="1">
                  <c:v>2023</c:v>
                </c:pt>
                <c:pt idx="2">
                  <c:v>2024</c:v>
                </c:pt>
              </c:strCache>
            </c:strRef>
          </c:cat>
          <c:val>
            <c:numRef>
              <c:f>Sheet1!$B$2:$B$4</c:f>
              <c:numCache>
                <c:formatCode>General</c:formatCode>
                <c:ptCount val="3"/>
                <c:pt idx="0">
                  <c:v>21.15</c:v>
                </c:pt>
                <c:pt idx="1">
                  <c:v>20.47</c:v>
                </c:pt>
                <c:pt idx="2">
                  <c:v>22.08</c:v>
                </c:pt>
              </c:numCache>
            </c:numRef>
          </c:val>
          <c:smooth val="0"/>
          <c:extLst>
            <c:ext xmlns:c16="http://schemas.microsoft.com/office/drawing/2014/chart" uri="{C3380CC4-5D6E-409C-BE32-E72D297353CC}">
              <c16:uniqueId val="{00000000-EE8F-4751-AA4E-F480E6A41A13}"/>
            </c:ext>
          </c:extLst>
        </c:ser>
        <c:dLbls>
          <c:dLblPos val="t"/>
          <c:showLegendKey val="0"/>
          <c:showVal val="1"/>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94734552"/>
        <c:crosses val="autoZero"/>
        <c:auto val="1"/>
        <c:lblAlgn val="ctr"/>
        <c:lblOffset val="100"/>
        <c:noMultiLvlLbl val="1"/>
      </c:catAx>
      <c:valAx>
        <c:axId val="2094734552"/>
        <c:scaling>
          <c:orientation val="minMax"/>
          <c:max val="24"/>
          <c:min val="18"/>
        </c:scaling>
        <c:delete val="0"/>
        <c:axPos val="l"/>
        <c:majorGridlines>
          <c:spPr>
            <a:ln w="9525" cap="flat" cmpd="sng" algn="ctr">
              <a:solidFill>
                <a:schemeClr val="tx1">
                  <a:lumMod val="15000"/>
                  <a:lumOff val="85000"/>
                </a:schemeClr>
              </a:solidFill>
              <a:round/>
            </a:ln>
            <a:effectLst/>
          </c:spPr>
        </c:majorGridlines>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94734554"/>
        <c:crosses val="autoZero"/>
        <c:crossBetween val="between"/>
        <c:majorUnit val="2"/>
      </c:valAx>
      <c:spPr>
        <a:noFill/>
        <a:ln>
          <a:noFill/>
        </a:ln>
        <a:effectLst/>
      </c:spPr>
    </c:plotArea>
    <c:plotVisOnly val="1"/>
    <c:dispBlanksAs val="span"/>
    <c:showDLblsOverMax val="1"/>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Payment ($B)</c:v>
                </c:pt>
              </c:strCache>
            </c:strRef>
          </c:tx>
          <c:spPr>
            <a:solidFill>
              <a:schemeClr val="accent1"/>
            </a:solidFill>
            <a:ln>
              <a:noFill/>
            </a:ln>
            <a:effectLst/>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Internal Medicine</c:v>
                </c:pt>
                <c:pt idx="1">
                  <c:v>Ophthalmology</c:v>
                </c:pt>
                <c:pt idx="2">
                  <c:v>Clinical Laboratory</c:v>
                </c:pt>
                <c:pt idx="3">
                  <c:v>Hematology/Oncology</c:v>
                </c:pt>
                <c:pt idx="4">
                  <c:v>Nurse Practitioner</c:v>
                </c:pt>
                <c:pt idx="5">
                  <c:v>Ambulatory Surgical Ctr</c:v>
                </c:pt>
                <c:pt idx="6">
                  <c:v>Family Practice</c:v>
                </c:pt>
                <c:pt idx="7">
                  <c:v>Medical Supply Co.</c:v>
                </c:pt>
                <c:pt idx="8">
                  <c:v>Ambulance Supplier</c:v>
                </c:pt>
                <c:pt idx="9">
                  <c:v>Diagnostic Radiology</c:v>
                </c:pt>
              </c:strCache>
            </c:strRef>
          </c:cat>
          <c:val>
            <c:numRef>
              <c:f>Sheet1!$B$2:$B$11</c:f>
              <c:numCache>
                <c:formatCode>General</c:formatCode>
                <c:ptCount val="10"/>
                <c:pt idx="0">
                  <c:v>7.29</c:v>
                </c:pt>
                <c:pt idx="1">
                  <c:v>7.25</c:v>
                </c:pt>
                <c:pt idx="2">
                  <c:v>6.45</c:v>
                </c:pt>
                <c:pt idx="3">
                  <c:v>6.3</c:v>
                </c:pt>
                <c:pt idx="4">
                  <c:v>5.55</c:v>
                </c:pt>
                <c:pt idx="5">
                  <c:v>4.79</c:v>
                </c:pt>
                <c:pt idx="6">
                  <c:v>4.63</c:v>
                </c:pt>
                <c:pt idx="7">
                  <c:v>4.3499999999999996</c:v>
                </c:pt>
                <c:pt idx="8">
                  <c:v>4.2</c:v>
                </c:pt>
                <c:pt idx="9">
                  <c:v>4.0199999999999996</c:v>
                </c:pt>
              </c:numCache>
            </c:numRef>
          </c:val>
          <c:extLst>
            <c:ext xmlns:c16="http://schemas.microsoft.com/office/drawing/2014/chart" uri="{C3380CC4-5D6E-409C-BE32-E72D297353CC}">
              <c16:uniqueId val="{00000000-E69E-40AC-8F69-2D1E2B6C2756}"/>
            </c:ext>
          </c:extLst>
        </c:ser>
        <c:dLbls>
          <c:showLegendKey val="0"/>
          <c:showVal val="1"/>
          <c:showCatName val="0"/>
          <c:showSerName val="0"/>
          <c:showPercent val="0"/>
          <c:showBubbleSize val="0"/>
        </c:dLbls>
        <c:gapWidth val="182"/>
        <c:axId val="2094734554"/>
        <c:axId val="2094734552"/>
      </c:barChart>
      <c:catAx>
        <c:axId val="209473455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94734552"/>
        <c:crosses val="autoZero"/>
        <c:auto val="1"/>
        <c:lblAlgn val="ctr"/>
        <c:lblOffset val="100"/>
        <c:noMultiLvlLbl val="1"/>
      </c:catAx>
      <c:valAx>
        <c:axId val="2094734552"/>
        <c:scaling>
          <c:orientation val="minMax"/>
          <c:max val="8"/>
          <c:min val="0"/>
        </c:scaling>
        <c:delete val="0"/>
        <c:axPos val="b"/>
        <c:majorGridlines>
          <c:spPr>
            <a:ln w="9525" cap="flat" cmpd="sng" algn="ctr">
              <a:solidFill>
                <a:schemeClr val="tx1">
                  <a:lumMod val="15000"/>
                  <a:lumOff val="85000"/>
                </a:schemeClr>
              </a:solidFill>
              <a:round/>
            </a:ln>
            <a:effectLst/>
          </c:spPr>
        </c:majorGridlines>
        <c:numFmt formatCode="General" sourceLinked="0"/>
        <c:majorTickMark val="none"/>
        <c:minorTickMark val="none"/>
        <c:tickLblPos val="low"/>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94734554"/>
        <c:crosses val="autoZero"/>
        <c:crossBetween val="between"/>
        <c:majorUnit val="2"/>
      </c:valAx>
      <c:spPr>
        <a:noFill/>
        <a:ln>
          <a:noFill/>
        </a:ln>
        <a:effectLst/>
      </c:spPr>
    </c:plotArea>
    <c:plotVisOnly val="1"/>
    <c:dispBlanksAs val="span"/>
    <c:showDLblsOverMax val="1"/>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Payment / Service ($)</c:v>
                </c:pt>
              </c:strCache>
            </c:strRef>
          </c:tx>
          <c:spPr>
            <a:solidFill>
              <a:schemeClr val="accent1"/>
            </a:solidFill>
            <a:ln>
              <a:noFill/>
            </a:ln>
            <a:effectLst/>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Pharmacy</c:v>
                </c:pt>
                <c:pt idx="1">
                  <c:v>Clinical Laboratory</c:v>
                </c:pt>
                <c:pt idx="2">
                  <c:v>Internal Medicine</c:v>
                </c:pt>
                <c:pt idx="3">
                  <c:v>Ophthalmology</c:v>
                </c:pt>
                <c:pt idx="4">
                  <c:v>Ambulatory Surgical Ctr</c:v>
                </c:pt>
                <c:pt idx="5">
                  <c:v>Neurosurgery</c:v>
                </c:pt>
                <c:pt idx="6">
                  <c:v>Cardiac Surgery</c:v>
                </c:pt>
                <c:pt idx="7">
                  <c:v>Thoracic Surgery</c:v>
                </c:pt>
              </c:strCache>
            </c:strRef>
          </c:cat>
          <c:val>
            <c:numRef>
              <c:f>Sheet1!$B$2:$B$9</c:f>
              <c:numCache>
                <c:formatCode>General</c:formatCode>
                <c:ptCount val="8"/>
                <c:pt idx="0">
                  <c:v>1.71</c:v>
                </c:pt>
                <c:pt idx="1">
                  <c:v>20.440000000000001</c:v>
                </c:pt>
                <c:pt idx="2">
                  <c:v>41.59</c:v>
                </c:pt>
                <c:pt idx="3">
                  <c:v>123.92</c:v>
                </c:pt>
                <c:pt idx="4">
                  <c:v>177.31</c:v>
                </c:pt>
                <c:pt idx="5">
                  <c:v>208.51</c:v>
                </c:pt>
                <c:pt idx="6">
                  <c:v>271.68</c:v>
                </c:pt>
                <c:pt idx="7">
                  <c:v>276.37</c:v>
                </c:pt>
              </c:numCache>
            </c:numRef>
          </c:val>
          <c:extLst>
            <c:ext xmlns:c16="http://schemas.microsoft.com/office/drawing/2014/chart" uri="{C3380CC4-5D6E-409C-BE32-E72D297353CC}">
              <c16:uniqueId val="{00000000-3819-4CF0-AF97-B840672BE0FB}"/>
            </c:ext>
          </c:extLst>
        </c:ser>
        <c:dLbls>
          <c:showLegendKey val="0"/>
          <c:showVal val="1"/>
          <c:showCatName val="0"/>
          <c:showSerName val="0"/>
          <c:showPercent val="0"/>
          <c:showBubbleSize val="0"/>
        </c:dLbls>
        <c:gapWidth val="182"/>
        <c:axId val="2094734554"/>
        <c:axId val="2094734552"/>
      </c:barChart>
      <c:catAx>
        <c:axId val="209473455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94734552"/>
        <c:crosses val="autoZero"/>
        <c:auto val="1"/>
        <c:lblAlgn val="ctr"/>
        <c:lblOffset val="100"/>
        <c:noMultiLvlLbl val="1"/>
      </c:catAx>
      <c:valAx>
        <c:axId val="2094734552"/>
        <c:scaling>
          <c:orientation val="minMax"/>
          <c:max val="300"/>
          <c:min val="0"/>
        </c:scaling>
        <c:delete val="0"/>
        <c:axPos val="b"/>
        <c:majorGridlines>
          <c:spPr>
            <a:ln w="9525" cap="flat" cmpd="sng" algn="ctr">
              <a:solidFill>
                <a:schemeClr val="tx1">
                  <a:lumMod val="15000"/>
                  <a:lumOff val="85000"/>
                </a:schemeClr>
              </a:solidFill>
              <a:round/>
            </a:ln>
            <a:effectLst/>
          </c:spPr>
        </c:majorGridlines>
        <c:numFmt formatCode="General" sourceLinked="0"/>
        <c:majorTickMark val="none"/>
        <c:minorTickMark val="none"/>
        <c:tickLblPos val="low"/>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94734554"/>
        <c:crosses val="autoZero"/>
        <c:crossBetween val="between"/>
        <c:majorUnit val="100"/>
      </c:valAx>
      <c:spPr>
        <a:noFill/>
        <a:ln>
          <a:noFill/>
        </a:ln>
        <a:effectLst/>
      </c:spPr>
    </c:plotArea>
    <c:plotVisOnly val="1"/>
    <c:dispBlanksAs val="span"/>
    <c:showDLblsOverMax val="1"/>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High-Volume Commodity</c:v>
                </c:pt>
              </c:strCache>
            </c:strRef>
          </c:tx>
          <c:spPr>
            <a:ln w="19050">
              <a:noFill/>
            </a:ln>
          </c:spPr>
          <c:marker>
            <c:symbol val="circle"/>
            <c:size val="11"/>
            <c:spPr>
              <a:solidFill>
                <a:srgbClr val="0FA3C4"/>
              </a:solidFill>
              <a:ln w="12700">
                <a:solidFill>
                  <a:srgbClr val="FFFFFF"/>
                </a:solidFill>
              </a:ln>
            </c:spPr>
          </c:marker>
          <c:dLbls>
            <c:dLbl>
              <c:idx val="0"/>
              <c:tx>
                <c:rich>
                  <a:bodyPr wrap="square" lIns="0" tIns="0" rIns="0" bIns="0"/>
                  <a:lstStyle/>
                  <a:p>
                    <a:pPr algn="ctr"/>
                    <a:r>
                      <a:rPr lang="en-US" sz="1000" b="1">
                        <a:solidFill>
                          <a:srgbClr val="0FA3C4"/>
                        </a:solidFill>
                        <a:latin typeface="Trebuchet MS"/>
                      </a:rPr>
                      <a:t>Pharmacy</a:t>
                    </a:r>
                  </a:p>
                </c:rich>
              </c:tx>
              <c:spPr>
                <a:noFill/>
                <a:ln>
                  <a:noFill/>
                </a:ln>
              </c:spPr>
              <c:dLblPos val="t"/>
              <c:showLegendKey val="0"/>
              <c:showVal val="0"/>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showDataLabelsRange val="0"/>
                </c:ext>
                <c:ext xmlns:c16="http://schemas.microsoft.com/office/drawing/2014/chart" uri="{C3380CC4-5D6E-409C-BE32-E72D297353CC}">
                  <c16:uniqueId val="{00000000-37E8-46E8-B232-958C07794A1F}"/>
                </c:ext>
              </c:extLst>
            </c:dLbl>
            <c:dLbl>
              <c:idx val="1"/>
              <c:tx>
                <c:rich>
                  <a:bodyPr wrap="square" lIns="0" tIns="0" rIns="0" bIns="0"/>
                  <a:lstStyle/>
                  <a:p>
                    <a:pPr algn="ctr"/>
                    <a:r>
                      <a:rPr lang="en-US" sz="1000" b="1">
                        <a:solidFill>
                          <a:srgbClr val="0FA3C4"/>
                        </a:solidFill>
                        <a:latin typeface="Trebuchet MS"/>
                      </a:rPr>
                      <a:t>Medical Supply Co.</a:t>
                    </a:r>
                  </a:p>
                </c:rich>
              </c:tx>
              <c:spPr>
                <a:noFill/>
                <a:ln>
                  <a:noFill/>
                </a:ln>
              </c:spPr>
              <c:dLblPos val="r"/>
              <c:showLegendKey val="0"/>
              <c:showVal val="0"/>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showDataLabelsRange val="0"/>
                </c:ext>
                <c:ext xmlns:c16="http://schemas.microsoft.com/office/drawing/2014/chart" uri="{C3380CC4-5D6E-409C-BE32-E72D297353CC}">
                  <c16:uniqueId val="{00000001-37E8-46E8-B232-958C07794A1F}"/>
                </c:ext>
              </c:extLst>
            </c:dLbl>
            <c:dLbl>
              <c:idx val="2"/>
              <c:tx>
                <c:rich>
                  <a:bodyPr wrap="square" lIns="0" tIns="0" rIns="0" bIns="0"/>
                  <a:lstStyle/>
                  <a:p>
                    <a:pPr algn="ctr"/>
                    <a:r>
                      <a:rPr lang="en-US" sz="1000" b="1">
                        <a:solidFill>
                          <a:srgbClr val="0FA3C4"/>
                        </a:solidFill>
                        <a:latin typeface="Trebuchet MS"/>
                      </a:rPr>
                      <a:t>Clinical Laboratory</a:t>
                    </a:r>
                  </a:p>
                </c:rich>
              </c:tx>
              <c:spPr>
                <a:noFill/>
                <a:ln>
                  <a:noFill/>
                </a:ln>
              </c:spPr>
              <c:dLblPos val="t"/>
              <c:showLegendKey val="0"/>
              <c:showVal val="0"/>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showDataLabelsRange val="0"/>
                </c:ext>
                <c:ext xmlns:c16="http://schemas.microsoft.com/office/drawing/2014/chart" uri="{C3380CC4-5D6E-409C-BE32-E72D297353CC}">
                  <c16:uniqueId val="{00000002-37E8-46E8-B232-958C07794A1F}"/>
                </c:ext>
              </c:extLst>
            </c:dLbl>
            <c:dLbl>
              <c:idx val="3"/>
              <c:tx>
                <c:rich>
                  <a:bodyPr wrap="square" lIns="0" tIns="0" rIns="0" bIns="0"/>
                  <a:lstStyle/>
                  <a:p>
                    <a:pPr algn="ctr"/>
                    <a:r>
                      <a:rPr lang="en-US" sz="1000" b="1">
                        <a:solidFill>
                          <a:srgbClr val="0FA3C4"/>
                        </a:solidFill>
                        <a:latin typeface="Trebuchet MS"/>
                      </a:rPr>
                      <a:t>Diagnostic Radiology</a:t>
                    </a:r>
                  </a:p>
                </c:rich>
              </c:tx>
              <c:spPr>
                <a:noFill/>
                <a:ln>
                  <a:noFill/>
                </a:ln>
              </c:spPr>
              <c:dLblPos val="b"/>
              <c:showLegendKey val="0"/>
              <c:showVal val="0"/>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showDataLabelsRange val="0"/>
                </c:ext>
                <c:ext xmlns:c16="http://schemas.microsoft.com/office/drawing/2014/chart" uri="{C3380CC4-5D6E-409C-BE32-E72D297353CC}">
                  <c16:uniqueId val="{00000003-37E8-46E8-B232-958C07794A1F}"/>
                </c:ext>
              </c:extLst>
            </c:dLbl>
            <c:numFmt formatCode="General" sourceLinked="0"/>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Sheet1!$A$2:$A$5</c:f>
              <c:numCache>
                <c:formatCode>General</c:formatCode>
                <c:ptCount val="4"/>
                <c:pt idx="0">
                  <c:v>1900</c:v>
                </c:pt>
                <c:pt idx="1">
                  <c:v>443</c:v>
                </c:pt>
                <c:pt idx="2">
                  <c:v>315</c:v>
                </c:pt>
                <c:pt idx="3">
                  <c:v>203</c:v>
                </c:pt>
              </c:numCache>
            </c:numRef>
          </c:xVal>
          <c:yVal>
            <c:numRef>
              <c:f>Sheet1!$B$2:$B$5</c:f>
              <c:numCache>
                <c:formatCode>General</c:formatCode>
                <c:ptCount val="4"/>
                <c:pt idx="0">
                  <c:v>1.71</c:v>
                </c:pt>
                <c:pt idx="1">
                  <c:v>9.81</c:v>
                </c:pt>
                <c:pt idx="2">
                  <c:v>20.440000000000001</c:v>
                </c:pt>
                <c:pt idx="3">
                  <c:v>19.829999999999998</c:v>
                </c:pt>
              </c:numCache>
            </c:numRef>
          </c:yVal>
          <c:smooth val="0"/>
          <c:extLst>
            <c:ext xmlns:c16="http://schemas.microsoft.com/office/drawing/2014/chart" uri="{C3380CC4-5D6E-409C-BE32-E72D297353CC}">
              <c16:uniqueId val="{00000004-37E8-46E8-B232-958C07794A1F}"/>
            </c:ext>
          </c:extLst>
        </c:ser>
        <c:ser>
          <c:idx val="1"/>
          <c:order val="1"/>
          <c:tx>
            <c:strRef>
              <c:f>Sheet1!$D$1</c:f>
              <c:strCache>
                <c:ptCount val="1"/>
                <c:pt idx="0">
                  <c:v>Balanced High-Spend</c:v>
                </c:pt>
              </c:strCache>
            </c:strRef>
          </c:tx>
          <c:spPr>
            <a:ln w="19050">
              <a:noFill/>
            </a:ln>
          </c:spPr>
          <c:marker>
            <c:symbol val="circle"/>
            <c:size val="11"/>
            <c:spPr>
              <a:solidFill>
                <a:srgbClr val="15803D"/>
              </a:solidFill>
              <a:ln w="12700">
                <a:solidFill>
                  <a:srgbClr val="FFFFFF"/>
                </a:solidFill>
              </a:ln>
            </c:spPr>
          </c:marker>
          <c:dLbls>
            <c:dLbl>
              <c:idx val="0"/>
              <c:tx>
                <c:rich>
                  <a:bodyPr wrap="square" lIns="0" tIns="0" rIns="0" bIns="0"/>
                  <a:lstStyle/>
                  <a:p>
                    <a:pPr algn="ctr"/>
                    <a:r>
                      <a:rPr lang="en-US" sz="1000" b="1">
                        <a:solidFill>
                          <a:srgbClr val="15803D"/>
                        </a:solidFill>
                        <a:latin typeface="Trebuchet MS"/>
                      </a:rPr>
                      <a:t>Internal Medicine</a:t>
                    </a:r>
                  </a:p>
                </c:rich>
              </c:tx>
              <c:spPr>
                <a:noFill/>
                <a:ln>
                  <a:noFill/>
                </a:ln>
              </c:spPr>
              <c:dLblPos val="l"/>
              <c:showLegendKey val="0"/>
              <c:showVal val="0"/>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showDataLabelsRange val="0"/>
                </c:ext>
                <c:ext xmlns:c16="http://schemas.microsoft.com/office/drawing/2014/chart" uri="{C3380CC4-5D6E-409C-BE32-E72D297353CC}">
                  <c16:uniqueId val="{00000005-37E8-46E8-B232-958C07794A1F}"/>
                </c:ext>
              </c:extLst>
            </c:dLbl>
            <c:dLbl>
              <c:idx val="1"/>
              <c:tx>
                <c:rich>
                  <a:bodyPr wrap="square" lIns="0" tIns="0" rIns="0" bIns="0"/>
                  <a:lstStyle/>
                  <a:p>
                    <a:pPr algn="ctr"/>
                    <a:r>
                      <a:rPr lang="en-US" sz="1000" b="1">
                        <a:solidFill>
                          <a:srgbClr val="15803D"/>
                        </a:solidFill>
                        <a:latin typeface="Trebuchet MS"/>
                      </a:rPr>
                      <a:t>Ophthalmology</a:t>
                    </a:r>
                  </a:p>
                </c:rich>
              </c:tx>
              <c:spPr>
                <a:noFill/>
                <a:ln>
                  <a:noFill/>
                </a:ln>
              </c:spPr>
              <c:dLblPos val="r"/>
              <c:showLegendKey val="0"/>
              <c:showVal val="0"/>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showDataLabelsRange val="0"/>
                </c:ext>
                <c:ext xmlns:c16="http://schemas.microsoft.com/office/drawing/2014/chart" uri="{C3380CC4-5D6E-409C-BE32-E72D297353CC}">
                  <c16:uniqueId val="{00000006-37E8-46E8-B232-958C07794A1F}"/>
                </c:ext>
              </c:extLst>
            </c:dLbl>
            <c:numFmt formatCode="General" sourceLinked="0"/>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Sheet1!$C$2:$C$3</c:f>
              <c:numCache>
                <c:formatCode>General</c:formatCode>
                <c:ptCount val="2"/>
                <c:pt idx="0">
                  <c:v>175.2</c:v>
                </c:pt>
                <c:pt idx="1">
                  <c:v>58.5</c:v>
                </c:pt>
              </c:numCache>
            </c:numRef>
          </c:xVal>
          <c:yVal>
            <c:numRef>
              <c:f>Sheet1!$D$2:$D$3</c:f>
              <c:numCache>
                <c:formatCode>General</c:formatCode>
                <c:ptCount val="2"/>
                <c:pt idx="0">
                  <c:v>41.59</c:v>
                </c:pt>
                <c:pt idx="1">
                  <c:v>123.92</c:v>
                </c:pt>
              </c:numCache>
            </c:numRef>
          </c:yVal>
          <c:smooth val="0"/>
          <c:extLst>
            <c:ext xmlns:c16="http://schemas.microsoft.com/office/drawing/2014/chart" uri="{C3380CC4-5D6E-409C-BE32-E72D297353CC}">
              <c16:uniqueId val="{00000007-37E8-46E8-B232-958C07794A1F}"/>
            </c:ext>
          </c:extLst>
        </c:ser>
        <c:ser>
          <c:idx val="2"/>
          <c:order val="2"/>
          <c:tx>
            <c:strRef>
              <c:f>Sheet1!$F$1</c:f>
              <c:strCache>
                <c:ptCount val="1"/>
                <c:pt idx="0">
                  <c:v>Specialized High-Intensity</c:v>
                </c:pt>
              </c:strCache>
            </c:strRef>
          </c:tx>
          <c:spPr>
            <a:ln w="19050">
              <a:noFill/>
            </a:ln>
          </c:spPr>
          <c:marker>
            <c:symbol val="circle"/>
            <c:size val="11"/>
            <c:spPr>
              <a:solidFill>
                <a:srgbClr val="1B2A41"/>
              </a:solidFill>
              <a:ln w="12700">
                <a:solidFill>
                  <a:srgbClr val="FFFFFF"/>
                </a:solidFill>
              </a:ln>
            </c:spPr>
          </c:marker>
          <c:dLbls>
            <c:dLbl>
              <c:idx val="0"/>
              <c:tx>
                <c:rich>
                  <a:bodyPr wrap="square" lIns="0" tIns="0" rIns="0" bIns="0"/>
                  <a:lstStyle/>
                  <a:p>
                    <a:pPr algn="ctr"/>
                    <a:r>
                      <a:rPr lang="en-US" sz="1000" b="1">
                        <a:solidFill>
                          <a:srgbClr val="1B2A41"/>
                        </a:solidFill>
                        <a:latin typeface="Trebuchet MS"/>
                      </a:rPr>
                      <a:t>Ambulatory Surgical Ctr</a:t>
                    </a:r>
                  </a:p>
                </c:rich>
              </c:tx>
              <c:spPr>
                <a:noFill/>
                <a:ln>
                  <a:noFill/>
                </a:ln>
              </c:spPr>
              <c:dLblPos val="r"/>
              <c:showLegendKey val="0"/>
              <c:showVal val="0"/>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showDataLabelsRange val="0"/>
                </c:ext>
                <c:ext xmlns:c16="http://schemas.microsoft.com/office/drawing/2014/chart" uri="{C3380CC4-5D6E-409C-BE32-E72D297353CC}">
                  <c16:uniqueId val="{00000008-37E8-46E8-B232-958C07794A1F}"/>
                </c:ext>
              </c:extLst>
            </c:dLbl>
            <c:dLbl>
              <c:idx val="1"/>
              <c:tx>
                <c:rich>
                  <a:bodyPr wrap="square" lIns="0" tIns="0" rIns="0" bIns="0"/>
                  <a:lstStyle/>
                  <a:p>
                    <a:pPr algn="ctr"/>
                    <a:r>
                      <a:rPr lang="en-US" sz="1000" b="1">
                        <a:solidFill>
                          <a:srgbClr val="1B2A41"/>
                        </a:solidFill>
                        <a:latin typeface="Trebuchet MS"/>
                      </a:rPr>
                      <a:t>Radiation Oncology</a:t>
                    </a:r>
                  </a:p>
                </c:rich>
              </c:tx>
              <c:spPr>
                <a:noFill/>
                <a:ln>
                  <a:noFill/>
                </a:ln>
              </c:spPr>
              <c:dLblPos val="b"/>
              <c:showLegendKey val="0"/>
              <c:showVal val="0"/>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showDataLabelsRange val="0"/>
                </c:ext>
                <c:ext xmlns:c16="http://schemas.microsoft.com/office/drawing/2014/chart" uri="{C3380CC4-5D6E-409C-BE32-E72D297353CC}">
                  <c16:uniqueId val="{00000009-37E8-46E8-B232-958C07794A1F}"/>
                </c:ext>
              </c:extLst>
            </c:dLbl>
            <c:dLbl>
              <c:idx val="2"/>
              <c:tx>
                <c:rich>
                  <a:bodyPr wrap="square" lIns="0" tIns="0" rIns="0" bIns="0"/>
                  <a:lstStyle/>
                  <a:p>
                    <a:pPr algn="ctr"/>
                    <a:r>
                      <a:rPr lang="en-US" sz="1000" b="1">
                        <a:solidFill>
                          <a:srgbClr val="1B2A41"/>
                        </a:solidFill>
                        <a:latin typeface="Trebuchet MS"/>
                      </a:rPr>
                      <a:t>Neurosurgery</a:t>
                    </a:r>
                  </a:p>
                </c:rich>
              </c:tx>
              <c:spPr>
                <a:noFill/>
                <a:ln>
                  <a:noFill/>
                </a:ln>
              </c:spPr>
              <c:dLblPos val="r"/>
              <c:showLegendKey val="0"/>
              <c:showVal val="0"/>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showDataLabelsRange val="0"/>
                </c:ext>
                <c:ext xmlns:c16="http://schemas.microsoft.com/office/drawing/2014/chart" uri="{C3380CC4-5D6E-409C-BE32-E72D297353CC}">
                  <c16:uniqueId val="{0000000A-37E8-46E8-B232-958C07794A1F}"/>
                </c:ext>
              </c:extLst>
            </c:dLbl>
            <c:dLbl>
              <c:idx val="3"/>
              <c:tx>
                <c:rich>
                  <a:bodyPr wrap="square" lIns="0" tIns="0" rIns="0" bIns="0"/>
                  <a:lstStyle/>
                  <a:p>
                    <a:pPr algn="ctr"/>
                    <a:r>
                      <a:rPr lang="en-US" sz="1000" b="1">
                        <a:solidFill>
                          <a:srgbClr val="1B2A41"/>
                        </a:solidFill>
                        <a:latin typeface="Trebuchet MS"/>
                      </a:rPr>
                      <a:t>Thoracic Surgery</a:t>
                    </a:r>
                  </a:p>
                </c:rich>
              </c:tx>
              <c:spPr>
                <a:noFill/>
                <a:ln>
                  <a:noFill/>
                </a:ln>
              </c:spPr>
              <c:dLblPos val="r"/>
              <c:showLegendKey val="0"/>
              <c:showVal val="0"/>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showDataLabelsRange val="0"/>
                </c:ext>
                <c:ext xmlns:c16="http://schemas.microsoft.com/office/drawing/2014/chart" uri="{C3380CC4-5D6E-409C-BE32-E72D297353CC}">
                  <c16:uniqueId val="{0000000B-37E8-46E8-B232-958C07794A1F}"/>
                </c:ext>
              </c:extLst>
            </c:dLbl>
            <c:dLbl>
              <c:idx val="4"/>
              <c:tx>
                <c:rich>
                  <a:bodyPr wrap="square" lIns="0" tIns="0" rIns="0" bIns="0"/>
                  <a:lstStyle/>
                  <a:p>
                    <a:pPr algn="ctr"/>
                    <a:r>
                      <a:rPr lang="en-US" sz="1000" b="1">
                        <a:solidFill>
                          <a:srgbClr val="1B2A41"/>
                        </a:solidFill>
                        <a:latin typeface="Trebuchet MS"/>
                      </a:rPr>
                      <a:t>Cardiac Surgery</a:t>
                    </a:r>
                  </a:p>
                </c:rich>
              </c:tx>
              <c:spPr>
                <a:noFill/>
                <a:ln>
                  <a:noFill/>
                </a:ln>
              </c:spPr>
              <c:dLblPos val="b"/>
              <c:showLegendKey val="0"/>
              <c:showVal val="0"/>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showDataLabelsRange val="0"/>
                </c:ext>
                <c:ext xmlns:c16="http://schemas.microsoft.com/office/drawing/2014/chart" uri="{C3380CC4-5D6E-409C-BE32-E72D297353CC}">
                  <c16:uniqueId val="{0000000C-37E8-46E8-B232-958C07794A1F}"/>
                </c:ext>
              </c:extLst>
            </c:dLbl>
            <c:numFmt formatCode="General" sourceLinked="0"/>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Sheet1!$E$2:$E$6</c:f>
              <c:numCache>
                <c:formatCode>General</c:formatCode>
                <c:ptCount val="5"/>
                <c:pt idx="0">
                  <c:v>27</c:v>
                </c:pt>
                <c:pt idx="1">
                  <c:v>14.8</c:v>
                </c:pt>
                <c:pt idx="2">
                  <c:v>2.7</c:v>
                </c:pt>
                <c:pt idx="3">
                  <c:v>0.9</c:v>
                </c:pt>
                <c:pt idx="4">
                  <c:v>0.5</c:v>
                </c:pt>
              </c:numCache>
            </c:numRef>
          </c:xVal>
          <c:yVal>
            <c:numRef>
              <c:f>Sheet1!$F$2:$F$6</c:f>
              <c:numCache>
                <c:formatCode>General</c:formatCode>
                <c:ptCount val="5"/>
                <c:pt idx="0">
                  <c:v>177.31</c:v>
                </c:pt>
                <c:pt idx="1">
                  <c:v>98.71</c:v>
                </c:pt>
                <c:pt idx="2">
                  <c:v>208.51</c:v>
                </c:pt>
                <c:pt idx="3">
                  <c:v>276.37</c:v>
                </c:pt>
                <c:pt idx="4">
                  <c:v>271.68</c:v>
                </c:pt>
              </c:numCache>
            </c:numRef>
          </c:yVal>
          <c:smooth val="0"/>
          <c:extLst>
            <c:ext xmlns:c16="http://schemas.microsoft.com/office/drawing/2014/chart" uri="{C3380CC4-5D6E-409C-BE32-E72D297353CC}">
              <c16:uniqueId val="{0000000D-37E8-46E8-B232-958C07794A1F}"/>
            </c:ext>
          </c:extLst>
        </c:ser>
        <c:dLbls>
          <c:showLegendKey val="0"/>
          <c:showVal val="0"/>
          <c:showCatName val="0"/>
          <c:showSerName val="0"/>
          <c:showPercent val="0"/>
          <c:showBubbleSize val="0"/>
        </c:dLbls>
        <c:axId val="111111111"/>
        <c:axId val="222222222"/>
      </c:scatterChart>
      <c:valAx>
        <c:axId val="111111111"/>
        <c:scaling>
          <c:logBase val="10"/>
          <c:orientation val="minMax"/>
          <c:max val="2500"/>
          <c:min val="0.2"/>
        </c:scaling>
        <c:delete val="0"/>
        <c:axPos val="b"/>
        <c:majorGridlines>
          <c:spPr>
            <a:ln w="6350" cap="flat">
              <a:solidFill>
                <a:srgbClr val="EAEFF4"/>
              </a:solidFill>
              <a:prstDash val="solid"/>
              <a:round/>
            </a:ln>
          </c:spPr>
        </c:majorGridlines>
        <c:title>
          <c:tx>
            <c:rich>
              <a:bodyPr rot="0" vert="horz"/>
              <a:lstStyle/>
              <a:p>
                <a:pPr>
                  <a:defRPr sz="1100" b="1">
                    <a:solidFill>
                      <a:srgbClr val="1B2A41"/>
                    </a:solidFill>
                    <a:latin typeface="Trebuchet MS"/>
                  </a:defRPr>
                </a:pPr>
                <a:r>
                  <a:rPr lang="en-US" sz="1100" b="1">
                    <a:solidFill>
                      <a:srgbClr val="1B2A41"/>
                    </a:solidFill>
                    <a:latin typeface="Trebuchet MS"/>
                  </a:rPr>
                  <a:t>Annual Allowed Services — volume, millions (log scale)</a:t>
                </a:r>
              </a:p>
            </c:rich>
          </c:tx>
          <c:overlay val="0"/>
        </c:title>
        <c:numFmt formatCode="#,##0" sourceLinked="0"/>
        <c:majorTickMark val="out"/>
        <c:minorTickMark val="none"/>
        <c:tickLblPos val="nextTo"/>
        <c:spPr>
          <a:ln w="12700" cap="flat">
            <a:solidFill>
              <a:srgbClr val="888888"/>
            </a:solidFill>
            <a:prstDash val="solid"/>
            <a:round/>
          </a:ln>
        </c:spPr>
        <c:txPr>
          <a:bodyPr/>
          <a:lstStyle/>
          <a:p>
            <a:pPr>
              <a:defRPr sz="1000" b="0">
                <a:solidFill>
                  <a:srgbClr val="5A6B7E"/>
                </a:solidFill>
                <a:latin typeface="Calibri"/>
              </a:defRPr>
            </a:pPr>
            <a:endParaRPr lang="en-US"/>
          </a:p>
        </c:txPr>
        <c:crossAx val="222222222"/>
        <c:crosses val="autoZero"/>
        <c:crossBetween val="midCat"/>
      </c:valAx>
      <c:valAx>
        <c:axId val="222222222"/>
        <c:scaling>
          <c:orientation val="minMax"/>
          <c:max val="300"/>
          <c:min val="0"/>
        </c:scaling>
        <c:delete val="0"/>
        <c:axPos val="l"/>
        <c:majorGridlines>
          <c:spPr>
            <a:ln w="6350" cap="flat">
              <a:solidFill>
                <a:srgbClr val="EAEFF4"/>
              </a:solidFill>
              <a:prstDash val="solid"/>
              <a:round/>
            </a:ln>
          </c:spPr>
        </c:majorGridlines>
        <c:title>
          <c:tx>
            <c:rich>
              <a:bodyPr rot="-5400000" vert="horz"/>
              <a:lstStyle/>
              <a:p>
                <a:pPr>
                  <a:defRPr sz="1100" b="1">
                    <a:solidFill>
                      <a:srgbClr val="1B2A41"/>
                    </a:solidFill>
                    <a:latin typeface="Trebuchet MS"/>
                  </a:defRPr>
                </a:pPr>
                <a:r>
                  <a:rPr lang="en-US" sz="1100" b="1">
                    <a:solidFill>
                      <a:srgbClr val="1B2A41"/>
                    </a:solidFill>
                    <a:latin typeface="Trebuchet MS"/>
                  </a:rPr>
                  <a:t>Payment per Service ($)</a:t>
                </a:r>
              </a:p>
            </c:rich>
          </c:tx>
          <c:overlay val="0"/>
        </c:title>
        <c:numFmt formatCode="\$0" sourceLinked="0"/>
        <c:majorTickMark val="out"/>
        <c:minorTickMark val="none"/>
        <c:tickLblPos val="nextTo"/>
        <c:spPr>
          <a:ln w="12700" cap="flat">
            <a:solidFill>
              <a:srgbClr val="888888"/>
            </a:solidFill>
            <a:prstDash val="solid"/>
            <a:round/>
          </a:ln>
        </c:spPr>
        <c:txPr>
          <a:bodyPr/>
          <a:lstStyle/>
          <a:p>
            <a:pPr>
              <a:defRPr sz="1000" b="0">
                <a:solidFill>
                  <a:srgbClr val="5A6B7E"/>
                </a:solidFill>
                <a:latin typeface="Calibri"/>
              </a:defRPr>
            </a:pPr>
            <a:endParaRPr lang="en-US"/>
          </a:p>
        </c:txPr>
        <c:crossAx val="111111111"/>
        <c:crosses val="autoZero"/>
        <c:crossBetween val="midCat"/>
        <c:majorUnit val="50"/>
      </c:valAx>
      <c:spPr>
        <a:noFill/>
        <a:ln>
          <a:noFill/>
        </a:ln>
        <a:effectLst/>
      </c:spPr>
    </c:plotArea>
    <c:plotVisOnly val="1"/>
    <c:dispBlanksAs val="gap"/>
    <c:showDLblsOverMax val="1"/>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Sheet1!$D$1</c:f>
              <c:strCache>
                <c:ptCount val="1"/>
                <c:pt idx="0">
                  <c:v>Specialties (CY 2022, n = 125)</c:v>
                </c:pt>
              </c:strCache>
            </c:strRef>
          </c:tx>
          <c:spPr>
            <a:ln w="19050">
              <a:noFill/>
            </a:ln>
          </c:spPr>
          <c:marker>
            <c:symbol val="circle"/>
            <c:size val="7"/>
            <c:spPr>
              <a:solidFill>
                <a:srgbClr val="0FA3C4">
                  <a:alpha val="80000"/>
                </a:srgbClr>
              </a:solidFill>
              <a:ln w="6350">
                <a:solidFill>
                  <a:srgbClr val="FFFFFF"/>
                </a:solidFill>
              </a:ln>
            </c:spPr>
          </c:marker>
          <c:xVal>
            <c:numRef>
              <c:f>Sheet1!$D$2:$D$126</c:f>
              <c:numCache>
                <c:formatCode>General</c:formatCode>
                <c:ptCount val="125"/>
                <c:pt idx="0">
                  <c:v>7.5821199999999997</c:v>
                </c:pt>
                <c:pt idx="1">
                  <c:v>2.0592999999999999</c:v>
                </c:pt>
                <c:pt idx="2">
                  <c:v>64.958399999999997</c:v>
                </c:pt>
                <c:pt idx="3">
                  <c:v>119.956</c:v>
                </c:pt>
                <c:pt idx="4">
                  <c:v>392.41800000000001</c:v>
                </c:pt>
                <c:pt idx="5">
                  <c:v>4140.41</c:v>
                </c:pt>
                <c:pt idx="6">
                  <c:v>4680.8999999999996</c:v>
                </c:pt>
                <c:pt idx="7">
                  <c:v>32.702300000000001</c:v>
                </c:pt>
                <c:pt idx="8">
                  <c:v>1415.59</c:v>
                </c:pt>
                <c:pt idx="9">
                  <c:v>57.234999999999999</c:v>
                </c:pt>
                <c:pt idx="10">
                  <c:v>578.74199999999996</c:v>
                </c:pt>
                <c:pt idx="11">
                  <c:v>144.554</c:v>
                </c:pt>
                <c:pt idx="12">
                  <c:v>3826.27</c:v>
                </c:pt>
                <c:pt idx="13">
                  <c:v>612.66</c:v>
                </c:pt>
                <c:pt idx="14">
                  <c:v>47.4861</c:v>
                </c:pt>
                <c:pt idx="15">
                  <c:v>4.4935600000000004</c:v>
                </c:pt>
                <c:pt idx="16">
                  <c:v>836.59400000000005</c:v>
                </c:pt>
                <c:pt idx="17">
                  <c:v>520.07799999999997</c:v>
                </c:pt>
                <c:pt idx="18">
                  <c:v>5157.2700000000004</c:v>
                </c:pt>
                <c:pt idx="19">
                  <c:v>574.11400000000003</c:v>
                </c:pt>
                <c:pt idx="20">
                  <c:v>120.67</c:v>
                </c:pt>
                <c:pt idx="21">
                  <c:v>271.09699999999998</c:v>
                </c:pt>
                <c:pt idx="22">
                  <c:v>9.8439300000000003</c:v>
                </c:pt>
                <c:pt idx="23">
                  <c:v>0.55423800000000001</c:v>
                </c:pt>
                <c:pt idx="24">
                  <c:v>2960.47</c:v>
                </c:pt>
                <c:pt idx="25">
                  <c:v>3978.37</c:v>
                </c:pt>
                <c:pt idx="26">
                  <c:v>2085.25</c:v>
                </c:pt>
                <c:pt idx="27">
                  <c:v>538.654</c:v>
                </c:pt>
                <c:pt idx="28">
                  <c:v>4985.63</c:v>
                </c:pt>
                <c:pt idx="29">
                  <c:v>1391.8</c:v>
                </c:pt>
                <c:pt idx="30">
                  <c:v>348.36</c:v>
                </c:pt>
                <c:pt idx="31">
                  <c:v>1339.66</c:v>
                </c:pt>
                <c:pt idx="32">
                  <c:v>157.661</c:v>
                </c:pt>
                <c:pt idx="33">
                  <c:v>11.519</c:v>
                </c:pt>
                <c:pt idx="34">
                  <c:v>109.182</c:v>
                </c:pt>
                <c:pt idx="35">
                  <c:v>221.255</c:v>
                </c:pt>
                <c:pt idx="36">
                  <c:v>170.46199999999999</c:v>
                </c:pt>
                <c:pt idx="37">
                  <c:v>6232.07</c:v>
                </c:pt>
                <c:pt idx="38">
                  <c:v>24.790099999999999</c:v>
                </c:pt>
                <c:pt idx="39">
                  <c:v>0.56133299999999997</c:v>
                </c:pt>
                <c:pt idx="40">
                  <c:v>12.6755</c:v>
                </c:pt>
                <c:pt idx="41">
                  <c:v>55.802799999999998</c:v>
                </c:pt>
                <c:pt idx="42">
                  <c:v>5.7585899999999999</c:v>
                </c:pt>
                <c:pt idx="43">
                  <c:v>970.96100000000001</c:v>
                </c:pt>
                <c:pt idx="44">
                  <c:v>897.125</c:v>
                </c:pt>
                <c:pt idx="45">
                  <c:v>185.4</c:v>
                </c:pt>
                <c:pt idx="46">
                  <c:v>210.46700000000001</c:v>
                </c:pt>
                <c:pt idx="47">
                  <c:v>37.101199999999999</c:v>
                </c:pt>
                <c:pt idx="48">
                  <c:v>582.62800000000004</c:v>
                </c:pt>
                <c:pt idx="49">
                  <c:v>0.38722499999999999</c:v>
                </c:pt>
                <c:pt idx="50">
                  <c:v>3.5777700000000003E-2</c:v>
                </c:pt>
                <c:pt idx="51">
                  <c:v>7556.38</c:v>
                </c:pt>
                <c:pt idx="52">
                  <c:v>941.56</c:v>
                </c:pt>
                <c:pt idx="53">
                  <c:v>335.27800000000002</c:v>
                </c:pt>
                <c:pt idx="54">
                  <c:v>384.23899999999998</c:v>
                </c:pt>
                <c:pt idx="55">
                  <c:v>490.315</c:v>
                </c:pt>
                <c:pt idx="56">
                  <c:v>1.50295</c:v>
                </c:pt>
                <c:pt idx="57">
                  <c:v>992.40700000000004</c:v>
                </c:pt>
                <c:pt idx="58">
                  <c:v>12.0038</c:v>
                </c:pt>
                <c:pt idx="59">
                  <c:v>0.68779299999999999</c:v>
                </c:pt>
                <c:pt idx="60">
                  <c:v>1892.36</c:v>
                </c:pt>
                <c:pt idx="61">
                  <c:v>4401.8999999999996</c:v>
                </c:pt>
                <c:pt idx="62">
                  <c:v>113.815</c:v>
                </c:pt>
                <c:pt idx="63">
                  <c:v>14.3246</c:v>
                </c:pt>
                <c:pt idx="64">
                  <c:v>20.8965</c:v>
                </c:pt>
                <c:pt idx="65">
                  <c:v>108.986</c:v>
                </c:pt>
                <c:pt idx="66">
                  <c:v>7.9138099999999998</c:v>
                </c:pt>
                <c:pt idx="67">
                  <c:v>777.65300000000002</c:v>
                </c:pt>
                <c:pt idx="68">
                  <c:v>0.93982600000000005</c:v>
                </c:pt>
                <c:pt idx="69">
                  <c:v>0.182648</c:v>
                </c:pt>
                <c:pt idx="70">
                  <c:v>209.46199999999999</c:v>
                </c:pt>
                <c:pt idx="71">
                  <c:v>1486.22</c:v>
                </c:pt>
                <c:pt idx="72">
                  <c:v>1598.69</c:v>
                </c:pt>
                <c:pt idx="73">
                  <c:v>8.7593999999999994</c:v>
                </c:pt>
                <c:pt idx="74">
                  <c:v>566.05399999999997</c:v>
                </c:pt>
                <c:pt idx="75">
                  <c:v>133.405</c:v>
                </c:pt>
                <c:pt idx="76">
                  <c:v>5694.15</c:v>
                </c:pt>
                <c:pt idx="77">
                  <c:v>1.11675E-2</c:v>
                </c:pt>
                <c:pt idx="78">
                  <c:v>434.779</c:v>
                </c:pt>
                <c:pt idx="79">
                  <c:v>355.55200000000002</c:v>
                </c:pt>
                <c:pt idx="80">
                  <c:v>4.5625200000000001</c:v>
                </c:pt>
                <c:pt idx="81">
                  <c:v>7367.81</c:v>
                </c:pt>
                <c:pt idx="82">
                  <c:v>183.83199999999999</c:v>
                </c:pt>
                <c:pt idx="83">
                  <c:v>2.37357</c:v>
                </c:pt>
                <c:pt idx="84">
                  <c:v>1035.69</c:v>
                </c:pt>
                <c:pt idx="85">
                  <c:v>50.236800000000002</c:v>
                </c:pt>
                <c:pt idx="86">
                  <c:v>3051.25</c:v>
                </c:pt>
                <c:pt idx="87">
                  <c:v>48.375399999999999</c:v>
                </c:pt>
                <c:pt idx="88">
                  <c:v>939.63699999999994</c:v>
                </c:pt>
                <c:pt idx="89">
                  <c:v>78.864699999999999</c:v>
                </c:pt>
                <c:pt idx="90">
                  <c:v>493.73200000000003</c:v>
                </c:pt>
                <c:pt idx="91">
                  <c:v>1033.97</c:v>
                </c:pt>
                <c:pt idx="92">
                  <c:v>71.735100000000003</c:v>
                </c:pt>
                <c:pt idx="93">
                  <c:v>4.8271600000000001</c:v>
                </c:pt>
                <c:pt idx="94">
                  <c:v>16.662600000000001</c:v>
                </c:pt>
                <c:pt idx="95">
                  <c:v>3230.49</c:v>
                </c:pt>
                <c:pt idx="96">
                  <c:v>959.33199999999999</c:v>
                </c:pt>
                <c:pt idx="97">
                  <c:v>3254.97</c:v>
                </c:pt>
                <c:pt idx="98">
                  <c:v>2699.07</c:v>
                </c:pt>
                <c:pt idx="99">
                  <c:v>293.68299999999999</c:v>
                </c:pt>
                <c:pt idx="100">
                  <c:v>2007.48</c:v>
                </c:pt>
                <c:pt idx="101">
                  <c:v>191.232</c:v>
                </c:pt>
                <c:pt idx="102">
                  <c:v>13.2151</c:v>
                </c:pt>
                <c:pt idx="103">
                  <c:v>723.86</c:v>
                </c:pt>
                <c:pt idx="104">
                  <c:v>9.8987400000000001</c:v>
                </c:pt>
                <c:pt idx="105">
                  <c:v>4.9843999999999999</c:v>
                </c:pt>
                <c:pt idx="106">
                  <c:v>1111.8900000000001</c:v>
                </c:pt>
                <c:pt idx="107">
                  <c:v>1433.28</c:v>
                </c:pt>
                <c:pt idx="108">
                  <c:v>27.131</c:v>
                </c:pt>
                <c:pt idx="109">
                  <c:v>13.2582</c:v>
                </c:pt>
                <c:pt idx="110">
                  <c:v>7.9729999999999992E-3</c:v>
                </c:pt>
                <c:pt idx="111">
                  <c:v>2417.92</c:v>
                </c:pt>
                <c:pt idx="112">
                  <c:v>23.086500000000001</c:v>
                </c:pt>
                <c:pt idx="113">
                  <c:v>0.13674800000000001</c:v>
                </c:pt>
                <c:pt idx="114">
                  <c:v>51.0167</c:v>
                </c:pt>
                <c:pt idx="115">
                  <c:v>1.71963</c:v>
                </c:pt>
                <c:pt idx="116">
                  <c:v>69.162800000000004</c:v>
                </c:pt>
                <c:pt idx="117">
                  <c:v>158.476</c:v>
                </c:pt>
                <c:pt idx="118">
                  <c:v>71.239999999999995</c:v>
                </c:pt>
                <c:pt idx="119">
                  <c:v>241.4</c:v>
                </c:pt>
                <c:pt idx="120">
                  <c:v>21.0595</c:v>
                </c:pt>
                <c:pt idx="121">
                  <c:v>40.056199999999997</c:v>
                </c:pt>
                <c:pt idx="122">
                  <c:v>0.47445399999999999</c:v>
                </c:pt>
                <c:pt idx="123">
                  <c:v>1683.36</c:v>
                </c:pt>
                <c:pt idx="124">
                  <c:v>843.53899999999999</c:v>
                </c:pt>
              </c:numCache>
            </c:numRef>
          </c:xVal>
          <c:yVal>
            <c:numRef>
              <c:f>Sheet1!$E$2:$E$126</c:f>
              <c:numCache>
                <c:formatCode>General</c:formatCode>
                <c:ptCount val="125"/>
                <c:pt idx="0">
                  <c:v>7.45282</c:v>
                </c:pt>
                <c:pt idx="1">
                  <c:v>1.99095</c:v>
                </c:pt>
                <c:pt idx="2">
                  <c:v>63.374400000000001</c:v>
                </c:pt>
                <c:pt idx="3">
                  <c:v>129.208</c:v>
                </c:pt>
                <c:pt idx="4">
                  <c:v>383.64</c:v>
                </c:pt>
                <c:pt idx="5">
                  <c:v>4198.2</c:v>
                </c:pt>
                <c:pt idx="6">
                  <c:v>4785.8599999999997</c:v>
                </c:pt>
                <c:pt idx="7">
                  <c:v>33.147399999999998</c:v>
                </c:pt>
                <c:pt idx="8">
                  <c:v>1436.35</c:v>
                </c:pt>
                <c:pt idx="9">
                  <c:v>52.050199999999997</c:v>
                </c:pt>
                <c:pt idx="10">
                  <c:v>566.375</c:v>
                </c:pt>
                <c:pt idx="11">
                  <c:v>147.33699999999999</c:v>
                </c:pt>
                <c:pt idx="12">
                  <c:v>3719.64</c:v>
                </c:pt>
                <c:pt idx="13">
                  <c:v>776.298</c:v>
                </c:pt>
                <c:pt idx="14">
                  <c:v>44.7913</c:v>
                </c:pt>
                <c:pt idx="15">
                  <c:v>4.31114</c:v>
                </c:pt>
                <c:pt idx="16">
                  <c:v>856.28899999999999</c:v>
                </c:pt>
                <c:pt idx="17">
                  <c:v>469.077</c:v>
                </c:pt>
                <c:pt idx="18">
                  <c:v>6447.93</c:v>
                </c:pt>
                <c:pt idx="19">
                  <c:v>569.04499999999996</c:v>
                </c:pt>
                <c:pt idx="20">
                  <c:v>120.22499999999999</c:v>
                </c:pt>
                <c:pt idx="21">
                  <c:v>273.416</c:v>
                </c:pt>
                <c:pt idx="22">
                  <c:v>9.8639399999999995</c:v>
                </c:pt>
                <c:pt idx="23">
                  <c:v>0.53399200000000002</c:v>
                </c:pt>
                <c:pt idx="24">
                  <c:v>2826.72</c:v>
                </c:pt>
                <c:pt idx="25">
                  <c:v>4021.73</c:v>
                </c:pt>
                <c:pt idx="26">
                  <c:v>2214.6799999999998</c:v>
                </c:pt>
                <c:pt idx="27">
                  <c:v>514.14400000000001</c:v>
                </c:pt>
                <c:pt idx="28">
                  <c:v>4631.29</c:v>
                </c:pt>
                <c:pt idx="29">
                  <c:v>1378.52</c:v>
                </c:pt>
                <c:pt idx="30">
                  <c:v>340.03100000000001</c:v>
                </c:pt>
                <c:pt idx="31">
                  <c:v>1347.33</c:v>
                </c:pt>
                <c:pt idx="32">
                  <c:v>148.84200000000001</c:v>
                </c:pt>
                <c:pt idx="33">
                  <c:v>11.132</c:v>
                </c:pt>
                <c:pt idx="34">
                  <c:v>108.41500000000001</c:v>
                </c:pt>
                <c:pt idx="35">
                  <c:v>213.959</c:v>
                </c:pt>
                <c:pt idx="36">
                  <c:v>170.39500000000001</c:v>
                </c:pt>
                <c:pt idx="37">
                  <c:v>6303.32</c:v>
                </c:pt>
                <c:pt idx="38">
                  <c:v>24.765699999999999</c:v>
                </c:pt>
                <c:pt idx="39">
                  <c:v>0.48409400000000002</c:v>
                </c:pt>
                <c:pt idx="40">
                  <c:v>12.7202</c:v>
                </c:pt>
                <c:pt idx="41">
                  <c:v>55.831699999999998</c:v>
                </c:pt>
                <c:pt idx="42">
                  <c:v>5.5957999999999997</c:v>
                </c:pt>
                <c:pt idx="43">
                  <c:v>984.048</c:v>
                </c:pt>
                <c:pt idx="44">
                  <c:v>895.86900000000003</c:v>
                </c:pt>
                <c:pt idx="45">
                  <c:v>186.72900000000001</c:v>
                </c:pt>
                <c:pt idx="46">
                  <c:v>212.41</c:v>
                </c:pt>
                <c:pt idx="47">
                  <c:v>37.427100000000003</c:v>
                </c:pt>
                <c:pt idx="48">
                  <c:v>584.89800000000002</c:v>
                </c:pt>
                <c:pt idx="49">
                  <c:v>0.38774799999999998</c:v>
                </c:pt>
                <c:pt idx="50">
                  <c:v>3.5123300000000003E-2</c:v>
                </c:pt>
                <c:pt idx="51">
                  <c:v>7288.54</c:v>
                </c:pt>
                <c:pt idx="52">
                  <c:v>923.36699999999996</c:v>
                </c:pt>
                <c:pt idx="53">
                  <c:v>331.77699999999999</c:v>
                </c:pt>
                <c:pt idx="54">
                  <c:v>387.48200000000003</c:v>
                </c:pt>
                <c:pt idx="55">
                  <c:v>477.298</c:v>
                </c:pt>
                <c:pt idx="56">
                  <c:v>1.8332200000000001</c:v>
                </c:pt>
                <c:pt idx="57">
                  <c:v>1257.25</c:v>
                </c:pt>
                <c:pt idx="58">
                  <c:v>11.6967</c:v>
                </c:pt>
                <c:pt idx="59">
                  <c:v>0.65045500000000001</c:v>
                </c:pt>
                <c:pt idx="60">
                  <c:v>1910.12</c:v>
                </c:pt>
                <c:pt idx="61">
                  <c:v>4348.3900000000003</c:v>
                </c:pt>
                <c:pt idx="62">
                  <c:v>113.97199999999999</c:v>
                </c:pt>
                <c:pt idx="63">
                  <c:v>14.2591</c:v>
                </c:pt>
                <c:pt idx="64">
                  <c:v>20.72</c:v>
                </c:pt>
                <c:pt idx="65">
                  <c:v>108.90300000000001</c:v>
                </c:pt>
                <c:pt idx="66">
                  <c:v>7.6752900000000004</c:v>
                </c:pt>
                <c:pt idx="67">
                  <c:v>753.53700000000003</c:v>
                </c:pt>
                <c:pt idx="68">
                  <c:v>0.95937799999999995</c:v>
                </c:pt>
                <c:pt idx="69">
                  <c:v>0.229936</c:v>
                </c:pt>
                <c:pt idx="70">
                  <c:v>210.108</c:v>
                </c:pt>
                <c:pt idx="71">
                  <c:v>1471.78</c:v>
                </c:pt>
                <c:pt idx="72">
                  <c:v>1555.61</c:v>
                </c:pt>
                <c:pt idx="73">
                  <c:v>8.4750099999999993</c:v>
                </c:pt>
                <c:pt idx="74">
                  <c:v>573.18100000000004</c:v>
                </c:pt>
                <c:pt idx="75">
                  <c:v>134.87700000000001</c:v>
                </c:pt>
                <c:pt idx="76">
                  <c:v>5545.31</c:v>
                </c:pt>
                <c:pt idx="77">
                  <c:v>1.08278E-2</c:v>
                </c:pt>
                <c:pt idx="78">
                  <c:v>429.09399999999999</c:v>
                </c:pt>
                <c:pt idx="79">
                  <c:v>349.08699999999999</c:v>
                </c:pt>
                <c:pt idx="80">
                  <c:v>4.4991399999999997</c:v>
                </c:pt>
                <c:pt idx="81">
                  <c:v>7249.78</c:v>
                </c:pt>
                <c:pt idx="82">
                  <c:v>230.315</c:v>
                </c:pt>
                <c:pt idx="83">
                  <c:v>2.27298</c:v>
                </c:pt>
                <c:pt idx="84">
                  <c:v>889.99699999999996</c:v>
                </c:pt>
                <c:pt idx="85">
                  <c:v>50.331000000000003</c:v>
                </c:pt>
                <c:pt idx="86">
                  <c:v>2999.4</c:v>
                </c:pt>
                <c:pt idx="87">
                  <c:v>47.114199999999997</c:v>
                </c:pt>
                <c:pt idx="88">
                  <c:v>900.76099999999997</c:v>
                </c:pt>
                <c:pt idx="89">
                  <c:v>77.136300000000006</c:v>
                </c:pt>
                <c:pt idx="90">
                  <c:v>489.23700000000002</c:v>
                </c:pt>
                <c:pt idx="91">
                  <c:v>1053.79</c:v>
                </c:pt>
                <c:pt idx="92">
                  <c:v>70.111599999999996</c:v>
                </c:pt>
                <c:pt idx="93">
                  <c:v>4.8307500000000001</c:v>
                </c:pt>
                <c:pt idx="94">
                  <c:v>16.666799999999999</c:v>
                </c:pt>
                <c:pt idx="95">
                  <c:v>3249.75</c:v>
                </c:pt>
                <c:pt idx="96">
                  <c:v>951.87099999999998</c:v>
                </c:pt>
                <c:pt idx="97">
                  <c:v>3145.7</c:v>
                </c:pt>
                <c:pt idx="98">
                  <c:v>2591.16</c:v>
                </c:pt>
                <c:pt idx="99">
                  <c:v>294.52199999999999</c:v>
                </c:pt>
                <c:pt idx="100">
                  <c:v>1939.12</c:v>
                </c:pt>
                <c:pt idx="101">
                  <c:v>187.51499999999999</c:v>
                </c:pt>
                <c:pt idx="102">
                  <c:v>13.2072</c:v>
                </c:pt>
                <c:pt idx="103">
                  <c:v>693.66200000000003</c:v>
                </c:pt>
                <c:pt idx="104">
                  <c:v>9.7526299999999999</c:v>
                </c:pt>
                <c:pt idx="105">
                  <c:v>6.2522799999999998</c:v>
                </c:pt>
                <c:pt idx="106">
                  <c:v>1105.1400000000001</c:v>
                </c:pt>
                <c:pt idx="107">
                  <c:v>1462.9</c:v>
                </c:pt>
                <c:pt idx="108">
                  <c:v>27.54</c:v>
                </c:pt>
                <c:pt idx="109">
                  <c:v>15.6805</c:v>
                </c:pt>
                <c:pt idx="110">
                  <c:v>7.8211600000000006E-3</c:v>
                </c:pt>
                <c:pt idx="111">
                  <c:v>2408.67</c:v>
                </c:pt>
                <c:pt idx="112">
                  <c:v>23.3903</c:v>
                </c:pt>
                <c:pt idx="113">
                  <c:v>0.132795</c:v>
                </c:pt>
                <c:pt idx="114">
                  <c:v>48.654800000000002</c:v>
                </c:pt>
                <c:pt idx="115">
                  <c:v>1.66605</c:v>
                </c:pt>
                <c:pt idx="116">
                  <c:v>69.184899999999999</c:v>
                </c:pt>
                <c:pt idx="117">
                  <c:v>151.88499999999999</c:v>
                </c:pt>
                <c:pt idx="118">
                  <c:v>71.244100000000003</c:v>
                </c:pt>
                <c:pt idx="119">
                  <c:v>246.32499999999999</c:v>
                </c:pt>
                <c:pt idx="120">
                  <c:v>21.256799999999998</c:v>
                </c:pt>
                <c:pt idx="121">
                  <c:v>39.747900000000001</c:v>
                </c:pt>
                <c:pt idx="122">
                  <c:v>0.45702300000000001</c:v>
                </c:pt>
                <c:pt idx="123">
                  <c:v>1646.52</c:v>
                </c:pt>
                <c:pt idx="124">
                  <c:v>850.327</c:v>
                </c:pt>
              </c:numCache>
            </c:numRef>
          </c:yVal>
          <c:smooth val="0"/>
          <c:extLst>
            <c:ext xmlns:c16="http://schemas.microsoft.com/office/drawing/2014/chart" uri="{C3380CC4-5D6E-409C-BE32-E72D297353CC}">
              <c16:uniqueId val="{00000000-C264-4855-AFCD-946297C64121}"/>
            </c:ext>
          </c:extLst>
        </c:ser>
        <c:ser>
          <c:idx val="1"/>
          <c:order val="1"/>
          <c:tx>
            <c:strRef>
              <c:f>Sheet1!$A$1</c:f>
              <c:strCache>
                <c:ptCount val="1"/>
                <c:pt idx="0">
                  <c:v>Perfect fit (y = x)</c:v>
                </c:pt>
              </c:strCache>
            </c:strRef>
          </c:tx>
          <c:spPr>
            <a:ln w="19050" cap="rnd">
              <a:solidFill>
                <a:srgbClr val="1B2A41"/>
              </a:solidFill>
              <a:prstDash val="dash"/>
            </a:ln>
          </c:spPr>
          <c:marker>
            <c:symbol val="none"/>
          </c:marker>
          <c:xVal>
            <c:numRef>
              <c:f>Sheet1!$A$2:$A$3</c:f>
              <c:numCache>
                <c:formatCode>General</c:formatCode>
                <c:ptCount val="2"/>
                <c:pt idx="0">
                  <c:v>5.0000000000000001E-3</c:v>
                </c:pt>
                <c:pt idx="1">
                  <c:v>10000</c:v>
                </c:pt>
              </c:numCache>
            </c:numRef>
          </c:xVal>
          <c:yVal>
            <c:numRef>
              <c:f>Sheet1!$C$2:$C$3</c:f>
              <c:numCache>
                <c:formatCode>General</c:formatCode>
                <c:ptCount val="2"/>
                <c:pt idx="0">
                  <c:v>5.0000000000000001E-3</c:v>
                </c:pt>
                <c:pt idx="1">
                  <c:v>10000</c:v>
                </c:pt>
              </c:numCache>
            </c:numRef>
          </c:yVal>
          <c:smooth val="0"/>
          <c:extLst>
            <c:ext xmlns:c16="http://schemas.microsoft.com/office/drawing/2014/chart" uri="{C3380CC4-5D6E-409C-BE32-E72D297353CC}">
              <c16:uniqueId val="{00000001-C264-4855-AFCD-946297C64121}"/>
            </c:ext>
          </c:extLst>
        </c:ser>
        <c:dLbls>
          <c:showLegendKey val="0"/>
          <c:showVal val="0"/>
          <c:showCatName val="0"/>
          <c:showSerName val="0"/>
          <c:showPercent val="0"/>
          <c:showBubbleSize val="0"/>
        </c:dLbls>
        <c:axId val="311111111"/>
        <c:axId val="322222222"/>
      </c:scatterChart>
      <c:valAx>
        <c:axId val="311111111"/>
        <c:scaling>
          <c:logBase val="10"/>
          <c:orientation val="minMax"/>
          <c:max val="10000"/>
          <c:min val="5.0000000000000001E-3"/>
        </c:scaling>
        <c:delete val="0"/>
        <c:axPos val="b"/>
        <c:majorGridlines>
          <c:spPr>
            <a:ln w="6350" cap="flat">
              <a:solidFill>
                <a:srgbClr val="EAEFF4"/>
              </a:solidFill>
              <a:prstDash val="solid"/>
              <a:round/>
            </a:ln>
          </c:spPr>
        </c:majorGridlines>
        <c:title>
          <c:tx>
            <c:rich>
              <a:bodyPr rot="0" vert="horz"/>
              <a:lstStyle/>
              <a:p>
                <a:pPr>
                  <a:defRPr sz="1100" b="1">
                    <a:solidFill>
                      <a:srgbClr val="1B2A41"/>
                    </a:solidFill>
                    <a:latin typeface="Trebuchet MS"/>
                  </a:defRPr>
                </a:pPr>
                <a:r>
                  <a:rPr lang="en-US" sz="1100" b="1">
                    <a:solidFill>
                      <a:srgbClr val="1B2A41"/>
                    </a:solidFill>
                    <a:latin typeface="Trebuchet MS"/>
                  </a:rPr>
                  <a:t>Model-predicted payment ($M, log scale)</a:t>
                </a:r>
              </a:p>
            </c:rich>
          </c:tx>
          <c:overlay val="0"/>
        </c:title>
        <c:numFmt formatCode="[&gt;=1]\$#,##0;\$#,##0.##" sourceLinked="0"/>
        <c:majorTickMark val="out"/>
        <c:minorTickMark val="none"/>
        <c:tickLblPos val="nextTo"/>
        <c:spPr>
          <a:ln w="12700" cap="flat">
            <a:solidFill>
              <a:srgbClr val="888888"/>
            </a:solidFill>
            <a:prstDash val="solid"/>
            <a:round/>
          </a:ln>
        </c:spPr>
        <c:txPr>
          <a:bodyPr/>
          <a:lstStyle/>
          <a:p>
            <a:pPr>
              <a:defRPr sz="1000" b="0">
                <a:solidFill>
                  <a:srgbClr val="5A6B7E"/>
                </a:solidFill>
                <a:latin typeface="Calibri"/>
              </a:defRPr>
            </a:pPr>
            <a:endParaRPr lang="en-US"/>
          </a:p>
        </c:txPr>
        <c:crossAx val="322222222"/>
        <c:crosses val="min"/>
        <c:crossBetween val="midCat"/>
      </c:valAx>
      <c:valAx>
        <c:axId val="322222222"/>
        <c:scaling>
          <c:logBase val="10"/>
          <c:orientation val="minMax"/>
          <c:max val="10000"/>
          <c:min val="5.0000000000000001E-3"/>
        </c:scaling>
        <c:delete val="0"/>
        <c:axPos val="l"/>
        <c:majorGridlines>
          <c:spPr>
            <a:ln w="6350" cap="flat">
              <a:solidFill>
                <a:srgbClr val="EAEFF4"/>
              </a:solidFill>
              <a:prstDash val="solid"/>
              <a:round/>
            </a:ln>
          </c:spPr>
        </c:majorGridlines>
        <c:title>
          <c:tx>
            <c:rich>
              <a:bodyPr rot="-5400000" vert="horz"/>
              <a:lstStyle/>
              <a:p>
                <a:pPr>
                  <a:defRPr sz="1100" b="1">
                    <a:solidFill>
                      <a:srgbClr val="1B2A41"/>
                    </a:solidFill>
                    <a:latin typeface="Trebuchet MS"/>
                  </a:defRPr>
                </a:pPr>
                <a:r>
                  <a:rPr lang="en-US" sz="1100" b="1">
                    <a:solidFill>
                      <a:srgbClr val="1B2A41"/>
                    </a:solidFill>
                    <a:latin typeface="Trebuchet MS"/>
                  </a:rPr>
                  <a:t>Actual payment ($M, log scale)</a:t>
                </a:r>
              </a:p>
            </c:rich>
          </c:tx>
          <c:overlay val="0"/>
        </c:title>
        <c:numFmt formatCode="[&gt;=1]\$#,##0;\$#,##0.##" sourceLinked="0"/>
        <c:majorTickMark val="out"/>
        <c:minorTickMark val="none"/>
        <c:tickLblPos val="nextTo"/>
        <c:spPr>
          <a:ln w="12700" cap="flat">
            <a:solidFill>
              <a:srgbClr val="888888"/>
            </a:solidFill>
            <a:prstDash val="solid"/>
            <a:round/>
          </a:ln>
        </c:spPr>
        <c:txPr>
          <a:bodyPr/>
          <a:lstStyle/>
          <a:p>
            <a:pPr>
              <a:defRPr sz="1000" b="0">
                <a:solidFill>
                  <a:srgbClr val="5A6B7E"/>
                </a:solidFill>
                <a:latin typeface="Calibri"/>
              </a:defRPr>
            </a:pPr>
            <a:endParaRPr lang="en-US"/>
          </a:p>
        </c:txPr>
        <c:crossAx val="311111111"/>
        <c:crosses val="min"/>
        <c:crossBetween val="midCat"/>
      </c:valAx>
      <c:spPr>
        <a:noFill/>
        <a:ln>
          <a:noFill/>
        </a:ln>
        <a:effectLst/>
      </c:spPr>
    </c:plotArea>
    <c:legend>
      <c:legendPos val="b"/>
      <c:overlay val="0"/>
      <c:txPr>
        <a:bodyPr/>
        <a:lstStyle/>
        <a:p>
          <a:pPr>
            <a:defRPr sz="1000" b="0">
              <a:solidFill>
                <a:srgbClr val="5A6B7E"/>
              </a:solidFill>
              <a:latin typeface="Calibri"/>
            </a:defRPr>
          </a:pPr>
          <a:endParaRPr lang="en-US"/>
        </a:p>
      </c:txPr>
    </c:legend>
    <c:plotVisOnly val="1"/>
    <c:dispBlanksAs val="gap"/>
    <c:showDLblsOverMax val="1"/>
  </c:chart>
  <c:spPr>
    <a:solidFill>
      <a:srgbClr val="FFFFFF"/>
    </a:solidFill>
    <a:ln>
      <a:noFill/>
    </a:ln>
    <a:effectLst/>
  </c:spPr>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8/10/2026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and set the frame: this is an analyst deep-dive into Medicare Part B physician and supplier spending and utilization, using CMS national summary data for calendar years 2022 through 2024. The four chips preview the headline numbers we'll unpack — $131.7 billion paid in 2024, up 13.6 percent over two years, about six billion services, across more than a hundred provider specialties. Tell the audience the goal: understand which specialties drive spending and how cost intensity is shifting, then turn that into where to focus. If leadership is in the room, point them to the next slide, the one-page bottom line.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one-pager for leadership. Open here if you have five minutes: this single slide carries the whole story. Medicare Part B physician and supplier payments reached $131.7 billion in 2024 — up 13.6 percent over two years — but the pace is cooling, from 8.4 percent growth in 2023 to 4.8 percent in 2024. The reimbursement rate is remarkably steady at about 77 percent of allowed charges. Spending is concentrated: the top ten specialties account for roughly $54.8 billion, split between high-volume commodity fields and high-intensity surgery, a 160-fold spread in cost per service. Land three actions: focus on the balanced high-spend core, watch drug-driven charge growth, and match cost-management levers to each specialty segment rather than applying one blanket policy. The slides that follow provide the supporting detail.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2024 at a glance. This is the most recent complete year of Part B physician and supplier activity in six headline metrics. Medicare paid $131.7 billion against $171.4 billion of allowed charges, across about six billion services. On a per-service basis that's $22.08 paid and $28.74 charged, for a payment rate of 76.8 percent. The point to make: these six numbers are the vocabulary for the whole deck — every specialty later is measured on the same volume, charge, payment, and rate dimensions. Don't dwell; this orients the audience before we go into trends.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 scope and population. Be clear about what this analysis is and is not. It covers national Medicare Part B physician and supplier expenditures and services by specialty for 2022 through 2024 — aggregated public-use summary data, not beneficiary-level claims, and Original Medicare only, excluding Medicare Advantage. The primary question driving everything is which specialties drive utilization and spending, and how cost intensity shifted. The counters give the shape of the data: three years, over a hundred specialties, eight metrics per record, roughly 391 specialty-year rows. Setting these boundaries up front prevents over-reading the numbers later.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National spending trend — the first finding. Total Medicare payments climbed from $115.9 billion in 2022 to $125.7 billion in 2023 to $131.7 billion in 2024, up 13.6 percent over the two years. But the important nuance is on the right: growth is decelerating, from plus 8.4 percent in 2023 to plus 4.8 percent in 2024. Spend keeps setting records while the pace cools — which usually points to volume and service-mix effects rather than runaway unit prices. That distinction sets up the next two slides.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Charges versus payments. Allowed charges rose from $150 billion to $171.4 billion while payments tracked alongside, so the payment rate barely moves — 77.3 percent in 2022, 77.1 in 2023, 76.8 in 2024. The takeaway: roughly 77 cents on every approved dollar is paid, year after year. The slight dip in 2024 is a modest shift in service mix toward lower-reimbursed categories, not a policy change. For leadership, the reassuring message is that reimbursement generosity is stable and predictable — the action is in volume and mix, not the rate.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versus unit cost — why 2024's growth was different. On the left, allowed services peaked at 6.14 billion in 2023 then eased to 5.96 billion in 2024. On the right, payment per service dipped to $20.47 in 2023, then rebounded to $22.08 in 2024. Read them together: 2024's spending growth was driven more by higher unit cost than by more services — it was price-led, not volume-led. This is the mechanism behind the cooling-but-still-rising trend, and it's the kind of shift worth watching as a leading indicator.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ten specialties by payment, on the CY 2022 baseline — the year with complete specialty-level detail in this extract. Internal Medicine leads at $7.29 billion, essentially tied with Ophthalmology at $7.25 billion, followed by Clinical Laboratory, Hematology-Oncology, and Nurse Practitioners. The top ten together account for about $54.8 billion. Note the mix of archetypes even inside the top ten: high-volume primary care and labs alongside drug-heavy oncology and ophthalmology. The next slide spotlights the number-one specialty to make the volume-versus-intensity contrast concrete.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Specialty spotlight on Internal Medicine, the number-one specialty by Medicare payment. In 2022 it drew $7.29 billion — the largest of any specialty — but the story is volume, not price. Internal Medicine bills about 175 million services a year, the highest physician volume in the data, at just $41.59 per service. Modest unit prices times enormous throughput equal the biggest payment total. On $9.83 billion of allowed charges, Medicare pays 74.1 percent, a touch below the roughly 77 percent national norm, consistent with a routine-visit mix. The contrast on the right is the key teaching point: Internal Medicine and Ophthalmology each paid about $7.3 billion, yet Internal Medicine got there with three times the services at one-third the unit price. Same spend, opposite shape — which is exactly why cost-management levers have to be matched to a specialty's archetype. Internal Medicine is the clearest example of the balanced high-spend core and the single biggest budget lever.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drives the top of the ranking — four distinct engines. Primary-care volume: Internal Medicine, Family Practice, and Nurse Practitioners bill enormous service counts at modest prices, so aggregate spend is huge. Drug-heavy specialties: Hematology-Oncology and Ophthalmology pair procedures with high-cost drugs and injectables, lifting charges well beyond a typical visit. Diagnostic infrastructure: Clinical Laboratory and Diagnostic Radiology run massive test and imaging volumes at commodity prices. And supplier channels: surgical centers, ambulance, and medical-supply firms convert facility and equipment demand into large totals. Different levers apply to each — that's the through-line.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faces of spend, side by side. On the left, volume leaders by 2022 allowed services — Pharmacy at 1.9 billion services at just $1.71 each, then medical supply, oncology, labs, and radiology. On the right, intensity leaders by payment per service — thoracic and cardiac surgery and neurosurgery, north of $200 per service on tiny volumes. Same program, opposite economics: one group is pennies times billions, the other is hundreds times thousands. The reason this matters is on the next slides — a single cost-management policy can't fit both ends.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cost-intensity spectrum, quantified. Payment per service ranges from $1.71 for Pharmacy dispensing to $276 for thoracic surgery — a roughly 160-fold spread across specialties. Walk up the ladder: labs and internal medicine in the tens of dollars, ophthalmology and surgical centers in the low hundreds, complex surgery at the top. The implication for leadership: total spend and unit cost tell different stories, and any cost-management lever must be matched to the right group — volume and pricing controls for the commodity end, clinical-appropriateness review for the intensive end.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Segmentation pulls it together into three natural archetypes from k-means on volume, payment, unit cost, and payment rate. One: high-volume commodity — labs, pharmacy, imaging, supplies — low unit cost, immense throughput, managed through pricing and volume controls. Two: balanced high-spend — internal medicine, family practice, nurse practitioners, ophthalmology — moderate cost at large scale, the core of aggregate spending and the biggest budget lever. Three: specialized high-intensity — cardiac, thoracic, neurosurgery, oncology — low volume, very high cost per service, managed through appropriateness and clinical review. These three buckets are how to think about where policy applies.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now fitted on the full record-level file you shared — all 125 provider specialties in the CY 2022 cross-section, not a handful of illustrative points</a:t>
            </a:r>
            <a:r>
              <a:rPr lang="en-US" dirty="0"/>
              <a:t>. </a:t>
            </a:r>
            <a:r>
              <a:rPr lang="en-US"/>
              <a:t>Regressing log payment </a:t>
            </a:r>
            <a:r>
              <a:rPr lang="en-US" dirty="0"/>
              <a:t>on </a:t>
            </a:r>
            <a:r>
              <a:rPr lang="en-US"/>
              <a:t>log </a:t>
            </a:r>
            <a:r>
              <a:rPr lang="en-US" dirty="0"/>
              <a:t>service</a:t>
            </a:r>
            <a:r>
              <a:rPr lang="en-US"/>
              <a:t> volume and log charge-per-service gives R-squared of 0.9995, both elasticities essentially 1.0 (0.998 for volume</a:t>
            </a:r>
            <a:r>
              <a:rPr lang="en-US" dirty="0"/>
              <a:t>, </a:t>
            </a:r>
            <a:r>
              <a:rPr lang="en-US"/>
              <a:t>0.994 for unit price), a 70/30 holdout test </a:t>
            </a:r>
            <a:r>
              <a:rPr lang="en-US" dirty="0"/>
              <a:t>R-squared </a:t>
            </a:r>
            <a:r>
              <a:rPr lang="en-US"/>
              <a:t>of 1.00</a:t>
            </a:r>
            <a:r>
              <a:rPr lang="en-US" dirty="0"/>
              <a:t>, </a:t>
            </a:r>
            <a:r>
              <a:rPr lang="en-US"/>
              <a:t>and a median payment miss under 2 percent. In plain terms: a specialty's Medicare payment is almost fully explained by how many services it bills </a:t>
            </a:r>
            <a:r>
              <a:rPr lang="en-US" dirty="0"/>
              <a:t>and </a:t>
            </a:r>
            <a:r>
              <a:rPr lang="en-US"/>
              <a:t>the price of each</a:t>
            </a:r>
            <a:r>
              <a:rPr lang="en-US" dirty="0"/>
              <a:t>. </a:t>
            </a:r>
            <a:r>
              <a:rPr lang="en-US"/>
              <a:t>Be candid about why the fit is this tight — payment equals </a:t>
            </a:r>
            <a:r>
              <a:rPr lang="en-US" dirty="0"/>
              <a:t>volume </a:t>
            </a:r>
            <a:r>
              <a:rPr lang="en-US"/>
              <a:t>times </a:t>
            </a:r>
            <a:r>
              <a:rPr lang="en-US" dirty="0"/>
              <a:t>price </a:t>
            </a:r>
            <a:r>
              <a:rPr lang="en-US"/>
              <a:t>times the payment rate by construction, and Medicare's payment rate is remarkably uniform (mean about 78 percent, mostly 74 to 79), so the model confirms the cost structure rather than uncovering hidden drivers. Its real value is that certainty: there is no missing variable inflating spend. Standardized coefficients make service volume </a:t>
            </a:r>
            <a:r>
              <a:rPr lang="en-US" dirty="0"/>
              <a:t>the dominant </a:t>
            </a:r>
            <a:r>
              <a:rPr lang="en-US"/>
              <a:t>driver </a:t>
            </a:r>
            <a:r>
              <a:rPr lang="en-US" dirty="0"/>
              <a:t>of </a:t>
            </a:r>
            <a:r>
              <a:rPr lang="en-US"/>
              <a:t>the cross-specialty payment spread, with unit price secondary. One honest correction from last version: the strong negative volume-to-unit-cost elasticity I showed earlier held only among the largest specialties; across all 125 it nearly disappears (about negative 0.09), so I have dropped that claim</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Two things on this slide. First, the scatter makes the fit visible: each dot is one of the 125 CY 2022 specialties, plotting the model's predicted payment against actual payment, both in millions of dollars on a log scale so we can see everything from the smallest specialty to Internal Medicine on one panel. The points sit almost exactly on the diagonal, which is a perfect prediction — and refitting the model on 2023 and 2024 lands in exactly the same place. Second, the year-over-year question: with the complete workbook we now have full per-specialty records for all three years, so I refit the same log-log model independently on each one rather than leaning on a partial-overlap proxy. The picture is the same every year: 125 specialties in 2022 at R-squared 0.9995, 128 in 2023 at 0.9996, and 134 in 2024 at 0.9997, with the volume elasticity pinned at 1.00 in all three. The national payment rate barely moves alongside it — 77.3, then 77.1, then 76.8 percent. Be candid about why it is this stable: payment equals volume times price times the payment rate by construction, and that rate is nearly constant, so the relationship reproduces every year rather than being a one-year artifact. What the full data buys us over the earlier check is confidence — this is now three complete cross-sections, not an extrapolation from shared specialties.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findings — the synthesis, four points. One: spending keeps rising but growth is cooling, $131.7 billion in 2024, up 13.6 percent over two years, with annual growth slowing from 8.4 to 4.8 percent. Two: the payment rate is remarkably stable at about 77 percent. Three: volume and cost moved in opposite directions in 2024 — volume eased, unit cost rebounded, so growth was price-led. Four: spend is concentrated and bimodal — a handful of specialties dominate, split between commodity volume and high-intensity surgery, a 160-fold unit-cost spread. These four are what you want the room to remember.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Recommendations — where to focus next, in four moves. One: target the balanced high-spend core — primary care, ophthalmology, and nurse-practitioner practices move the budget most, so small efficiency gains there dwarf big changes elsewhere. Two: watch drug-driven charge growth in oncology and ophthalmology; monitor injectable and biologic pricing as a leading indicator. Three: segment the cost-management levers — pricing and volume controls for commodity fields, clinical-appropriateness review for high-intensity surgery, never one blanket policy. Four: flag rising cost intensity by tracking payment per service by specialty year over year, to catch creep before it shows up in totals.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previews the interactive Tableau dashboard that accompanies the analysis. Everything lives on one canvas: a filter bar for year and specialty; a KPI row with the four headline numbers — $131.7 billion in payments, about six billion services, $22.08 per service, and a 76.8 percent payment rate; a payments-by-year trend rising from $115.9 billion in 2022 to $131.7 billion in 2024, up 13.6 percent; and a top-specialties ranking led by Internal Medicine and Ophthalmology at roughly $7.3 billion each. Stress that in the published workbook these views are interactive — filters and clicks drive the drill-down. The numbers mirror the analysis slides, so this is the same data through a live lens, not anything new.</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build recipe an analyst follows to reproduce the dashboard in Tableau. Start from the data source: union the three yearly CMS files into one specialty-year table, set the dimensions and measures, add the two calculated fields for payment-per-service and payment rate, and exclude aggregate and source rows. Then build four worksheets — the KPI text tiles, the payments-by-year bar, the top-specialties horizontal bar with a top-ten filter, and the cost-intensity scatter. Finally assemble them on a tiled dashboard with shared filters and a click-to-filter action so selecting a specialty drives the trend and scatter. Emphasize this is a spec, not a screenshot — it is exactly what someone opens Tableau and does.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metric framework. Every specialty-year record is measured on the same six KPIs, in three families. Volume is allowed services. Charges and payments are the dollar totals — allowed charges is what's approved, payment amount is what Medicare actually pays. Then two unit-cost measures, charge per service and payment per service, plus the payment rate, which is payment divided by allowed charges. The key idea to plant: payment per service is our cost-intensity lens, and it's what separates high-volume commodity fields from high-cost procedural ones later in the deck.</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Analytical approach — how the numbers were produced, so the audience trusts them. Data preparation: stack the three years into one specialty-year table, normalize specialty names so groupings are consistent, drop aggregate and source rows so totals don't get double-counted, and validate the currency, service, and rate fields. Then three analysis tracks: descriptive statistics and rankings, a predictive regression on payment amount, and a k-means segmentation. Keep this brief for a leadership audience — the message is simply that the findings rest on clean data and standard methods.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and notes — the appendix for credibility and honest limitations. The data is the CMS Expenditures and Services by Specialty files for 2022, 2023, and 2024, national summary public-use data, not beneficiary-level claims, and Original Medicare Part B physician and supplier only, excluding Medicare Advantage. Two caveats worth stating aloud: specialty rankings use the 2022 baseline, the year with complete specialty detail in this extract, while the national trends span all three years; and aggregate and source rows were excluded from specialty analysis. Figures are rounded for presentation. Offer to share the underlying files for anyone who wants exact values.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MASTER">
    <p:bg>
      <p:bgPr>
        <a:solidFill>
          <a:srgbClr val="0B1220"/>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331720"/>
            <a:ext cx="10515600" cy="173736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11C2E"/>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76656"/>
            <a:ext cx="10972800" cy="585216"/>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p:bg>
      <p:bgPr>
        <a:solidFill>
          <a:srgbClr val="EEF2F6"/>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76656"/>
            <a:ext cx="10972800" cy="585216"/>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91878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chart" Target="../charts/chart4.xml"/></Relationships>
</file>

<file path=ppt/slides/_rels/slide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eft rail">
            <a:extLst>
              <a:ext uri="{C183D7F6-B498-43B3-948B-1728B52AA6E4}">
                <adec:decorative xmlns:adec="http://schemas.microsoft.com/office/drawing/2017/decorative" val="1"/>
              </a:ext>
            </a:extLst>
          </p:cNvPr>
          <p:cNvSpPr/>
          <p:nvPr/>
        </p:nvSpPr>
        <p:spPr>
          <a:xfrm>
            <a:off x="0" y="0"/>
            <a:ext cx="256032" cy="6858000"/>
          </a:xfrm>
          <a:prstGeom prst="rect">
            <a:avLst/>
          </a:prstGeom>
          <a:solidFill>
            <a:srgbClr val="6BA5D7"/>
          </a:solidFill>
          <a:ln/>
        </p:spPr>
        <p:txBody>
          <a:bodyPr/>
          <a:lstStyle/>
          <a:p>
            <a:endParaRPr lang="en-US"/>
          </a:p>
        </p:txBody>
      </p:sp>
      <p:sp>
        <p:nvSpPr>
          <p:cNvPr id="3" name="bar motif">
            <a:extLst>
              <a:ext uri="{C183D7F6-B498-43B3-948B-1728B52AA6E4}">
                <adec:decorative xmlns:adec="http://schemas.microsoft.com/office/drawing/2017/decorative" val="1"/>
              </a:ext>
            </a:extLst>
          </p:cNvPr>
          <p:cNvSpPr/>
          <p:nvPr/>
        </p:nvSpPr>
        <p:spPr>
          <a:xfrm>
            <a:off x="8138160" y="3886200"/>
            <a:ext cx="502920" cy="1005840"/>
          </a:xfrm>
          <a:prstGeom prst="rect">
            <a:avLst/>
          </a:prstGeom>
          <a:solidFill>
            <a:srgbClr val="6BA5D7">
              <a:alpha val="45000"/>
            </a:srgbClr>
          </a:solidFill>
          <a:ln/>
        </p:spPr>
        <p:txBody>
          <a:bodyPr/>
          <a:lstStyle/>
          <a:p>
            <a:endParaRPr lang="en-US"/>
          </a:p>
        </p:txBody>
      </p:sp>
      <p:sp>
        <p:nvSpPr>
          <p:cNvPr id="4" name="bar motif">
            <a:extLst>
              <a:ext uri="{C183D7F6-B498-43B3-948B-1728B52AA6E4}">
                <adec:decorative xmlns:adec="http://schemas.microsoft.com/office/drawing/2017/decorative" val="1"/>
              </a:ext>
            </a:extLst>
          </p:cNvPr>
          <p:cNvSpPr/>
          <p:nvPr/>
        </p:nvSpPr>
        <p:spPr>
          <a:xfrm>
            <a:off x="8961120" y="3337560"/>
            <a:ext cx="502920" cy="1554480"/>
          </a:xfrm>
          <a:prstGeom prst="rect">
            <a:avLst/>
          </a:prstGeom>
          <a:solidFill>
            <a:srgbClr val="43426A">
              <a:alpha val="80000"/>
            </a:srgbClr>
          </a:solidFill>
          <a:ln/>
        </p:spPr>
        <p:txBody>
          <a:bodyPr/>
          <a:lstStyle/>
          <a:p>
            <a:endParaRPr lang="en-US"/>
          </a:p>
        </p:txBody>
      </p:sp>
      <p:sp>
        <p:nvSpPr>
          <p:cNvPr id="5" name="bar motif">
            <a:extLst>
              <a:ext uri="{C183D7F6-B498-43B3-948B-1728B52AA6E4}">
                <adec:decorative xmlns:adec="http://schemas.microsoft.com/office/drawing/2017/decorative" val="1"/>
              </a:ext>
            </a:extLst>
          </p:cNvPr>
          <p:cNvSpPr/>
          <p:nvPr/>
        </p:nvSpPr>
        <p:spPr>
          <a:xfrm>
            <a:off x="9784080" y="3657600"/>
            <a:ext cx="502920" cy="1234440"/>
          </a:xfrm>
          <a:prstGeom prst="rect">
            <a:avLst/>
          </a:prstGeom>
          <a:solidFill>
            <a:srgbClr val="6BA5D7">
              <a:alpha val="45000"/>
            </a:srgbClr>
          </a:solidFill>
          <a:ln/>
        </p:spPr>
        <p:txBody>
          <a:bodyPr/>
          <a:lstStyle/>
          <a:p>
            <a:endParaRPr lang="en-US"/>
          </a:p>
        </p:txBody>
      </p:sp>
      <p:sp>
        <p:nvSpPr>
          <p:cNvPr id="6" name="bar motif">
            <a:extLst>
              <a:ext uri="{C183D7F6-B498-43B3-948B-1728B52AA6E4}">
                <adec:decorative xmlns:adec="http://schemas.microsoft.com/office/drawing/2017/decorative" val="1"/>
              </a:ext>
            </a:extLst>
          </p:cNvPr>
          <p:cNvSpPr/>
          <p:nvPr/>
        </p:nvSpPr>
        <p:spPr>
          <a:xfrm>
            <a:off x="10607040" y="2926080"/>
            <a:ext cx="502920" cy="1965960"/>
          </a:xfrm>
          <a:prstGeom prst="rect">
            <a:avLst/>
          </a:prstGeom>
          <a:solidFill>
            <a:srgbClr val="43426A">
              <a:alpha val="80000"/>
            </a:srgbClr>
          </a:solidFill>
          <a:ln/>
        </p:spPr>
        <p:txBody>
          <a:bodyPr/>
          <a:lstStyle/>
          <a:p>
            <a:endParaRPr lang="en-US"/>
          </a:p>
        </p:txBody>
      </p:sp>
      <p:sp>
        <p:nvSpPr>
          <p:cNvPr id="7" name="bar motif">
            <a:extLst>
              <a:ext uri="{C183D7F6-B498-43B3-948B-1728B52AA6E4}">
                <adec:decorative xmlns:adec="http://schemas.microsoft.com/office/drawing/2017/decorative" val="1"/>
              </a:ext>
            </a:extLst>
          </p:cNvPr>
          <p:cNvSpPr/>
          <p:nvPr/>
        </p:nvSpPr>
        <p:spPr>
          <a:xfrm>
            <a:off x="11430000" y="3474720"/>
            <a:ext cx="502920" cy="1417320"/>
          </a:xfrm>
          <a:prstGeom prst="rect">
            <a:avLst/>
          </a:prstGeom>
          <a:solidFill>
            <a:srgbClr val="6BA5D7">
              <a:alpha val="45000"/>
            </a:srgbClr>
          </a:solidFill>
          <a:ln/>
        </p:spPr>
        <p:txBody>
          <a:bodyPr/>
          <a:lstStyle/>
          <a:p>
            <a:endParaRPr lang="en-US"/>
          </a:p>
        </p:txBody>
      </p:sp>
      <p:sp>
        <p:nvSpPr>
          <p:cNvPr id="8" name="kicker mark">
            <a:extLst>
              <a:ext uri="{C183D7F6-B498-43B3-948B-1728B52AA6E4}">
                <adec:decorative xmlns:adec="http://schemas.microsoft.com/office/drawing/2017/decorative" val="1"/>
              </a:ext>
            </a:extLst>
          </p:cNvPr>
          <p:cNvSpPr/>
          <p:nvPr/>
        </p:nvSpPr>
        <p:spPr>
          <a:xfrm>
            <a:off x="868680" y="1412748"/>
            <a:ext cx="201168" cy="128016"/>
          </a:xfrm>
          <a:prstGeom prst="rect">
            <a:avLst/>
          </a:prstGeom>
          <a:solidFill>
            <a:srgbClr val="6BA5D7"/>
          </a:solidFill>
          <a:ln/>
        </p:spPr>
        <p:txBody>
          <a:bodyPr/>
          <a:lstStyle/>
          <a:p>
            <a:endParaRPr lang="en-US"/>
          </a:p>
        </p:txBody>
      </p:sp>
      <p:sp>
        <p:nvSpPr>
          <p:cNvPr id="9" name="Text 7"/>
          <p:cNvSpPr/>
          <p:nvPr/>
        </p:nvSpPr>
        <p:spPr>
          <a:xfrm>
            <a:off x="1161288" y="1316736"/>
            <a:ext cx="8229600" cy="310896"/>
          </a:xfrm>
          <a:prstGeom prst="rect">
            <a:avLst/>
          </a:prstGeom>
          <a:noFill/>
          <a:ln/>
        </p:spPr>
        <p:txBody>
          <a:bodyPr wrap="square" lIns="0" tIns="0" rIns="0" bIns="0" rtlCol="0" anchor="ctr"/>
          <a:lstStyle/>
          <a:p>
            <a:pPr marL="0" indent="0" algn="l">
              <a:buNone/>
            </a:pPr>
            <a:r>
              <a:rPr lang="en-US" sz="1250" b="1" kern="0" spc="300">
                <a:solidFill>
                  <a:srgbClr val="6BA5D7"/>
                </a:solidFill>
                <a:latin typeface="Trebuchet MS" pitchFamily="34" charset="0"/>
                <a:ea typeface="Trebuchet MS" pitchFamily="34" charset="-122"/>
                <a:cs typeface="Trebuchet MS" pitchFamily="34" charset="-120"/>
              </a:rPr>
              <a:t>MEDICARE PART B  ·  ANALYST DEEP-DIVE</a:t>
            </a:r>
            <a:endParaRPr lang="en-US" sz="1250" dirty="0"/>
          </a:p>
        </p:txBody>
      </p:sp>
      <p:sp>
        <p:nvSpPr>
          <p:cNvPr id="10" name="Text 0"/>
          <p:cNvSpPr>
            <a:spLocks noGrp="1"/>
          </p:cNvSpPr>
          <p:nvPr>
            <p:ph type="title" idx="100" hasCustomPrompt="1"/>
          </p:nvPr>
        </p:nvSpPr>
        <p:spPr>
          <a:xfrm>
            <a:off x="822960" y="2331720"/>
            <a:ext cx="10515600" cy="1737360"/>
          </a:xfrm>
          <a:prstGeom prst="rect">
            <a:avLst/>
          </a:prstGeom>
          <a:noFill/>
          <a:ln/>
        </p:spPr>
        <p:txBody>
          <a:bodyPr wrap="square" rtlCol="0"/>
          <a:lstStyle/>
          <a:p>
            <a:pPr marL="0" indent="0" algn="l">
              <a:buNone/>
            </a:pPr>
            <a:r>
              <a:rPr lang="en-US" sz="5200" b="1" dirty="0">
                <a:solidFill>
                  <a:srgbClr val="FFFFFF"/>
                </a:solidFill>
                <a:latin typeface="Trebuchet MS" pitchFamily="34" charset="0"/>
                <a:ea typeface="Trebuchet MS" pitchFamily="34" charset="-122"/>
                <a:cs typeface="Trebuchet MS" pitchFamily="34" charset="-120"/>
              </a:rPr>
              <a:t>Utilization &amp; Cost</a:t>
            </a:r>
            <a:endParaRPr lang="en-US" sz="5200" dirty="0"/>
          </a:p>
          <a:p>
            <a:pPr marL="0" indent="0" algn="l">
              <a:buNone/>
            </a:pPr>
            <a:r>
              <a:rPr lang="en-US" sz="5200" b="1" dirty="0">
                <a:solidFill>
                  <a:srgbClr val="FFFFFF"/>
                </a:solidFill>
                <a:latin typeface="Trebuchet MS" pitchFamily="34" charset="0"/>
                <a:ea typeface="Trebuchet MS" pitchFamily="34" charset="-122"/>
                <a:cs typeface="Trebuchet MS" pitchFamily="34" charset="-120"/>
              </a:rPr>
              <a:t>Analytics</a:t>
            </a:r>
            <a:endParaRPr lang="en-US" sz="5200" dirty="0"/>
          </a:p>
        </p:txBody>
      </p:sp>
      <p:sp>
        <p:nvSpPr>
          <p:cNvPr id="11" name="Text 9"/>
          <p:cNvSpPr/>
          <p:nvPr/>
        </p:nvSpPr>
        <p:spPr>
          <a:xfrm>
            <a:off x="868680" y="4160520"/>
            <a:ext cx="9601200" cy="457200"/>
          </a:xfrm>
          <a:prstGeom prst="rect">
            <a:avLst/>
          </a:prstGeom>
          <a:noFill/>
          <a:ln/>
        </p:spPr>
        <p:txBody>
          <a:bodyPr wrap="square" lIns="0" tIns="0" rIns="0" bIns="0" rtlCol="0" anchor="ctr"/>
          <a:lstStyle/>
          <a:p>
            <a:pPr marL="0" indent="0" algn="l">
              <a:buNone/>
            </a:pPr>
            <a:r>
              <a:rPr lang="en-US" sz="1800">
                <a:solidFill>
                  <a:srgbClr val="CBD9E9"/>
                </a:solidFill>
                <a:latin typeface="Calibri" pitchFamily="34" charset="0"/>
                <a:ea typeface="Calibri" pitchFamily="34" charset="-122"/>
                <a:cs typeface="Calibri" pitchFamily="34" charset="-120"/>
              </a:rPr>
              <a:t>National physician &amp; supplier expenditures and services by provider specialty</a:t>
            </a:r>
            <a:endParaRPr lang="en-US" sz="1800" dirty="0"/>
          </a:p>
        </p:txBody>
      </p:sp>
      <p:sp>
        <p:nvSpPr>
          <p:cNvPr id="12" name="stat chip">
            <a:extLst>
              <a:ext uri="{C183D7F6-B498-43B3-948B-1728B52AA6E4}">
                <adec:decorative xmlns:adec="http://schemas.microsoft.com/office/drawing/2017/decorative" val="1"/>
              </a:ext>
            </a:extLst>
          </p:cNvPr>
          <p:cNvSpPr/>
          <p:nvPr/>
        </p:nvSpPr>
        <p:spPr>
          <a:xfrm>
            <a:off x="868680" y="5074920"/>
            <a:ext cx="1920240" cy="868680"/>
          </a:xfrm>
          <a:prstGeom prst="rect">
            <a:avLst/>
          </a:prstGeom>
          <a:solidFill>
            <a:srgbClr val="43426A"/>
          </a:solidFill>
          <a:ln w="12700">
            <a:solidFill>
              <a:srgbClr val="5A5880"/>
            </a:solidFill>
            <a:prstDash val="solid"/>
          </a:ln>
        </p:spPr>
        <p:txBody>
          <a:bodyPr/>
          <a:lstStyle/>
          <a:p>
            <a:endParaRPr lang="en-US"/>
          </a:p>
        </p:txBody>
      </p:sp>
      <p:sp>
        <p:nvSpPr>
          <p:cNvPr id="13" name="chip accent">
            <a:extLst>
              <a:ext uri="{C183D7F6-B498-43B3-948B-1728B52AA6E4}">
                <adec:decorative xmlns:adec="http://schemas.microsoft.com/office/drawing/2017/decorative" val="1"/>
              </a:ext>
            </a:extLst>
          </p:cNvPr>
          <p:cNvSpPr/>
          <p:nvPr/>
        </p:nvSpPr>
        <p:spPr>
          <a:xfrm>
            <a:off x="868680" y="5074920"/>
            <a:ext cx="64008" cy="868680"/>
          </a:xfrm>
          <a:prstGeom prst="rect">
            <a:avLst/>
          </a:prstGeom>
          <a:solidFill>
            <a:srgbClr val="6BA5D7"/>
          </a:solidFill>
          <a:ln/>
        </p:spPr>
        <p:txBody>
          <a:bodyPr/>
          <a:lstStyle/>
          <a:p>
            <a:endParaRPr lang="en-US"/>
          </a:p>
        </p:txBody>
      </p:sp>
      <p:sp>
        <p:nvSpPr>
          <p:cNvPr id="14" name="Text 12"/>
          <p:cNvSpPr/>
          <p:nvPr/>
        </p:nvSpPr>
        <p:spPr>
          <a:xfrm>
            <a:off x="1051560" y="5138928"/>
            <a:ext cx="1691640" cy="457200"/>
          </a:xfrm>
          <a:prstGeom prst="rect">
            <a:avLst/>
          </a:prstGeom>
          <a:noFill/>
          <a:ln/>
        </p:spPr>
        <p:txBody>
          <a:bodyPr wrap="square" lIns="0" tIns="0" rIns="0" bIns="0" rtlCol="0" anchor="ctr"/>
          <a:lstStyle/>
          <a:p>
            <a:pPr marL="0" indent="0" algn="l">
              <a:buNone/>
            </a:pPr>
            <a:r>
              <a:rPr lang="en-US" sz="2100" b="1">
                <a:solidFill>
                  <a:srgbClr val="6BA5D7"/>
                </a:solidFill>
                <a:latin typeface="Consolas" pitchFamily="34" charset="0"/>
                <a:ea typeface="Consolas" pitchFamily="34" charset="-122"/>
                <a:cs typeface="Consolas" pitchFamily="34" charset="-120"/>
              </a:rPr>
              <a:t>$131.7B</a:t>
            </a:r>
            <a:endParaRPr lang="en-US" sz="2100" dirty="0"/>
          </a:p>
        </p:txBody>
      </p:sp>
      <p:sp>
        <p:nvSpPr>
          <p:cNvPr id="15" name="Text 13"/>
          <p:cNvSpPr/>
          <p:nvPr/>
        </p:nvSpPr>
        <p:spPr>
          <a:xfrm>
            <a:off x="1069848" y="5559552"/>
            <a:ext cx="1691640" cy="310896"/>
          </a:xfrm>
          <a:prstGeom prst="rect">
            <a:avLst/>
          </a:prstGeom>
          <a:noFill/>
          <a:ln/>
        </p:spPr>
        <p:txBody>
          <a:bodyPr wrap="square" lIns="0" tIns="0" rIns="0" bIns="0" rtlCol="0" anchor="ctr"/>
          <a:lstStyle/>
          <a:p>
            <a:pPr marL="0" indent="0" algn="l">
              <a:buNone/>
            </a:pPr>
            <a:r>
              <a:rPr lang="en-US" sz="950" b="1" kern="0" spc="100">
                <a:solidFill>
                  <a:srgbClr val="CBD9E9"/>
                </a:solidFill>
                <a:latin typeface="Trebuchet MS" pitchFamily="34" charset="0"/>
                <a:ea typeface="Trebuchet MS" pitchFamily="34" charset="-122"/>
                <a:cs typeface="Trebuchet MS" pitchFamily="34" charset="-120"/>
              </a:rPr>
              <a:t>2024 PAYMENTS</a:t>
            </a:r>
            <a:endParaRPr lang="en-US" sz="950" dirty="0"/>
          </a:p>
        </p:txBody>
      </p:sp>
      <p:sp>
        <p:nvSpPr>
          <p:cNvPr id="16" name="stat chip">
            <a:extLst>
              <a:ext uri="{C183D7F6-B498-43B3-948B-1728B52AA6E4}">
                <adec:decorative xmlns:adec="http://schemas.microsoft.com/office/drawing/2017/decorative" val="1"/>
              </a:ext>
            </a:extLst>
          </p:cNvPr>
          <p:cNvSpPr/>
          <p:nvPr/>
        </p:nvSpPr>
        <p:spPr>
          <a:xfrm>
            <a:off x="3017520" y="5074920"/>
            <a:ext cx="1920240" cy="868680"/>
          </a:xfrm>
          <a:prstGeom prst="rect">
            <a:avLst/>
          </a:prstGeom>
          <a:solidFill>
            <a:srgbClr val="43426A"/>
          </a:solidFill>
          <a:ln w="12700">
            <a:solidFill>
              <a:srgbClr val="5A5880"/>
            </a:solidFill>
            <a:prstDash val="solid"/>
          </a:ln>
        </p:spPr>
        <p:txBody>
          <a:bodyPr/>
          <a:lstStyle/>
          <a:p>
            <a:endParaRPr lang="en-US"/>
          </a:p>
        </p:txBody>
      </p:sp>
      <p:sp>
        <p:nvSpPr>
          <p:cNvPr id="17" name="chip accent">
            <a:extLst>
              <a:ext uri="{C183D7F6-B498-43B3-948B-1728B52AA6E4}">
                <adec:decorative xmlns:adec="http://schemas.microsoft.com/office/drawing/2017/decorative" val="1"/>
              </a:ext>
            </a:extLst>
          </p:cNvPr>
          <p:cNvSpPr/>
          <p:nvPr/>
        </p:nvSpPr>
        <p:spPr>
          <a:xfrm>
            <a:off x="3017520" y="5074920"/>
            <a:ext cx="64008" cy="868680"/>
          </a:xfrm>
          <a:prstGeom prst="rect">
            <a:avLst/>
          </a:prstGeom>
          <a:solidFill>
            <a:srgbClr val="6BA5D7"/>
          </a:solidFill>
          <a:ln/>
        </p:spPr>
        <p:txBody>
          <a:bodyPr/>
          <a:lstStyle/>
          <a:p>
            <a:endParaRPr lang="en-US"/>
          </a:p>
        </p:txBody>
      </p:sp>
      <p:sp>
        <p:nvSpPr>
          <p:cNvPr id="18" name="Text 16"/>
          <p:cNvSpPr/>
          <p:nvPr/>
        </p:nvSpPr>
        <p:spPr>
          <a:xfrm>
            <a:off x="3200400" y="5138928"/>
            <a:ext cx="1691640" cy="457200"/>
          </a:xfrm>
          <a:prstGeom prst="rect">
            <a:avLst/>
          </a:prstGeom>
          <a:noFill/>
          <a:ln/>
        </p:spPr>
        <p:txBody>
          <a:bodyPr wrap="square" lIns="0" tIns="0" rIns="0" bIns="0" rtlCol="0" anchor="ctr"/>
          <a:lstStyle/>
          <a:p>
            <a:pPr marL="0" indent="0" algn="l">
              <a:buNone/>
            </a:pPr>
            <a:r>
              <a:rPr lang="en-US" sz="2100" b="1">
                <a:solidFill>
                  <a:srgbClr val="6BA5D7"/>
                </a:solidFill>
                <a:latin typeface="Consolas" pitchFamily="34" charset="0"/>
                <a:ea typeface="Consolas" pitchFamily="34" charset="-122"/>
                <a:cs typeface="Consolas" pitchFamily="34" charset="-120"/>
              </a:rPr>
              <a:t>+13.6%</a:t>
            </a:r>
            <a:endParaRPr lang="en-US" sz="2100" dirty="0"/>
          </a:p>
        </p:txBody>
      </p:sp>
      <p:sp>
        <p:nvSpPr>
          <p:cNvPr id="19" name="Text 17"/>
          <p:cNvSpPr/>
          <p:nvPr/>
        </p:nvSpPr>
        <p:spPr>
          <a:xfrm>
            <a:off x="3218688" y="5559552"/>
            <a:ext cx="1691640" cy="310896"/>
          </a:xfrm>
          <a:prstGeom prst="rect">
            <a:avLst/>
          </a:prstGeom>
          <a:noFill/>
          <a:ln/>
        </p:spPr>
        <p:txBody>
          <a:bodyPr wrap="square" lIns="0" tIns="0" rIns="0" bIns="0" rtlCol="0" anchor="ctr"/>
          <a:lstStyle/>
          <a:p>
            <a:pPr marL="0" indent="0" algn="l">
              <a:buNone/>
            </a:pPr>
            <a:r>
              <a:rPr lang="en-US" sz="950" b="1" kern="0" spc="100">
                <a:solidFill>
                  <a:srgbClr val="CBD9E9"/>
                </a:solidFill>
                <a:latin typeface="Trebuchet MS" pitchFamily="34" charset="0"/>
                <a:ea typeface="Trebuchet MS" pitchFamily="34" charset="-122"/>
                <a:cs typeface="Trebuchet MS" pitchFamily="34" charset="-120"/>
              </a:rPr>
              <a:t>2-YR GROWTH</a:t>
            </a:r>
            <a:endParaRPr lang="en-US" sz="950" dirty="0"/>
          </a:p>
        </p:txBody>
      </p:sp>
      <p:sp>
        <p:nvSpPr>
          <p:cNvPr id="20" name="stat chip">
            <a:extLst>
              <a:ext uri="{C183D7F6-B498-43B3-948B-1728B52AA6E4}">
                <adec:decorative xmlns:adec="http://schemas.microsoft.com/office/drawing/2017/decorative" val="1"/>
              </a:ext>
            </a:extLst>
          </p:cNvPr>
          <p:cNvSpPr/>
          <p:nvPr/>
        </p:nvSpPr>
        <p:spPr>
          <a:xfrm>
            <a:off x="5166360" y="5074920"/>
            <a:ext cx="1920240" cy="868680"/>
          </a:xfrm>
          <a:prstGeom prst="rect">
            <a:avLst/>
          </a:prstGeom>
          <a:solidFill>
            <a:srgbClr val="43426A"/>
          </a:solidFill>
          <a:ln w="12700">
            <a:solidFill>
              <a:srgbClr val="5A5880"/>
            </a:solidFill>
            <a:prstDash val="solid"/>
          </a:ln>
        </p:spPr>
        <p:txBody>
          <a:bodyPr/>
          <a:lstStyle/>
          <a:p>
            <a:endParaRPr lang="en-US"/>
          </a:p>
        </p:txBody>
      </p:sp>
      <p:sp>
        <p:nvSpPr>
          <p:cNvPr id="21" name="chip accent">
            <a:extLst>
              <a:ext uri="{C183D7F6-B498-43B3-948B-1728B52AA6E4}">
                <adec:decorative xmlns:adec="http://schemas.microsoft.com/office/drawing/2017/decorative" val="1"/>
              </a:ext>
            </a:extLst>
          </p:cNvPr>
          <p:cNvSpPr/>
          <p:nvPr/>
        </p:nvSpPr>
        <p:spPr>
          <a:xfrm>
            <a:off x="5166360" y="5074920"/>
            <a:ext cx="64008" cy="868680"/>
          </a:xfrm>
          <a:prstGeom prst="rect">
            <a:avLst/>
          </a:prstGeom>
          <a:solidFill>
            <a:srgbClr val="6BA5D7"/>
          </a:solidFill>
          <a:ln/>
        </p:spPr>
        <p:txBody>
          <a:bodyPr/>
          <a:lstStyle/>
          <a:p>
            <a:endParaRPr lang="en-US"/>
          </a:p>
        </p:txBody>
      </p:sp>
      <p:sp>
        <p:nvSpPr>
          <p:cNvPr id="22" name="Text 20"/>
          <p:cNvSpPr/>
          <p:nvPr/>
        </p:nvSpPr>
        <p:spPr>
          <a:xfrm>
            <a:off x="5349240" y="5138928"/>
            <a:ext cx="1691640" cy="457200"/>
          </a:xfrm>
          <a:prstGeom prst="rect">
            <a:avLst/>
          </a:prstGeom>
          <a:noFill/>
          <a:ln/>
        </p:spPr>
        <p:txBody>
          <a:bodyPr wrap="square" lIns="0" tIns="0" rIns="0" bIns="0" rtlCol="0" anchor="ctr"/>
          <a:lstStyle/>
          <a:p>
            <a:pPr marL="0" indent="0" algn="l">
              <a:buNone/>
            </a:pPr>
            <a:r>
              <a:rPr lang="en-US" sz="2100" b="1">
                <a:solidFill>
                  <a:srgbClr val="6BA5D7"/>
                </a:solidFill>
                <a:latin typeface="Consolas" pitchFamily="34" charset="0"/>
                <a:ea typeface="Consolas" pitchFamily="34" charset="-122"/>
                <a:cs typeface="Consolas" pitchFamily="34" charset="-120"/>
              </a:rPr>
              <a:t>6.0B</a:t>
            </a:r>
            <a:endParaRPr lang="en-US" sz="2100" dirty="0"/>
          </a:p>
        </p:txBody>
      </p:sp>
      <p:sp>
        <p:nvSpPr>
          <p:cNvPr id="23" name="Text 21"/>
          <p:cNvSpPr/>
          <p:nvPr/>
        </p:nvSpPr>
        <p:spPr>
          <a:xfrm>
            <a:off x="5367528" y="5559552"/>
            <a:ext cx="1691640" cy="310896"/>
          </a:xfrm>
          <a:prstGeom prst="rect">
            <a:avLst/>
          </a:prstGeom>
          <a:noFill/>
          <a:ln/>
        </p:spPr>
        <p:txBody>
          <a:bodyPr wrap="square" lIns="0" tIns="0" rIns="0" bIns="0" rtlCol="0" anchor="ctr"/>
          <a:lstStyle/>
          <a:p>
            <a:pPr marL="0" indent="0" algn="l">
              <a:buNone/>
            </a:pPr>
            <a:r>
              <a:rPr lang="en-US" sz="950" b="1" kern="0" spc="100">
                <a:solidFill>
                  <a:srgbClr val="CBD9E9"/>
                </a:solidFill>
                <a:latin typeface="Trebuchet MS" pitchFamily="34" charset="0"/>
                <a:ea typeface="Trebuchet MS" pitchFamily="34" charset="-122"/>
                <a:cs typeface="Trebuchet MS" pitchFamily="34" charset="-120"/>
              </a:rPr>
              <a:t>SERVICES</a:t>
            </a:r>
            <a:endParaRPr lang="en-US" sz="950" dirty="0"/>
          </a:p>
        </p:txBody>
      </p:sp>
      <p:sp>
        <p:nvSpPr>
          <p:cNvPr id="24" name="stat chip">
            <a:extLst>
              <a:ext uri="{C183D7F6-B498-43B3-948B-1728B52AA6E4}">
                <adec:decorative xmlns:adec="http://schemas.microsoft.com/office/drawing/2017/decorative" val="1"/>
              </a:ext>
            </a:extLst>
          </p:cNvPr>
          <p:cNvSpPr/>
          <p:nvPr/>
        </p:nvSpPr>
        <p:spPr>
          <a:xfrm>
            <a:off x="7315200" y="5074920"/>
            <a:ext cx="1920240" cy="868680"/>
          </a:xfrm>
          <a:prstGeom prst="rect">
            <a:avLst/>
          </a:prstGeom>
          <a:solidFill>
            <a:srgbClr val="43426A"/>
          </a:solidFill>
          <a:ln w="12700">
            <a:solidFill>
              <a:srgbClr val="5A5880"/>
            </a:solidFill>
            <a:prstDash val="solid"/>
          </a:ln>
        </p:spPr>
        <p:txBody>
          <a:bodyPr/>
          <a:lstStyle/>
          <a:p>
            <a:endParaRPr lang="en-US"/>
          </a:p>
        </p:txBody>
      </p:sp>
      <p:sp>
        <p:nvSpPr>
          <p:cNvPr id="25" name="chip accent">
            <a:extLst>
              <a:ext uri="{C183D7F6-B498-43B3-948B-1728B52AA6E4}">
                <adec:decorative xmlns:adec="http://schemas.microsoft.com/office/drawing/2017/decorative" val="1"/>
              </a:ext>
            </a:extLst>
          </p:cNvPr>
          <p:cNvSpPr/>
          <p:nvPr/>
        </p:nvSpPr>
        <p:spPr>
          <a:xfrm>
            <a:off x="7315200" y="5074920"/>
            <a:ext cx="64008" cy="868680"/>
          </a:xfrm>
          <a:prstGeom prst="rect">
            <a:avLst/>
          </a:prstGeom>
          <a:solidFill>
            <a:srgbClr val="6BA5D7"/>
          </a:solidFill>
          <a:ln/>
        </p:spPr>
        <p:txBody>
          <a:bodyPr/>
          <a:lstStyle/>
          <a:p>
            <a:endParaRPr lang="en-US"/>
          </a:p>
        </p:txBody>
      </p:sp>
      <p:sp>
        <p:nvSpPr>
          <p:cNvPr id="26" name="Text 24"/>
          <p:cNvSpPr/>
          <p:nvPr/>
        </p:nvSpPr>
        <p:spPr>
          <a:xfrm>
            <a:off x="7498080" y="5138928"/>
            <a:ext cx="1691640" cy="457200"/>
          </a:xfrm>
          <a:prstGeom prst="rect">
            <a:avLst/>
          </a:prstGeom>
          <a:noFill/>
          <a:ln/>
        </p:spPr>
        <p:txBody>
          <a:bodyPr wrap="square" lIns="0" tIns="0" rIns="0" bIns="0" rtlCol="0" anchor="ctr"/>
          <a:lstStyle/>
          <a:p>
            <a:pPr marL="0" indent="0" algn="l">
              <a:buNone/>
            </a:pPr>
            <a:r>
              <a:rPr lang="en-US" sz="2100" b="1">
                <a:solidFill>
                  <a:srgbClr val="6BA5D7"/>
                </a:solidFill>
                <a:latin typeface="Consolas" pitchFamily="34" charset="0"/>
                <a:ea typeface="Consolas" pitchFamily="34" charset="-122"/>
                <a:cs typeface="Consolas" pitchFamily="34" charset="-120"/>
              </a:rPr>
              <a:t>100+</a:t>
            </a:r>
            <a:endParaRPr lang="en-US" sz="2100" dirty="0"/>
          </a:p>
        </p:txBody>
      </p:sp>
      <p:sp>
        <p:nvSpPr>
          <p:cNvPr id="27" name="Text 25"/>
          <p:cNvSpPr/>
          <p:nvPr/>
        </p:nvSpPr>
        <p:spPr>
          <a:xfrm>
            <a:off x="7516368" y="5559552"/>
            <a:ext cx="1691640" cy="310896"/>
          </a:xfrm>
          <a:prstGeom prst="rect">
            <a:avLst/>
          </a:prstGeom>
          <a:noFill/>
          <a:ln/>
        </p:spPr>
        <p:txBody>
          <a:bodyPr wrap="square" lIns="0" tIns="0" rIns="0" bIns="0" rtlCol="0" anchor="ctr"/>
          <a:lstStyle/>
          <a:p>
            <a:pPr marL="0" indent="0" algn="l">
              <a:buNone/>
            </a:pPr>
            <a:r>
              <a:rPr lang="en-US" sz="950" b="1" kern="0" spc="100">
                <a:solidFill>
                  <a:srgbClr val="CBD9E9"/>
                </a:solidFill>
                <a:latin typeface="Trebuchet MS" pitchFamily="34" charset="0"/>
                <a:ea typeface="Trebuchet MS" pitchFamily="34" charset="-122"/>
                <a:cs typeface="Trebuchet MS" pitchFamily="34" charset="-120"/>
              </a:rPr>
              <a:t>SPECIALTIES</a:t>
            </a:r>
            <a:endParaRPr lang="en-US" sz="950" dirty="0"/>
          </a:p>
        </p:txBody>
      </p:sp>
      <p:sp>
        <p:nvSpPr>
          <p:cNvPr id="28" name="Text 26"/>
          <p:cNvSpPr/>
          <p:nvPr/>
        </p:nvSpPr>
        <p:spPr>
          <a:xfrm>
            <a:off x="868680" y="6355080"/>
            <a:ext cx="10424160" cy="320040"/>
          </a:xfrm>
          <a:prstGeom prst="rect">
            <a:avLst/>
          </a:prstGeom>
          <a:noFill/>
          <a:ln/>
        </p:spPr>
        <p:txBody>
          <a:bodyPr wrap="square" lIns="0" tIns="0" rIns="0" bIns="0" rtlCol="0" anchor="ctr"/>
          <a:lstStyle/>
          <a:p>
            <a:pPr marL="0" indent="0" algn="l">
              <a:buNone/>
            </a:pPr>
            <a:r>
              <a:rPr lang="en-US" sz="1100" i="1">
                <a:solidFill>
                  <a:srgbClr val="A8B2C6"/>
                </a:solidFill>
                <a:latin typeface="Calibri" pitchFamily="34" charset="0"/>
                <a:ea typeface="Calibri" pitchFamily="34" charset="-122"/>
                <a:cs typeface="Calibri" pitchFamily="34" charset="-120"/>
              </a:rPr>
              <a:t>Source: CMS / OIS Part B Analytics Report (PBAR) · CY 2022–2024 national summary data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40080" y="406908"/>
            <a:ext cx="201168" cy="128016"/>
          </a:xfrm>
          <a:prstGeom prst="rect">
            <a:avLst/>
          </a:prstGeom>
          <a:solidFill>
            <a:srgbClr val="6BA5D7"/>
          </a:solidFill>
          <a:ln/>
        </p:spPr>
        <p:txBody>
          <a:bodyPr/>
          <a:lstStyle/>
          <a:p>
            <a:endParaRPr lang="en-US"/>
          </a:p>
        </p:txBody>
      </p:sp>
      <p:sp>
        <p:nvSpPr>
          <p:cNvPr id="3" name="Text 1"/>
          <p:cNvSpPr/>
          <p:nvPr/>
        </p:nvSpPr>
        <p:spPr>
          <a:xfrm>
            <a:off x="932688" y="310896"/>
            <a:ext cx="8229600" cy="310896"/>
          </a:xfrm>
          <a:prstGeom prst="rect">
            <a:avLst/>
          </a:prstGeom>
          <a:noFill/>
          <a:ln/>
        </p:spPr>
        <p:txBody>
          <a:bodyPr wrap="square" lIns="0" tIns="0" rIns="0" bIns="0" rtlCol="0" anchor="ctr"/>
          <a:lstStyle/>
          <a:p>
            <a:pPr marL="0" indent="0" algn="l">
              <a:buNone/>
            </a:pPr>
            <a:r>
              <a:rPr lang="en-US" sz="1250" b="1" kern="0" spc="300">
                <a:solidFill>
                  <a:srgbClr val="4E79A7"/>
                </a:solidFill>
                <a:latin typeface="Trebuchet MS" pitchFamily="34" charset="0"/>
                <a:ea typeface="Trebuchet MS" pitchFamily="34" charset="-122"/>
                <a:cs typeface="Trebuchet MS" pitchFamily="34" charset="-120"/>
              </a:rPr>
              <a:t>FOR LEADERSHIP · EXECUTIVE SUMMARY</a:t>
            </a:r>
            <a:endParaRPr lang="en-US" sz="1250" dirty="0"/>
          </a:p>
        </p:txBody>
      </p:sp>
      <p:sp>
        <p:nvSpPr>
          <p:cNvPr id="4" name="Text 0"/>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3200" b="1">
                <a:solidFill>
                  <a:srgbClr val="2B2A45"/>
                </a:solidFill>
                <a:latin typeface="Trebuchet MS" pitchFamily="34" charset="0"/>
                <a:ea typeface="Trebuchet MS" pitchFamily="34" charset="-122"/>
                <a:cs typeface="Trebuchet MS" pitchFamily="34" charset="-120"/>
              </a:rPr>
              <a:t>The Bottom Line</a:t>
            </a:r>
            <a:endParaRPr lang="en-US" sz="3200" dirty="0"/>
          </a:p>
        </p:txBody>
      </p:sp>
      <p:sp>
        <p:nvSpPr>
          <p:cNvPr id="5" name="Text 3"/>
          <p:cNvSpPr/>
          <p:nvPr/>
        </p:nvSpPr>
        <p:spPr>
          <a:xfrm>
            <a:off x="640080" y="1325880"/>
            <a:ext cx="10972800" cy="329184"/>
          </a:xfrm>
          <a:prstGeom prst="rect">
            <a:avLst/>
          </a:prstGeom>
          <a:noFill/>
          <a:ln/>
        </p:spPr>
        <p:txBody>
          <a:bodyPr wrap="square" lIns="0" tIns="0" rIns="0" bIns="0" rtlCol="0" anchor="ctr"/>
          <a:lstStyle/>
          <a:p>
            <a:pPr marL="0" indent="0" algn="l">
              <a:buNone/>
            </a:pPr>
            <a:r>
              <a:rPr lang="en-US" sz="1400">
                <a:solidFill>
                  <a:srgbClr val="7C7E96"/>
                </a:solidFill>
                <a:latin typeface="Calibri" pitchFamily="34" charset="0"/>
                <a:ea typeface="Calibri" pitchFamily="34" charset="-122"/>
                <a:cs typeface="Calibri" pitchFamily="34" charset="-120"/>
              </a:rPr>
              <a:t>Everything a decision-maker needs on one page: what Medicare Part B spending did, why, and where to act.</a:t>
            </a:r>
            <a:endParaRPr lang="en-US" sz="1400" dirty="0"/>
          </a:p>
        </p:txBody>
      </p:sp>
      <p:sp>
        <p:nvSpPr>
          <p:cNvPr id="6" name="kpi card">
            <a:extLst>
              <a:ext uri="{C183D7F6-B498-43B3-948B-1728B52AA6E4}">
                <adec:decorative xmlns:adec="http://schemas.microsoft.com/office/drawing/2017/decorative" val="1"/>
              </a:ext>
            </a:extLst>
          </p:cNvPr>
          <p:cNvSpPr/>
          <p:nvPr/>
        </p:nvSpPr>
        <p:spPr>
          <a:xfrm>
            <a:off x="640080" y="1828800"/>
            <a:ext cx="2523744" cy="1280160"/>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7" name="kpi accent">
            <a:extLst>
              <a:ext uri="{C183D7F6-B498-43B3-948B-1728B52AA6E4}">
                <adec:decorative xmlns:adec="http://schemas.microsoft.com/office/drawing/2017/decorative" val="1"/>
              </a:ext>
            </a:extLst>
          </p:cNvPr>
          <p:cNvSpPr/>
          <p:nvPr/>
        </p:nvSpPr>
        <p:spPr>
          <a:xfrm>
            <a:off x="640080" y="1828800"/>
            <a:ext cx="82296" cy="1280160"/>
          </a:xfrm>
          <a:prstGeom prst="rect">
            <a:avLst/>
          </a:prstGeom>
          <a:solidFill>
            <a:srgbClr val="6BA5D7"/>
          </a:solidFill>
          <a:ln/>
        </p:spPr>
        <p:txBody>
          <a:bodyPr/>
          <a:lstStyle/>
          <a:p>
            <a:endParaRPr lang="en-US"/>
          </a:p>
        </p:txBody>
      </p:sp>
      <p:sp>
        <p:nvSpPr>
          <p:cNvPr id="8" name="Text 6"/>
          <p:cNvSpPr/>
          <p:nvPr/>
        </p:nvSpPr>
        <p:spPr>
          <a:xfrm>
            <a:off x="859536" y="1975104"/>
            <a:ext cx="2157984" cy="640080"/>
          </a:xfrm>
          <a:prstGeom prst="rect">
            <a:avLst/>
          </a:prstGeom>
          <a:noFill/>
          <a:ln/>
        </p:spPr>
        <p:txBody>
          <a:bodyPr wrap="square" lIns="0" tIns="0" rIns="0" bIns="0" rtlCol="0" anchor="ctr"/>
          <a:lstStyle/>
          <a:p>
            <a:pPr marL="0" indent="0" algn="l">
              <a:buNone/>
            </a:pPr>
            <a:r>
              <a:rPr lang="en-US" sz="3000" b="1">
                <a:solidFill>
                  <a:srgbClr val="4E79A7"/>
                </a:solidFill>
                <a:latin typeface="Consolas" pitchFamily="34" charset="0"/>
                <a:ea typeface="Consolas" pitchFamily="34" charset="-122"/>
                <a:cs typeface="Consolas" pitchFamily="34" charset="-120"/>
              </a:rPr>
              <a:t>$131.7B</a:t>
            </a:r>
            <a:endParaRPr lang="en-US" sz="3000" dirty="0"/>
          </a:p>
        </p:txBody>
      </p:sp>
      <p:sp>
        <p:nvSpPr>
          <p:cNvPr id="9" name="Text 7"/>
          <p:cNvSpPr/>
          <p:nvPr/>
        </p:nvSpPr>
        <p:spPr>
          <a:xfrm>
            <a:off x="877824" y="2596896"/>
            <a:ext cx="2112264" cy="292608"/>
          </a:xfrm>
          <a:prstGeom prst="rect">
            <a:avLst/>
          </a:prstGeom>
          <a:noFill/>
          <a:ln/>
        </p:spPr>
        <p:txBody>
          <a:bodyPr wrap="square" lIns="0" tIns="0" rIns="0" bIns="0" rtlCol="0" anchor="ctr"/>
          <a:lstStyle/>
          <a:p>
            <a:pPr marL="0" indent="0" algn="l">
              <a:buNone/>
            </a:pPr>
            <a:r>
              <a:rPr lang="en-US" sz="1100" b="1" kern="0" spc="150">
                <a:solidFill>
                  <a:srgbClr val="2B2A45"/>
                </a:solidFill>
                <a:latin typeface="Trebuchet MS" pitchFamily="34" charset="0"/>
                <a:ea typeface="Trebuchet MS" pitchFamily="34" charset="-122"/>
                <a:cs typeface="Trebuchet MS" pitchFamily="34" charset="-120"/>
              </a:rPr>
              <a:t>2024 PAYMENTS</a:t>
            </a:r>
            <a:endParaRPr lang="en-US" sz="1100" dirty="0"/>
          </a:p>
        </p:txBody>
      </p:sp>
      <p:sp>
        <p:nvSpPr>
          <p:cNvPr id="10" name="Text 8"/>
          <p:cNvSpPr/>
          <p:nvPr/>
        </p:nvSpPr>
        <p:spPr>
          <a:xfrm>
            <a:off x="877824" y="2871216"/>
            <a:ext cx="2112264" cy="274320"/>
          </a:xfrm>
          <a:prstGeom prst="rect">
            <a:avLst/>
          </a:prstGeom>
          <a:noFill/>
          <a:ln/>
        </p:spPr>
        <p:txBody>
          <a:bodyPr wrap="square" lIns="0" tIns="0" rIns="0" bIns="0" rtlCol="0" anchor="ctr"/>
          <a:lstStyle/>
          <a:p>
            <a:pPr marL="0" indent="0" algn="l">
              <a:buNone/>
            </a:pPr>
            <a:r>
              <a:rPr lang="en-US" sz="1050">
                <a:solidFill>
                  <a:srgbClr val="7C7E96"/>
                </a:solidFill>
                <a:latin typeface="Calibri" pitchFamily="34" charset="0"/>
                <a:ea typeface="Calibri" pitchFamily="34" charset="-122"/>
                <a:cs typeface="Calibri" pitchFamily="34" charset="-120"/>
              </a:rPr>
              <a:t>Most recent full year</a:t>
            </a:r>
            <a:endParaRPr lang="en-US" sz="1050" dirty="0"/>
          </a:p>
        </p:txBody>
      </p:sp>
      <p:sp>
        <p:nvSpPr>
          <p:cNvPr id="11" name="kpi card">
            <a:extLst>
              <a:ext uri="{C183D7F6-B498-43B3-948B-1728B52AA6E4}">
                <adec:decorative xmlns:adec="http://schemas.microsoft.com/office/drawing/2017/decorative" val="1"/>
              </a:ext>
            </a:extLst>
          </p:cNvPr>
          <p:cNvSpPr/>
          <p:nvPr/>
        </p:nvSpPr>
        <p:spPr>
          <a:xfrm>
            <a:off x="3438144" y="1828800"/>
            <a:ext cx="2523744" cy="1280160"/>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12" name="kpi accent">
            <a:extLst>
              <a:ext uri="{C183D7F6-B498-43B3-948B-1728B52AA6E4}">
                <adec:decorative xmlns:adec="http://schemas.microsoft.com/office/drawing/2017/decorative" val="1"/>
              </a:ext>
            </a:extLst>
          </p:cNvPr>
          <p:cNvSpPr/>
          <p:nvPr/>
        </p:nvSpPr>
        <p:spPr>
          <a:xfrm>
            <a:off x="3438144" y="1828800"/>
            <a:ext cx="82296" cy="1280160"/>
          </a:xfrm>
          <a:prstGeom prst="rect">
            <a:avLst/>
          </a:prstGeom>
          <a:solidFill>
            <a:srgbClr val="6BA5D7"/>
          </a:solidFill>
          <a:ln/>
        </p:spPr>
        <p:txBody>
          <a:bodyPr/>
          <a:lstStyle/>
          <a:p>
            <a:endParaRPr lang="en-US"/>
          </a:p>
        </p:txBody>
      </p:sp>
      <p:sp>
        <p:nvSpPr>
          <p:cNvPr id="13" name="Text 11"/>
          <p:cNvSpPr/>
          <p:nvPr/>
        </p:nvSpPr>
        <p:spPr>
          <a:xfrm>
            <a:off x="3657600" y="1975104"/>
            <a:ext cx="2157984" cy="640080"/>
          </a:xfrm>
          <a:prstGeom prst="rect">
            <a:avLst/>
          </a:prstGeom>
          <a:noFill/>
          <a:ln/>
        </p:spPr>
        <p:txBody>
          <a:bodyPr wrap="square" lIns="0" tIns="0" rIns="0" bIns="0" rtlCol="0" anchor="ctr"/>
          <a:lstStyle/>
          <a:p>
            <a:pPr marL="0" indent="0" algn="l">
              <a:buNone/>
            </a:pPr>
            <a:r>
              <a:rPr lang="en-US" sz="3000" b="1">
                <a:solidFill>
                  <a:srgbClr val="4E79A7"/>
                </a:solidFill>
                <a:latin typeface="Consolas" pitchFamily="34" charset="0"/>
                <a:ea typeface="Consolas" pitchFamily="34" charset="-122"/>
                <a:cs typeface="Consolas" pitchFamily="34" charset="-120"/>
              </a:rPr>
              <a:t>+13.6%</a:t>
            </a:r>
            <a:endParaRPr lang="en-US" sz="3000" dirty="0"/>
          </a:p>
        </p:txBody>
      </p:sp>
      <p:sp>
        <p:nvSpPr>
          <p:cNvPr id="14" name="Text 12"/>
          <p:cNvSpPr/>
          <p:nvPr/>
        </p:nvSpPr>
        <p:spPr>
          <a:xfrm>
            <a:off x="3675888" y="2596896"/>
            <a:ext cx="2112264" cy="292608"/>
          </a:xfrm>
          <a:prstGeom prst="rect">
            <a:avLst/>
          </a:prstGeom>
          <a:noFill/>
          <a:ln/>
        </p:spPr>
        <p:txBody>
          <a:bodyPr wrap="square" lIns="0" tIns="0" rIns="0" bIns="0" rtlCol="0" anchor="ctr"/>
          <a:lstStyle/>
          <a:p>
            <a:pPr marL="0" indent="0" algn="l">
              <a:buNone/>
            </a:pPr>
            <a:r>
              <a:rPr lang="en-US" sz="1100" b="1" kern="0" spc="150">
                <a:solidFill>
                  <a:srgbClr val="2B2A45"/>
                </a:solidFill>
                <a:latin typeface="Trebuchet MS" pitchFamily="34" charset="0"/>
                <a:ea typeface="Trebuchet MS" pitchFamily="34" charset="-122"/>
                <a:cs typeface="Trebuchet MS" pitchFamily="34" charset="-120"/>
              </a:rPr>
              <a:t>2-YR GROWTH</a:t>
            </a:r>
            <a:endParaRPr lang="en-US" sz="1100" dirty="0"/>
          </a:p>
        </p:txBody>
      </p:sp>
      <p:sp>
        <p:nvSpPr>
          <p:cNvPr id="15" name="Text 13"/>
          <p:cNvSpPr/>
          <p:nvPr/>
        </p:nvSpPr>
        <p:spPr>
          <a:xfrm>
            <a:off x="3675888" y="2871216"/>
            <a:ext cx="2112264" cy="274320"/>
          </a:xfrm>
          <a:prstGeom prst="rect">
            <a:avLst/>
          </a:prstGeom>
          <a:noFill/>
          <a:ln/>
        </p:spPr>
        <p:txBody>
          <a:bodyPr wrap="square" lIns="0" tIns="0" rIns="0" bIns="0" rtlCol="0" anchor="ctr"/>
          <a:lstStyle/>
          <a:p>
            <a:pPr marL="0" indent="0" algn="l">
              <a:buNone/>
            </a:pPr>
            <a:r>
              <a:rPr lang="en-US" sz="1050">
                <a:solidFill>
                  <a:srgbClr val="7C7E96"/>
                </a:solidFill>
                <a:latin typeface="Calibri" pitchFamily="34" charset="0"/>
                <a:ea typeface="Calibri" pitchFamily="34" charset="-122"/>
                <a:cs typeface="Calibri" pitchFamily="34" charset="-120"/>
              </a:rPr>
              <a:t>But cooling: 8.4% → 4.8%</a:t>
            </a:r>
            <a:endParaRPr lang="en-US" sz="1050" dirty="0"/>
          </a:p>
        </p:txBody>
      </p:sp>
      <p:sp>
        <p:nvSpPr>
          <p:cNvPr id="16" name="kpi card">
            <a:extLst>
              <a:ext uri="{C183D7F6-B498-43B3-948B-1728B52AA6E4}">
                <adec:decorative xmlns:adec="http://schemas.microsoft.com/office/drawing/2017/decorative" val="1"/>
              </a:ext>
            </a:extLst>
          </p:cNvPr>
          <p:cNvSpPr/>
          <p:nvPr/>
        </p:nvSpPr>
        <p:spPr>
          <a:xfrm>
            <a:off x="6236208" y="1828800"/>
            <a:ext cx="2523744" cy="1280160"/>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17" name="kpi accent">
            <a:extLst>
              <a:ext uri="{C183D7F6-B498-43B3-948B-1728B52AA6E4}">
                <adec:decorative xmlns:adec="http://schemas.microsoft.com/office/drawing/2017/decorative" val="1"/>
              </a:ext>
            </a:extLst>
          </p:cNvPr>
          <p:cNvSpPr/>
          <p:nvPr/>
        </p:nvSpPr>
        <p:spPr>
          <a:xfrm>
            <a:off x="6236208" y="1828800"/>
            <a:ext cx="82296" cy="1280160"/>
          </a:xfrm>
          <a:prstGeom prst="rect">
            <a:avLst/>
          </a:prstGeom>
          <a:solidFill>
            <a:srgbClr val="6BA5D7"/>
          </a:solidFill>
          <a:ln/>
        </p:spPr>
        <p:txBody>
          <a:bodyPr/>
          <a:lstStyle/>
          <a:p>
            <a:endParaRPr lang="en-US"/>
          </a:p>
        </p:txBody>
      </p:sp>
      <p:sp>
        <p:nvSpPr>
          <p:cNvPr id="18" name="Text 16"/>
          <p:cNvSpPr/>
          <p:nvPr/>
        </p:nvSpPr>
        <p:spPr>
          <a:xfrm>
            <a:off x="6455664" y="1975104"/>
            <a:ext cx="2157984" cy="640080"/>
          </a:xfrm>
          <a:prstGeom prst="rect">
            <a:avLst/>
          </a:prstGeom>
          <a:noFill/>
          <a:ln/>
        </p:spPr>
        <p:txBody>
          <a:bodyPr wrap="square" lIns="0" tIns="0" rIns="0" bIns="0" rtlCol="0" anchor="ctr"/>
          <a:lstStyle/>
          <a:p>
            <a:pPr marL="0" indent="0" algn="l">
              <a:buNone/>
            </a:pPr>
            <a:r>
              <a:rPr lang="en-US" sz="3000" b="1">
                <a:solidFill>
                  <a:srgbClr val="4E79A7"/>
                </a:solidFill>
                <a:latin typeface="Consolas" pitchFamily="34" charset="0"/>
                <a:ea typeface="Consolas" pitchFamily="34" charset="-122"/>
                <a:cs typeface="Consolas" pitchFamily="34" charset="-120"/>
              </a:rPr>
              <a:t>~77%</a:t>
            </a:r>
            <a:endParaRPr lang="en-US" sz="3000" dirty="0"/>
          </a:p>
        </p:txBody>
      </p:sp>
      <p:sp>
        <p:nvSpPr>
          <p:cNvPr id="19" name="Text 17"/>
          <p:cNvSpPr/>
          <p:nvPr/>
        </p:nvSpPr>
        <p:spPr>
          <a:xfrm>
            <a:off x="6473952" y="2596896"/>
            <a:ext cx="2112264" cy="292608"/>
          </a:xfrm>
          <a:prstGeom prst="rect">
            <a:avLst/>
          </a:prstGeom>
          <a:noFill/>
          <a:ln/>
        </p:spPr>
        <p:txBody>
          <a:bodyPr wrap="square" lIns="0" tIns="0" rIns="0" bIns="0" rtlCol="0" anchor="ctr"/>
          <a:lstStyle/>
          <a:p>
            <a:pPr marL="0" indent="0" algn="l">
              <a:buNone/>
            </a:pPr>
            <a:r>
              <a:rPr lang="en-US" sz="1100" b="1" kern="0" spc="150">
                <a:solidFill>
                  <a:srgbClr val="2B2A45"/>
                </a:solidFill>
                <a:latin typeface="Trebuchet MS" pitchFamily="34" charset="0"/>
                <a:ea typeface="Trebuchet MS" pitchFamily="34" charset="-122"/>
                <a:cs typeface="Trebuchet MS" pitchFamily="34" charset="-120"/>
              </a:rPr>
              <a:t>PAYMENT RATE</a:t>
            </a:r>
            <a:endParaRPr lang="en-US" sz="1100" dirty="0"/>
          </a:p>
        </p:txBody>
      </p:sp>
      <p:sp>
        <p:nvSpPr>
          <p:cNvPr id="20" name="Text 18"/>
          <p:cNvSpPr/>
          <p:nvPr/>
        </p:nvSpPr>
        <p:spPr>
          <a:xfrm>
            <a:off x="6473952" y="2871216"/>
            <a:ext cx="2112264" cy="274320"/>
          </a:xfrm>
          <a:prstGeom prst="rect">
            <a:avLst/>
          </a:prstGeom>
          <a:noFill/>
          <a:ln/>
        </p:spPr>
        <p:txBody>
          <a:bodyPr wrap="square" lIns="0" tIns="0" rIns="0" bIns="0" rtlCol="0" anchor="ctr"/>
          <a:lstStyle/>
          <a:p>
            <a:pPr marL="0" indent="0" algn="l">
              <a:buNone/>
            </a:pPr>
            <a:r>
              <a:rPr lang="en-US" sz="1050">
                <a:solidFill>
                  <a:srgbClr val="7C7E96"/>
                </a:solidFill>
                <a:latin typeface="Calibri" pitchFamily="34" charset="0"/>
                <a:ea typeface="Calibri" pitchFamily="34" charset="-122"/>
                <a:cs typeface="Calibri" pitchFamily="34" charset="-120"/>
              </a:rPr>
              <a:t>Stable share of charges paid</a:t>
            </a:r>
            <a:endParaRPr lang="en-US" sz="1050" dirty="0"/>
          </a:p>
        </p:txBody>
      </p:sp>
      <p:sp>
        <p:nvSpPr>
          <p:cNvPr id="21" name="kpi card">
            <a:extLst>
              <a:ext uri="{C183D7F6-B498-43B3-948B-1728B52AA6E4}">
                <adec:decorative xmlns:adec="http://schemas.microsoft.com/office/drawing/2017/decorative" val="1"/>
              </a:ext>
            </a:extLst>
          </p:cNvPr>
          <p:cNvSpPr/>
          <p:nvPr/>
        </p:nvSpPr>
        <p:spPr>
          <a:xfrm>
            <a:off x="9034272" y="1828800"/>
            <a:ext cx="2523744" cy="1280160"/>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22" name="kpi accent">
            <a:extLst>
              <a:ext uri="{C183D7F6-B498-43B3-948B-1728B52AA6E4}">
                <adec:decorative xmlns:adec="http://schemas.microsoft.com/office/drawing/2017/decorative" val="1"/>
              </a:ext>
            </a:extLst>
          </p:cNvPr>
          <p:cNvSpPr/>
          <p:nvPr/>
        </p:nvSpPr>
        <p:spPr>
          <a:xfrm>
            <a:off x="9034272" y="1828800"/>
            <a:ext cx="82296" cy="1280160"/>
          </a:xfrm>
          <a:prstGeom prst="rect">
            <a:avLst/>
          </a:prstGeom>
          <a:solidFill>
            <a:srgbClr val="6BA5D7"/>
          </a:solidFill>
          <a:ln/>
        </p:spPr>
        <p:txBody>
          <a:bodyPr/>
          <a:lstStyle/>
          <a:p>
            <a:endParaRPr lang="en-US"/>
          </a:p>
        </p:txBody>
      </p:sp>
      <p:sp>
        <p:nvSpPr>
          <p:cNvPr id="23" name="Text 21"/>
          <p:cNvSpPr/>
          <p:nvPr/>
        </p:nvSpPr>
        <p:spPr>
          <a:xfrm>
            <a:off x="9253728" y="1975104"/>
            <a:ext cx="2157984" cy="640080"/>
          </a:xfrm>
          <a:prstGeom prst="rect">
            <a:avLst/>
          </a:prstGeom>
          <a:noFill/>
          <a:ln/>
        </p:spPr>
        <p:txBody>
          <a:bodyPr wrap="square" lIns="0" tIns="0" rIns="0" bIns="0" rtlCol="0" anchor="ctr"/>
          <a:lstStyle/>
          <a:p>
            <a:pPr marL="0" indent="0" algn="l">
              <a:buNone/>
            </a:pPr>
            <a:r>
              <a:rPr lang="en-US" sz="3000" b="1">
                <a:solidFill>
                  <a:srgbClr val="4E79A7"/>
                </a:solidFill>
                <a:latin typeface="Consolas" pitchFamily="34" charset="0"/>
                <a:ea typeface="Consolas" pitchFamily="34" charset="-122"/>
                <a:cs typeface="Consolas" pitchFamily="34" charset="-120"/>
              </a:rPr>
              <a:t>160×</a:t>
            </a:r>
            <a:endParaRPr lang="en-US" sz="3000" dirty="0"/>
          </a:p>
        </p:txBody>
      </p:sp>
      <p:sp>
        <p:nvSpPr>
          <p:cNvPr id="24" name="Text 22"/>
          <p:cNvSpPr/>
          <p:nvPr/>
        </p:nvSpPr>
        <p:spPr>
          <a:xfrm>
            <a:off x="9272016" y="2596896"/>
            <a:ext cx="2112264" cy="292608"/>
          </a:xfrm>
          <a:prstGeom prst="rect">
            <a:avLst/>
          </a:prstGeom>
          <a:noFill/>
          <a:ln/>
        </p:spPr>
        <p:txBody>
          <a:bodyPr wrap="square" lIns="0" tIns="0" rIns="0" bIns="0" rtlCol="0" anchor="ctr"/>
          <a:lstStyle/>
          <a:p>
            <a:pPr marL="0" indent="0" algn="l">
              <a:buNone/>
            </a:pPr>
            <a:r>
              <a:rPr lang="en-US" sz="1100" b="1" kern="0" spc="150">
                <a:solidFill>
                  <a:srgbClr val="2B2A45"/>
                </a:solidFill>
                <a:latin typeface="Trebuchet MS" pitchFamily="34" charset="0"/>
                <a:ea typeface="Trebuchet MS" pitchFamily="34" charset="-122"/>
                <a:cs typeface="Trebuchet MS" pitchFamily="34" charset="-120"/>
              </a:rPr>
              <a:t>COST SPREAD</a:t>
            </a:r>
            <a:endParaRPr lang="en-US" sz="1100" dirty="0"/>
          </a:p>
        </p:txBody>
      </p:sp>
      <p:sp>
        <p:nvSpPr>
          <p:cNvPr id="25" name="Text 23"/>
          <p:cNvSpPr/>
          <p:nvPr/>
        </p:nvSpPr>
        <p:spPr>
          <a:xfrm>
            <a:off x="9272016" y="2871216"/>
            <a:ext cx="2112264" cy="274320"/>
          </a:xfrm>
          <a:prstGeom prst="rect">
            <a:avLst/>
          </a:prstGeom>
          <a:noFill/>
          <a:ln/>
        </p:spPr>
        <p:txBody>
          <a:bodyPr wrap="square" lIns="0" tIns="0" rIns="0" bIns="0" rtlCol="0" anchor="ctr"/>
          <a:lstStyle/>
          <a:p>
            <a:pPr marL="0" indent="0" algn="l">
              <a:buNone/>
            </a:pPr>
            <a:r>
              <a:rPr lang="en-US" sz="1050">
                <a:solidFill>
                  <a:srgbClr val="7C7E96"/>
                </a:solidFill>
                <a:latin typeface="Calibri" pitchFamily="34" charset="0"/>
                <a:ea typeface="Calibri" pitchFamily="34" charset="-122"/>
                <a:cs typeface="Calibri" pitchFamily="34" charset="-120"/>
              </a:rPr>
              <a:t>$1.71 → $276 per service</a:t>
            </a:r>
            <a:endParaRPr lang="en-US" sz="1050" dirty="0"/>
          </a:p>
        </p:txBody>
      </p:sp>
      <p:sp>
        <p:nvSpPr>
          <p:cNvPr id="26" name="Text 24">
            <a:extLst>
              <a:ext uri="{C183D7F6-B498-43B3-948B-1728B52AA6E4}">
                <adec:decorative xmlns:adec="http://schemas.microsoft.com/office/drawing/2017/decorative" val="1"/>
              </a:ext>
            </a:extLst>
          </p:cNvPr>
          <p:cNvSpPr/>
          <p:nvPr/>
        </p:nvSpPr>
        <p:spPr>
          <a:xfrm>
            <a:off x="640080" y="3310128"/>
            <a:ext cx="6400800" cy="310896"/>
          </a:xfrm>
          <a:prstGeom prst="rect">
            <a:avLst/>
          </a:prstGeom>
          <a:noFill/>
          <a:ln/>
        </p:spPr>
        <p:txBody>
          <a:bodyPr wrap="square" lIns="0" tIns="0" rIns="0" bIns="0" rtlCol="0" anchor="ctr"/>
          <a:lstStyle/>
          <a:p>
            <a:pPr marL="0" indent="0">
              <a:buNone/>
            </a:pPr>
            <a:r>
              <a:rPr lang="en-US" sz="1400" b="1" kern="0" spc="100">
                <a:solidFill>
                  <a:srgbClr val="4E79A7"/>
                </a:solidFill>
                <a:latin typeface="Trebuchet MS" pitchFamily="34" charset="0"/>
                <a:ea typeface="Trebuchet MS" pitchFamily="34" charset="-122"/>
                <a:cs typeface="Trebuchet MS" pitchFamily="34" charset="-120"/>
              </a:rPr>
              <a:t>What the data says</a:t>
            </a:r>
            <a:endParaRPr lang="en-US" sz="1400" dirty="0"/>
          </a:p>
        </p:txBody>
      </p:sp>
      <p:sp>
        <p:nvSpPr>
          <p:cNvPr id="27" name="finding accent">
            <a:extLst>
              <a:ext uri="{C183D7F6-B498-43B3-948B-1728B52AA6E4}">
                <adec:decorative xmlns:adec="http://schemas.microsoft.com/office/drawing/2017/decorative" val="1"/>
              </a:ext>
            </a:extLst>
          </p:cNvPr>
          <p:cNvSpPr/>
          <p:nvPr/>
        </p:nvSpPr>
        <p:spPr>
          <a:xfrm>
            <a:off x="640080" y="3712464"/>
            <a:ext cx="82296" cy="530352"/>
          </a:xfrm>
          <a:prstGeom prst="rect">
            <a:avLst/>
          </a:prstGeom>
          <a:solidFill>
            <a:srgbClr val="6BA5D7"/>
          </a:solidFill>
          <a:ln/>
        </p:spPr>
        <p:txBody>
          <a:bodyPr/>
          <a:lstStyle/>
          <a:p>
            <a:endParaRPr lang="en-US"/>
          </a:p>
        </p:txBody>
      </p:sp>
      <p:sp>
        <p:nvSpPr>
          <p:cNvPr id="28" name="Text 26"/>
          <p:cNvSpPr/>
          <p:nvPr/>
        </p:nvSpPr>
        <p:spPr>
          <a:xfrm>
            <a:off x="786384" y="3675888"/>
            <a:ext cx="457200" cy="329184"/>
          </a:xfrm>
          <a:prstGeom prst="rect">
            <a:avLst/>
          </a:prstGeom>
          <a:noFill/>
          <a:ln/>
        </p:spPr>
        <p:txBody>
          <a:bodyPr wrap="square" lIns="0" tIns="0" rIns="0" bIns="0" rtlCol="0" anchor="ctr"/>
          <a:lstStyle/>
          <a:p>
            <a:pPr marL="0" indent="0">
              <a:buNone/>
            </a:pPr>
            <a:r>
              <a:rPr lang="en-US" sz="1500" b="1">
                <a:solidFill>
                  <a:srgbClr val="4E79A7"/>
                </a:solidFill>
                <a:latin typeface="Consolas" pitchFamily="34" charset="0"/>
                <a:ea typeface="Consolas" pitchFamily="34" charset="-122"/>
                <a:cs typeface="Consolas" pitchFamily="34" charset="-120"/>
              </a:rPr>
              <a:t>01</a:t>
            </a:r>
            <a:endParaRPr lang="en-US" sz="1500" dirty="0"/>
          </a:p>
        </p:txBody>
      </p:sp>
      <p:sp>
        <p:nvSpPr>
          <p:cNvPr id="29" name="Text 27"/>
          <p:cNvSpPr/>
          <p:nvPr/>
        </p:nvSpPr>
        <p:spPr>
          <a:xfrm>
            <a:off x="1280160" y="3657600"/>
            <a:ext cx="5394960" cy="292608"/>
          </a:xfrm>
          <a:prstGeom prst="rect">
            <a:avLst/>
          </a:prstGeom>
          <a:noFill/>
          <a:ln/>
        </p:spPr>
        <p:txBody>
          <a:bodyPr wrap="square" lIns="0" tIns="0" rIns="0" bIns="0" rtlCol="0" anchor="ctr"/>
          <a:lstStyle/>
          <a:p>
            <a:pPr marL="0" indent="0">
              <a:buNone/>
            </a:pPr>
            <a:r>
              <a:rPr lang="en-US" sz="1250" b="1">
                <a:solidFill>
                  <a:srgbClr val="2B2A45"/>
                </a:solidFill>
                <a:latin typeface="Trebuchet MS" pitchFamily="34" charset="0"/>
                <a:ea typeface="Trebuchet MS" pitchFamily="34" charset="-122"/>
                <a:cs typeface="Trebuchet MS" pitchFamily="34" charset="-120"/>
              </a:rPr>
              <a:t>Spending rising, growth cooling</a:t>
            </a:r>
            <a:endParaRPr lang="en-US" sz="1250" dirty="0"/>
          </a:p>
        </p:txBody>
      </p:sp>
      <p:sp>
        <p:nvSpPr>
          <p:cNvPr id="30" name="Text 28"/>
          <p:cNvSpPr/>
          <p:nvPr/>
        </p:nvSpPr>
        <p:spPr>
          <a:xfrm>
            <a:off x="1280160" y="3950208"/>
            <a:ext cx="5394960" cy="365760"/>
          </a:xfrm>
          <a:prstGeom prst="rect">
            <a:avLst/>
          </a:prstGeom>
          <a:noFill/>
          <a:ln/>
        </p:spPr>
        <p:txBody>
          <a:bodyPr wrap="square" lIns="0" tIns="0" rIns="0" bIns="0" rtlCol="0" anchor="t"/>
          <a:lstStyle/>
          <a:p>
            <a:pPr marL="0" indent="0">
              <a:lnSpc>
                <a:spcPct val="98000"/>
              </a:lnSpc>
              <a:buNone/>
            </a:pPr>
            <a:r>
              <a:rPr lang="en-US" sz="1050">
                <a:solidFill>
                  <a:srgbClr val="7C7E96"/>
                </a:solidFill>
                <a:latin typeface="Calibri" pitchFamily="34" charset="0"/>
                <a:ea typeface="Calibri" pitchFamily="34" charset="-122"/>
                <a:cs typeface="Calibri" pitchFamily="34" charset="-120"/>
              </a:rPr>
              <a:t>Payments reached $131.7B in 2024 — up 13.6% over two years — but annual growth slowed sharply.</a:t>
            </a:r>
            <a:endParaRPr lang="en-US" sz="1050" dirty="0"/>
          </a:p>
        </p:txBody>
      </p:sp>
      <p:sp>
        <p:nvSpPr>
          <p:cNvPr id="31" name="finding accent">
            <a:extLst>
              <a:ext uri="{C183D7F6-B498-43B3-948B-1728B52AA6E4}">
                <adec:decorative xmlns:adec="http://schemas.microsoft.com/office/drawing/2017/decorative" val="1"/>
              </a:ext>
            </a:extLst>
          </p:cNvPr>
          <p:cNvSpPr/>
          <p:nvPr/>
        </p:nvSpPr>
        <p:spPr>
          <a:xfrm>
            <a:off x="640080" y="4370832"/>
            <a:ext cx="82296" cy="530352"/>
          </a:xfrm>
          <a:prstGeom prst="rect">
            <a:avLst/>
          </a:prstGeom>
          <a:solidFill>
            <a:srgbClr val="6BA5D7"/>
          </a:solidFill>
          <a:ln/>
        </p:spPr>
        <p:txBody>
          <a:bodyPr/>
          <a:lstStyle/>
          <a:p>
            <a:endParaRPr lang="en-US"/>
          </a:p>
        </p:txBody>
      </p:sp>
      <p:sp>
        <p:nvSpPr>
          <p:cNvPr id="32" name="Text 30">
            <a:extLst>
              <a:ext uri="{C183D7F6-B498-43B3-948B-1728B52AA6E4}">
                <adec:decorative xmlns:adec="http://schemas.microsoft.com/office/drawing/2017/decorative" val="1"/>
              </a:ext>
            </a:extLst>
          </p:cNvPr>
          <p:cNvSpPr/>
          <p:nvPr/>
        </p:nvSpPr>
        <p:spPr>
          <a:xfrm>
            <a:off x="786384" y="4334256"/>
            <a:ext cx="457200" cy="329184"/>
          </a:xfrm>
          <a:prstGeom prst="rect">
            <a:avLst/>
          </a:prstGeom>
          <a:noFill/>
          <a:ln/>
        </p:spPr>
        <p:txBody>
          <a:bodyPr wrap="square" lIns="0" tIns="0" rIns="0" bIns="0" rtlCol="0" anchor="ctr"/>
          <a:lstStyle/>
          <a:p>
            <a:pPr marL="0" indent="0">
              <a:buNone/>
            </a:pPr>
            <a:r>
              <a:rPr lang="en-US" sz="1500" b="1">
                <a:solidFill>
                  <a:srgbClr val="4E79A7"/>
                </a:solidFill>
                <a:latin typeface="Consolas" pitchFamily="34" charset="0"/>
                <a:ea typeface="Consolas" pitchFamily="34" charset="-122"/>
                <a:cs typeface="Consolas" pitchFamily="34" charset="-120"/>
              </a:rPr>
              <a:t>02</a:t>
            </a:r>
            <a:endParaRPr lang="en-US" sz="1500" dirty="0"/>
          </a:p>
        </p:txBody>
      </p:sp>
      <p:sp>
        <p:nvSpPr>
          <p:cNvPr id="33" name="Text 31"/>
          <p:cNvSpPr/>
          <p:nvPr/>
        </p:nvSpPr>
        <p:spPr>
          <a:xfrm>
            <a:off x="1280160" y="4315968"/>
            <a:ext cx="5394960" cy="292608"/>
          </a:xfrm>
          <a:prstGeom prst="rect">
            <a:avLst/>
          </a:prstGeom>
          <a:noFill/>
          <a:ln/>
        </p:spPr>
        <p:txBody>
          <a:bodyPr wrap="square" lIns="0" tIns="0" rIns="0" bIns="0" rtlCol="0" anchor="ctr"/>
          <a:lstStyle/>
          <a:p>
            <a:pPr marL="0" indent="0">
              <a:buNone/>
            </a:pPr>
            <a:r>
              <a:rPr lang="en-US" sz="1250" b="1">
                <a:solidFill>
                  <a:srgbClr val="2B2A45"/>
                </a:solidFill>
                <a:latin typeface="Trebuchet MS" pitchFamily="34" charset="0"/>
                <a:ea typeface="Trebuchet MS" pitchFamily="34" charset="-122"/>
                <a:cs typeface="Trebuchet MS" pitchFamily="34" charset="-120"/>
              </a:rPr>
              <a:t>Reimbursement stays stable</a:t>
            </a:r>
            <a:endParaRPr lang="en-US" sz="1250" dirty="0"/>
          </a:p>
        </p:txBody>
      </p:sp>
      <p:sp>
        <p:nvSpPr>
          <p:cNvPr id="34" name="Text 32"/>
          <p:cNvSpPr/>
          <p:nvPr/>
        </p:nvSpPr>
        <p:spPr>
          <a:xfrm>
            <a:off x="1280160" y="4608576"/>
            <a:ext cx="5394960" cy="365760"/>
          </a:xfrm>
          <a:prstGeom prst="rect">
            <a:avLst/>
          </a:prstGeom>
          <a:noFill/>
          <a:ln/>
        </p:spPr>
        <p:txBody>
          <a:bodyPr wrap="square" lIns="0" tIns="0" rIns="0" bIns="0" rtlCol="0" anchor="t"/>
          <a:lstStyle/>
          <a:p>
            <a:pPr marL="0" indent="0">
              <a:lnSpc>
                <a:spcPct val="98000"/>
              </a:lnSpc>
              <a:buNone/>
            </a:pPr>
            <a:r>
              <a:rPr lang="en-US" sz="1050">
                <a:solidFill>
                  <a:srgbClr val="7C7E96"/>
                </a:solidFill>
                <a:latin typeface="Calibri" pitchFamily="34" charset="0"/>
                <a:ea typeface="Calibri" pitchFamily="34" charset="-122"/>
                <a:cs typeface="Calibri" pitchFamily="34" charset="-120"/>
              </a:rPr>
              <a:t>Medicare pays ~77% of allowed charges every year, dipping only to 76.8% in 2024.</a:t>
            </a:r>
            <a:endParaRPr lang="en-US" sz="1050" dirty="0"/>
          </a:p>
        </p:txBody>
      </p:sp>
      <p:sp>
        <p:nvSpPr>
          <p:cNvPr id="35" name="finding accent">
            <a:extLst>
              <a:ext uri="{C183D7F6-B498-43B3-948B-1728B52AA6E4}">
                <adec:decorative xmlns:adec="http://schemas.microsoft.com/office/drawing/2017/decorative" val="1"/>
              </a:ext>
            </a:extLst>
          </p:cNvPr>
          <p:cNvSpPr/>
          <p:nvPr/>
        </p:nvSpPr>
        <p:spPr>
          <a:xfrm>
            <a:off x="640080" y="5029200"/>
            <a:ext cx="82296" cy="530352"/>
          </a:xfrm>
          <a:prstGeom prst="rect">
            <a:avLst/>
          </a:prstGeom>
          <a:solidFill>
            <a:srgbClr val="6BA5D7"/>
          </a:solidFill>
          <a:ln/>
        </p:spPr>
        <p:txBody>
          <a:bodyPr/>
          <a:lstStyle/>
          <a:p>
            <a:endParaRPr lang="en-US"/>
          </a:p>
        </p:txBody>
      </p:sp>
      <p:sp>
        <p:nvSpPr>
          <p:cNvPr id="36" name="Text 34"/>
          <p:cNvSpPr/>
          <p:nvPr/>
        </p:nvSpPr>
        <p:spPr>
          <a:xfrm>
            <a:off x="786384" y="4992624"/>
            <a:ext cx="457200" cy="329184"/>
          </a:xfrm>
          <a:prstGeom prst="rect">
            <a:avLst/>
          </a:prstGeom>
          <a:noFill/>
          <a:ln/>
        </p:spPr>
        <p:txBody>
          <a:bodyPr wrap="square" lIns="0" tIns="0" rIns="0" bIns="0" rtlCol="0" anchor="ctr"/>
          <a:lstStyle/>
          <a:p>
            <a:pPr marL="0" indent="0">
              <a:buNone/>
            </a:pPr>
            <a:r>
              <a:rPr lang="en-US" sz="1500" b="1">
                <a:solidFill>
                  <a:srgbClr val="4E79A7"/>
                </a:solidFill>
                <a:latin typeface="Consolas" pitchFamily="34" charset="0"/>
                <a:ea typeface="Consolas" pitchFamily="34" charset="-122"/>
                <a:cs typeface="Consolas" pitchFamily="34" charset="-120"/>
              </a:rPr>
              <a:t>03</a:t>
            </a:r>
            <a:endParaRPr lang="en-US" sz="1500" dirty="0"/>
          </a:p>
        </p:txBody>
      </p:sp>
      <p:sp>
        <p:nvSpPr>
          <p:cNvPr id="37" name="Text 35"/>
          <p:cNvSpPr/>
          <p:nvPr/>
        </p:nvSpPr>
        <p:spPr>
          <a:xfrm>
            <a:off x="1280160" y="4974336"/>
            <a:ext cx="5394960" cy="292608"/>
          </a:xfrm>
          <a:prstGeom prst="rect">
            <a:avLst/>
          </a:prstGeom>
          <a:noFill/>
          <a:ln/>
        </p:spPr>
        <p:txBody>
          <a:bodyPr wrap="square" lIns="0" tIns="0" rIns="0" bIns="0" rtlCol="0" anchor="ctr"/>
          <a:lstStyle/>
          <a:p>
            <a:pPr marL="0" indent="0">
              <a:buNone/>
            </a:pPr>
            <a:r>
              <a:rPr lang="en-US" sz="1250" b="1">
                <a:solidFill>
                  <a:srgbClr val="2B2A45"/>
                </a:solidFill>
                <a:latin typeface="Trebuchet MS" pitchFamily="34" charset="0"/>
                <a:ea typeface="Trebuchet MS" pitchFamily="34" charset="-122"/>
                <a:cs typeface="Trebuchet MS" pitchFamily="34" charset="-120"/>
              </a:rPr>
              <a:t>Spend is concentrated and bimodal</a:t>
            </a:r>
            <a:endParaRPr lang="en-US" sz="1250" dirty="0"/>
          </a:p>
        </p:txBody>
      </p:sp>
      <p:sp>
        <p:nvSpPr>
          <p:cNvPr id="38" name="Text 36"/>
          <p:cNvSpPr/>
          <p:nvPr/>
        </p:nvSpPr>
        <p:spPr>
          <a:xfrm>
            <a:off x="1280160" y="5266944"/>
            <a:ext cx="5394960" cy="365760"/>
          </a:xfrm>
          <a:prstGeom prst="rect">
            <a:avLst/>
          </a:prstGeom>
          <a:noFill/>
          <a:ln/>
        </p:spPr>
        <p:txBody>
          <a:bodyPr wrap="square" lIns="0" tIns="0" rIns="0" bIns="0" rtlCol="0" anchor="t"/>
          <a:lstStyle/>
          <a:p>
            <a:pPr marL="0" indent="0">
              <a:lnSpc>
                <a:spcPct val="98000"/>
              </a:lnSpc>
              <a:buNone/>
            </a:pPr>
            <a:r>
              <a:rPr lang="en-US" sz="1050">
                <a:solidFill>
                  <a:srgbClr val="7C7E96"/>
                </a:solidFill>
                <a:latin typeface="Calibri" pitchFamily="34" charset="0"/>
                <a:ea typeface="Calibri" pitchFamily="34" charset="-122"/>
                <a:cs typeface="Calibri" pitchFamily="34" charset="-120"/>
              </a:rPr>
              <a:t>The top 10 specialties ≈ $54.8B — high-volume commodity fields on one side, high-intensity surgery on the other.</a:t>
            </a:r>
            <a:endParaRPr lang="en-US" sz="1050" dirty="0"/>
          </a:p>
        </p:txBody>
      </p:sp>
      <p:sp>
        <p:nvSpPr>
          <p:cNvPr id="39" name="finding accent">
            <a:extLst>
              <a:ext uri="{C183D7F6-B498-43B3-948B-1728B52AA6E4}">
                <adec:decorative xmlns:adec="http://schemas.microsoft.com/office/drawing/2017/decorative" val="1"/>
              </a:ext>
            </a:extLst>
          </p:cNvPr>
          <p:cNvSpPr/>
          <p:nvPr/>
        </p:nvSpPr>
        <p:spPr>
          <a:xfrm>
            <a:off x="640080" y="5687568"/>
            <a:ext cx="82296" cy="530352"/>
          </a:xfrm>
          <a:prstGeom prst="rect">
            <a:avLst/>
          </a:prstGeom>
          <a:solidFill>
            <a:srgbClr val="6BA5D7"/>
          </a:solidFill>
          <a:ln/>
        </p:spPr>
        <p:txBody>
          <a:bodyPr/>
          <a:lstStyle/>
          <a:p>
            <a:endParaRPr lang="en-US"/>
          </a:p>
        </p:txBody>
      </p:sp>
      <p:sp>
        <p:nvSpPr>
          <p:cNvPr id="40" name="Text 38"/>
          <p:cNvSpPr/>
          <p:nvPr/>
        </p:nvSpPr>
        <p:spPr>
          <a:xfrm>
            <a:off x="786384" y="5650992"/>
            <a:ext cx="457200" cy="329184"/>
          </a:xfrm>
          <a:prstGeom prst="rect">
            <a:avLst/>
          </a:prstGeom>
          <a:noFill/>
          <a:ln/>
        </p:spPr>
        <p:txBody>
          <a:bodyPr wrap="square" lIns="0" tIns="0" rIns="0" bIns="0" rtlCol="0" anchor="ctr"/>
          <a:lstStyle/>
          <a:p>
            <a:pPr marL="0" indent="0">
              <a:buNone/>
            </a:pPr>
            <a:r>
              <a:rPr lang="en-US" sz="1500" b="1">
                <a:solidFill>
                  <a:srgbClr val="4E79A7"/>
                </a:solidFill>
                <a:latin typeface="Consolas" pitchFamily="34" charset="0"/>
                <a:ea typeface="Consolas" pitchFamily="34" charset="-122"/>
                <a:cs typeface="Consolas" pitchFamily="34" charset="-120"/>
              </a:rPr>
              <a:t>04</a:t>
            </a:r>
            <a:endParaRPr lang="en-US" sz="1500" dirty="0"/>
          </a:p>
        </p:txBody>
      </p:sp>
      <p:sp>
        <p:nvSpPr>
          <p:cNvPr id="41" name="Text 39"/>
          <p:cNvSpPr/>
          <p:nvPr/>
        </p:nvSpPr>
        <p:spPr>
          <a:xfrm>
            <a:off x="1280160" y="5632704"/>
            <a:ext cx="5394960" cy="292608"/>
          </a:xfrm>
          <a:prstGeom prst="rect">
            <a:avLst/>
          </a:prstGeom>
          <a:noFill/>
          <a:ln/>
        </p:spPr>
        <p:txBody>
          <a:bodyPr wrap="square" lIns="0" tIns="0" rIns="0" bIns="0" rtlCol="0" anchor="ctr"/>
          <a:lstStyle/>
          <a:p>
            <a:pPr marL="0" indent="0">
              <a:buNone/>
            </a:pPr>
            <a:r>
              <a:rPr lang="en-US" sz="1250" b="1">
                <a:solidFill>
                  <a:srgbClr val="2B2A45"/>
                </a:solidFill>
                <a:latin typeface="Trebuchet MS" pitchFamily="34" charset="0"/>
                <a:ea typeface="Trebuchet MS" pitchFamily="34" charset="-122"/>
                <a:cs typeface="Trebuchet MS" pitchFamily="34" charset="-120"/>
              </a:rPr>
              <a:t>2024 growth was price-led</a:t>
            </a:r>
            <a:endParaRPr lang="en-US" sz="1250" dirty="0"/>
          </a:p>
        </p:txBody>
      </p:sp>
      <p:sp>
        <p:nvSpPr>
          <p:cNvPr id="42" name="Text 40"/>
          <p:cNvSpPr/>
          <p:nvPr/>
        </p:nvSpPr>
        <p:spPr>
          <a:xfrm>
            <a:off x="1280160" y="5925312"/>
            <a:ext cx="5394960" cy="365760"/>
          </a:xfrm>
          <a:prstGeom prst="rect">
            <a:avLst/>
          </a:prstGeom>
          <a:noFill/>
          <a:ln/>
        </p:spPr>
        <p:txBody>
          <a:bodyPr wrap="square" lIns="0" tIns="0" rIns="0" bIns="0" rtlCol="0" anchor="t"/>
          <a:lstStyle/>
          <a:p>
            <a:pPr marL="0" indent="0">
              <a:lnSpc>
                <a:spcPct val="98000"/>
              </a:lnSpc>
              <a:buNone/>
            </a:pPr>
            <a:r>
              <a:rPr lang="en-US" sz="1050">
                <a:solidFill>
                  <a:srgbClr val="7C7E96"/>
                </a:solidFill>
                <a:latin typeface="Calibri" pitchFamily="34" charset="0"/>
                <a:ea typeface="Calibri" pitchFamily="34" charset="-122"/>
                <a:cs typeface="Calibri" pitchFamily="34" charset="-120"/>
              </a:rPr>
              <a:t>Service volume eased from its 2023 peak while payment per service rebounded to $22.08.</a:t>
            </a:r>
            <a:endParaRPr lang="en-US" sz="1050" dirty="0"/>
          </a:p>
        </p:txBody>
      </p:sp>
      <p:sp>
        <p:nvSpPr>
          <p:cNvPr id="43" name="priorities panel">
            <a:extLst>
              <a:ext uri="{C183D7F6-B498-43B3-948B-1728B52AA6E4}">
                <adec:decorative xmlns:adec="http://schemas.microsoft.com/office/drawing/2017/decorative" val="1"/>
              </a:ext>
            </a:extLst>
          </p:cNvPr>
          <p:cNvSpPr/>
          <p:nvPr/>
        </p:nvSpPr>
        <p:spPr>
          <a:xfrm>
            <a:off x="7452360" y="3310128"/>
            <a:ext cx="4096512" cy="2962656"/>
          </a:xfrm>
          <a:prstGeom prst="rect">
            <a:avLst/>
          </a:prstGeom>
          <a:solidFill>
            <a:srgbClr val="43426A"/>
          </a:solidFill>
          <a:ln/>
        </p:spPr>
        <p:txBody>
          <a:bodyPr/>
          <a:lstStyle/>
          <a:p>
            <a:endParaRPr lang="en-US"/>
          </a:p>
        </p:txBody>
      </p:sp>
      <p:sp>
        <p:nvSpPr>
          <p:cNvPr id="44" name="panel accent">
            <a:extLst>
              <a:ext uri="{C183D7F6-B498-43B3-948B-1728B52AA6E4}">
                <adec:decorative xmlns:adec="http://schemas.microsoft.com/office/drawing/2017/decorative" val="1"/>
              </a:ext>
            </a:extLst>
          </p:cNvPr>
          <p:cNvSpPr/>
          <p:nvPr/>
        </p:nvSpPr>
        <p:spPr>
          <a:xfrm>
            <a:off x="7452360" y="3310128"/>
            <a:ext cx="4096512" cy="82296"/>
          </a:xfrm>
          <a:prstGeom prst="rect">
            <a:avLst/>
          </a:prstGeom>
          <a:solidFill>
            <a:srgbClr val="6BA5D7"/>
          </a:solidFill>
          <a:ln/>
        </p:spPr>
        <p:txBody>
          <a:bodyPr/>
          <a:lstStyle/>
          <a:p>
            <a:endParaRPr lang="en-US"/>
          </a:p>
        </p:txBody>
      </p:sp>
      <p:sp>
        <p:nvSpPr>
          <p:cNvPr id="45" name="Text 43"/>
          <p:cNvSpPr/>
          <p:nvPr/>
        </p:nvSpPr>
        <p:spPr>
          <a:xfrm>
            <a:off x="7726680" y="3547872"/>
            <a:ext cx="3547872" cy="329184"/>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Where to focus</a:t>
            </a:r>
            <a:endParaRPr lang="en-US" sz="1500" dirty="0"/>
          </a:p>
        </p:txBody>
      </p:sp>
      <p:sp>
        <p:nvSpPr>
          <p:cNvPr id="46" name="Text 44"/>
          <p:cNvSpPr/>
          <p:nvPr/>
        </p:nvSpPr>
        <p:spPr>
          <a:xfrm>
            <a:off x="7726680" y="4059936"/>
            <a:ext cx="365760" cy="320040"/>
          </a:xfrm>
          <a:prstGeom prst="rect">
            <a:avLst/>
          </a:prstGeom>
          <a:noFill/>
          <a:ln/>
        </p:spPr>
        <p:txBody>
          <a:bodyPr wrap="square" lIns="0" tIns="0" rIns="0" bIns="0" rtlCol="0" anchor="ctr"/>
          <a:lstStyle/>
          <a:p>
            <a:pPr marL="0" indent="0">
              <a:buNone/>
            </a:pPr>
            <a:r>
              <a:rPr lang="en-US" sz="1600" b="1">
                <a:solidFill>
                  <a:srgbClr val="6BA5D7"/>
                </a:solidFill>
                <a:latin typeface="Consolas" pitchFamily="34" charset="0"/>
                <a:ea typeface="Consolas" pitchFamily="34" charset="-122"/>
                <a:cs typeface="Consolas" pitchFamily="34" charset="-120"/>
              </a:rPr>
              <a:t>1</a:t>
            </a:r>
            <a:endParaRPr lang="en-US" sz="1600" dirty="0"/>
          </a:p>
        </p:txBody>
      </p:sp>
      <p:sp>
        <p:nvSpPr>
          <p:cNvPr id="47" name="Text 45"/>
          <p:cNvSpPr/>
          <p:nvPr/>
        </p:nvSpPr>
        <p:spPr>
          <a:xfrm>
            <a:off x="8110728" y="4041648"/>
            <a:ext cx="3182112" cy="292608"/>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Target the high-spend core</a:t>
            </a:r>
            <a:endParaRPr lang="en-US" sz="1200" dirty="0"/>
          </a:p>
        </p:txBody>
      </p:sp>
      <p:sp>
        <p:nvSpPr>
          <p:cNvPr id="48" name="Text 46"/>
          <p:cNvSpPr/>
          <p:nvPr/>
        </p:nvSpPr>
        <p:spPr>
          <a:xfrm>
            <a:off x="8110728" y="4334256"/>
            <a:ext cx="3182112" cy="384048"/>
          </a:xfrm>
          <a:prstGeom prst="rect">
            <a:avLst/>
          </a:prstGeom>
          <a:noFill/>
          <a:ln/>
        </p:spPr>
        <p:txBody>
          <a:bodyPr wrap="square" lIns="0" tIns="0" rIns="0" bIns="0" rtlCol="0" anchor="t"/>
          <a:lstStyle/>
          <a:p>
            <a:pPr marL="0" indent="0">
              <a:lnSpc>
                <a:spcPct val="98000"/>
              </a:lnSpc>
              <a:buNone/>
            </a:pPr>
            <a:r>
              <a:rPr lang="en-US" sz="1050">
                <a:solidFill>
                  <a:srgbClr val="CBD9E9"/>
                </a:solidFill>
                <a:latin typeface="Calibri" pitchFamily="34" charset="0"/>
                <a:ea typeface="Calibri" pitchFamily="34" charset="-122"/>
                <a:cs typeface="Calibri" pitchFamily="34" charset="-120"/>
              </a:rPr>
              <a:t>Primary care, ophthalmology and NP practices move the budget most.</a:t>
            </a:r>
            <a:endParaRPr lang="en-US" sz="1050" dirty="0"/>
          </a:p>
        </p:txBody>
      </p:sp>
      <p:sp>
        <p:nvSpPr>
          <p:cNvPr id="49" name="Text 47"/>
          <p:cNvSpPr/>
          <p:nvPr/>
        </p:nvSpPr>
        <p:spPr>
          <a:xfrm>
            <a:off x="7726680" y="4773168"/>
            <a:ext cx="365760" cy="320040"/>
          </a:xfrm>
          <a:prstGeom prst="rect">
            <a:avLst/>
          </a:prstGeom>
          <a:noFill/>
          <a:ln/>
        </p:spPr>
        <p:txBody>
          <a:bodyPr wrap="square" lIns="0" tIns="0" rIns="0" bIns="0" rtlCol="0" anchor="ctr"/>
          <a:lstStyle/>
          <a:p>
            <a:pPr marL="0" indent="0">
              <a:buNone/>
            </a:pPr>
            <a:r>
              <a:rPr lang="en-US" sz="1600" b="1">
                <a:solidFill>
                  <a:srgbClr val="6BA5D7"/>
                </a:solidFill>
                <a:latin typeface="Consolas" pitchFamily="34" charset="0"/>
                <a:ea typeface="Consolas" pitchFamily="34" charset="-122"/>
                <a:cs typeface="Consolas" pitchFamily="34" charset="-120"/>
              </a:rPr>
              <a:t>2</a:t>
            </a:r>
            <a:endParaRPr lang="en-US" sz="1600" dirty="0"/>
          </a:p>
        </p:txBody>
      </p:sp>
      <p:sp>
        <p:nvSpPr>
          <p:cNvPr id="50" name="Text 48"/>
          <p:cNvSpPr/>
          <p:nvPr/>
        </p:nvSpPr>
        <p:spPr>
          <a:xfrm>
            <a:off x="8110728" y="4754880"/>
            <a:ext cx="3182112" cy="292608"/>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Watch drug-driven charges</a:t>
            </a:r>
            <a:endParaRPr lang="en-US" sz="1200" dirty="0"/>
          </a:p>
        </p:txBody>
      </p:sp>
      <p:sp>
        <p:nvSpPr>
          <p:cNvPr id="51" name="Text 49"/>
          <p:cNvSpPr/>
          <p:nvPr/>
        </p:nvSpPr>
        <p:spPr>
          <a:xfrm>
            <a:off x="8110728" y="5047488"/>
            <a:ext cx="3182112" cy="384048"/>
          </a:xfrm>
          <a:prstGeom prst="rect">
            <a:avLst/>
          </a:prstGeom>
          <a:noFill/>
          <a:ln/>
        </p:spPr>
        <p:txBody>
          <a:bodyPr wrap="square" lIns="0" tIns="0" rIns="0" bIns="0" rtlCol="0" anchor="t"/>
          <a:lstStyle/>
          <a:p>
            <a:pPr marL="0" indent="0">
              <a:lnSpc>
                <a:spcPct val="98000"/>
              </a:lnSpc>
              <a:buNone/>
            </a:pPr>
            <a:r>
              <a:rPr lang="en-US" sz="1050">
                <a:solidFill>
                  <a:srgbClr val="CBD9E9"/>
                </a:solidFill>
                <a:latin typeface="Calibri" pitchFamily="34" charset="0"/>
                <a:ea typeface="Calibri" pitchFamily="34" charset="-122"/>
                <a:cs typeface="Calibri" pitchFamily="34" charset="-120"/>
              </a:rPr>
              <a:t>Oncology and ophthalmology track injectable and biologic pricing.</a:t>
            </a:r>
            <a:endParaRPr lang="en-US" sz="1050" dirty="0"/>
          </a:p>
        </p:txBody>
      </p:sp>
      <p:sp>
        <p:nvSpPr>
          <p:cNvPr id="52" name="Text 50"/>
          <p:cNvSpPr/>
          <p:nvPr/>
        </p:nvSpPr>
        <p:spPr>
          <a:xfrm>
            <a:off x="7726680" y="5486400"/>
            <a:ext cx="365760" cy="320040"/>
          </a:xfrm>
          <a:prstGeom prst="rect">
            <a:avLst/>
          </a:prstGeom>
          <a:noFill/>
          <a:ln/>
        </p:spPr>
        <p:txBody>
          <a:bodyPr wrap="square" lIns="0" tIns="0" rIns="0" bIns="0" rtlCol="0" anchor="ctr"/>
          <a:lstStyle/>
          <a:p>
            <a:pPr marL="0" indent="0">
              <a:buNone/>
            </a:pPr>
            <a:r>
              <a:rPr lang="en-US" sz="1600" b="1">
                <a:solidFill>
                  <a:srgbClr val="6BA5D7"/>
                </a:solidFill>
                <a:latin typeface="Consolas" pitchFamily="34" charset="0"/>
                <a:ea typeface="Consolas" pitchFamily="34" charset="-122"/>
                <a:cs typeface="Consolas" pitchFamily="34" charset="-120"/>
              </a:rPr>
              <a:t>3</a:t>
            </a:r>
            <a:endParaRPr lang="en-US" sz="1600" dirty="0"/>
          </a:p>
        </p:txBody>
      </p:sp>
      <p:sp>
        <p:nvSpPr>
          <p:cNvPr id="53" name="Text 51"/>
          <p:cNvSpPr/>
          <p:nvPr/>
        </p:nvSpPr>
        <p:spPr>
          <a:xfrm>
            <a:off x="8110728" y="5468112"/>
            <a:ext cx="3182112" cy="292608"/>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Match levers to segment</a:t>
            </a:r>
            <a:endParaRPr lang="en-US" sz="1200" dirty="0"/>
          </a:p>
        </p:txBody>
      </p:sp>
      <p:sp>
        <p:nvSpPr>
          <p:cNvPr id="54" name="Text 52"/>
          <p:cNvSpPr/>
          <p:nvPr/>
        </p:nvSpPr>
        <p:spPr>
          <a:xfrm>
            <a:off x="8110728" y="5760720"/>
            <a:ext cx="3182112" cy="384048"/>
          </a:xfrm>
          <a:prstGeom prst="rect">
            <a:avLst/>
          </a:prstGeom>
          <a:noFill/>
          <a:ln/>
        </p:spPr>
        <p:txBody>
          <a:bodyPr wrap="square" lIns="0" tIns="0" rIns="0" bIns="0" rtlCol="0" anchor="t"/>
          <a:lstStyle/>
          <a:p>
            <a:pPr marL="0" indent="0">
              <a:lnSpc>
                <a:spcPct val="98000"/>
              </a:lnSpc>
              <a:buNone/>
            </a:pPr>
            <a:r>
              <a:rPr lang="en-US" sz="1050">
                <a:solidFill>
                  <a:srgbClr val="CBD9E9"/>
                </a:solidFill>
                <a:latin typeface="Calibri" pitchFamily="34" charset="0"/>
                <a:ea typeface="Calibri" pitchFamily="34" charset="-122"/>
                <a:cs typeface="Calibri" pitchFamily="34" charset="-120"/>
              </a:rPr>
              <a:t>Pricing controls for commodity fields; appropriateness review for surgery.</a:t>
            </a:r>
            <a:endParaRPr lang="en-US" sz="1050" dirty="0"/>
          </a:p>
        </p:txBody>
      </p:sp>
      <p:sp>
        <p:nvSpPr>
          <p:cNvPr id="55" name="Text 53"/>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a:solidFill>
                  <a:srgbClr val="7C7E96"/>
                </a:solidFill>
                <a:latin typeface="Trebuchet MS" pitchFamily="34" charset="0"/>
                <a:ea typeface="Trebuchet MS" pitchFamily="34" charset="-122"/>
                <a:cs typeface="Trebuchet MS" pitchFamily="34" charset="-120"/>
              </a:rPr>
              <a:t>CMS MEDICARE PART B  ·  CY 2022–2024</a:t>
            </a:r>
            <a:endParaRPr lang="en-US" sz="900" dirty="0"/>
          </a:p>
        </p:txBody>
      </p:sp>
      <p:sp>
        <p:nvSpPr>
          <p:cNvPr id="56" name="Text 54"/>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a:solidFill>
                  <a:srgbClr val="4E79A7"/>
                </a:solidFill>
                <a:latin typeface="Consolas" pitchFamily="34" charset="0"/>
                <a:ea typeface="Consolas" pitchFamily="34" charset="-122"/>
                <a:cs typeface="Consolas"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40080" y="406908"/>
            <a:ext cx="201168" cy="128016"/>
          </a:xfrm>
          <a:prstGeom prst="rect">
            <a:avLst/>
          </a:prstGeom>
          <a:solidFill>
            <a:srgbClr val="6BA5D7"/>
          </a:solidFill>
          <a:ln/>
        </p:spPr>
        <p:txBody>
          <a:bodyPr/>
          <a:lstStyle/>
          <a:p>
            <a:endParaRPr lang="en-US"/>
          </a:p>
        </p:txBody>
      </p:sp>
      <p:sp>
        <p:nvSpPr>
          <p:cNvPr id="3" name="Text 1"/>
          <p:cNvSpPr/>
          <p:nvPr/>
        </p:nvSpPr>
        <p:spPr>
          <a:xfrm>
            <a:off x="932688" y="310896"/>
            <a:ext cx="8229600" cy="310896"/>
          </a:xfrm>
          <a:prstGeom prst="rect">
            <a:avLst/>
          </a:prstGeom>
          <a:noFill/>
          <a:ln/>
        </p:spPr>
        <p:txBody>
          <a:bodyPr wrap="square" lIns="0" tIns="0" rIns="0" bIns="0" rtlCol="0" anchor="ctr"/>
          <a:lstStyle/>
          <a:p>
            <a:pPr marL="0" indent="0" algn="l">
              <a:buNone/>
            </a:pPr>
            <a:r>
              <a:rPr lang="en-US" sz="1250" b="1" kern="0" spc="300">
                <a:solidFill>
                  <a:srgbClr val="4E79A7"/>
                </a:solidFill>
                <a:latin typeface="Trebuchet MS" pitchFamily="34" charset="0"/>
                <a:ea typeface="Trebuchet MS" pitchFamily="34" charset="-122"/>
                <a:cs typeface="Trebuchet MS" pitchFamily="34" charset="-120"/>
              </a:rPr>
              <a:t>EXECUTIVE SNAPSHOT</a:t>
            </a:r>
            <a:endParaRPr lang="en-US" sz="1250" dirty="0"/>
          </a:p>
        </p:txBody>
      </p:sp>
      <p:sp>
        <p:nvSpPr>
          <p:cNvPr id="4" name="Text 0"/>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3200" b="1">
                <a:solidFill>
                  <a:srgbClr val="2B2A45"/>
                </a:solidFill>
                <a:latin typeface="Trebuchet MS" pitchFamily="34" charset="0"/>
                <a:ea typeface="Trebuchet MS" pitchFamily="34" charset="-122"/>
                <a:cs typeface="Trebuchet MS" pitchFamily="34" charset="-120"/>
              </a:rPr>
              <a:t>2024 at a Glance</a:t>
            </a:r>
            <a:endParaRPr lang="en-US" sz="3200" dirty="0"/>
          </a:p>
        </p:txBody>
      </p:sp>
      <p:sp>
        <p:nvSpPr>
          <p:cNvPr id="5" name="Text 3">
            <a:extLst>
              <a:ext uri="{C183D7F6-B498-43B3-948B-1728B52AA6E4}">
                <adec:decorative xmlns:adec="http://schemas.microsoft.com/office/drawing/2017/decorative" val="1"/>
              </a:ext>
            </a:extLst>
          </p:cNvPr>
          <p:cNvSpPr/>
          <p:nvPr/>
        </p:nvSpPr>
        <p:spPr>
          <a:xfrm>
            <a:off x="640080" y="1325880"/>
            <a:ext cx="10972800" cy="329184"/>
          </a:xfrm>
          <a:prstGeom prst="rect">
            <a:avLst/>
          </a:prstGeom>
          <a:noFill/>
          <a:ln/>
        </p:spPr>
        <p:txBody>
          <a:bodyPr wrap="square" lIns="0" tIns="0" rIns="0" bIns="0" rtlCol="0" anchor="ctr"/>
          <a:lstStyle/>
          <a:p>
            <a:pPr marL="0" indent="0" algn="l">
              <a:buNone/>
            </a:pPr>
            <a:r>
              <a:rPr lang="en-US" sz="1400">
                <a:solidFill>
                  <a:srgbClr val="7C7E96"/>
                </a:solidFill>
                <a:latin typeface="Calibri" pitchFamily="34" charset="0"/>
                <a:ea typeface="Calibri" pitchFamily="34" charset="-122"/>
                <a:cs typeface="Calibri" pitchFamily="34" charset="-120"/>
              </a:rPr>
              <a:t>The most recent full year of Medicare Part B physician/supplier activity, in six headline metrics.</a:t>
            </a:r>
            <a:endParaRPr lang="en-US" sz="1400" dirty="0"/>
          </a:p>
        </p:txBody>
      </p:sp>
      <p:sp>
        <p:nvSpPr>
          <p:cNvPr id="6" name="kpi card">
            <a:extLst>
              <a:ext uri="{C183D7F6-B498-43B3-948B-1728B52AA6E4}">
                <adec:decorative xmlns:adec="http://schemas.microsoft.com/office/drawing/2017/decorative" val="1"/>
              </a:ext>
            </a:extLst>
          </p:cNvPr>
          <p:cNvSpPr/>
          <p:nvPr/>
        </p:nvSpPr>
        <p:spPr>
          <a:xfrm>
            <a:off x="640080" y="1874520"/>
            <a:ext cx="3529584" cy="1783080"/>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7" name="kpi accent">
            <a:extLst>
              <a:ext uri="{C183D7F6-B498-43B3-948B-1728B52AA6E4}">
                <adec:decorative xmlns:adec="http://schemas.microsoft.com/office/drawing/2017/decorative" val="1"/>
              </a:ext>
            </a:extLst>
          </p:cNvPr>
          <p:cNvSpPr/>
          <p:nvPr/>
        </p:nvSpPr>
        <p:spPr>
          <a:xfrm>
            <a:off x="640080" y="1874520"/>
            <a:ext cx="82296" cy="1783080"/>
          </a:xfrm>
          <a:prstGeom prst="rect">
            <a:avLst/>
          </a:prstGeom>
          <a:solidFill>
            <a:srgbClr val="6BA5D7"/>
          </a:solidFill>
          <a:ln/>
        </p:spPr>
        <p:txBody>
          <a:bodyPr/>
          <a:lstStyle/>
          <a:p>
            <a:endParaRPr lang="en-US"/>
          </a:p>
        </p:txBody>
      </p:sp>
      <p:sp>
        <p:nvSpPr>
          <p:cNvPr id="8" name="Text 6">
            <a:extLst>
              <a:ext uri="{C183D7F6-B498-43B3-948B-1728B52AA6E4}">
                <adec:decorative xmlns:adec="http://schemas.microsoft.com/office/drawing/2017/decorative" val="1"/>
              </a:ext>
            </a:extLst>
          </p:cNvPr>
          <p:cNvSpPr/>
          <p:nvPr/>
        </p:nvSpPr>
        <p:spPr>
          <a:xfrm>
            <a:off x="859536" y="2020824"/>
            <a:ext cx="3163824" cy="891540"/>
          </a:xfrm>
          <a:prstGeom prst="rect">
            <a:avLst/>
          </a:prstGeom>
          <a:noFill/>
          <a:ln/>
        </p:spPr>
        <p:txBody>
          <a:bodyPr wrap="square" lIns="0" tIns="0" rIns="0" bIns="0" rtlCol="0" anchor="ctr"/>
          <a:lstStyle/>
          <a:p>
            <a:pPr marL="0" indent="0" algn="l">
              <a:buNone/>
            </a:pPr>
            <a:r>
              <a:rPr lang="en-US" sz="3000" b="1">
                <a:solidFill>
                  <a:srgbClr val="4E79A7"/>
                </a:solidFill>
                <a:latin typeface="Consolas" pitchFamily="34" charset="0"/>
                <a:ea typeface="Consolas" pitchFamily="34" charset="-122"/>
                <a:cs typeface="Consolas" pitchFamily="34" charset="-120"/>
              </a:rPr>
              <a:t>$131.7B</a:t>
            </a:r>
            <a:endParaRPr lang="en-US" sz="3000" dirty="0"/>
          </a:p>
        </p:txBody>
      </p:sp>
      <p:sp>
        <p:nvSpPr>
          <p:cNvPr id="9" name="Text 7"/>
          <p:cNvSpPr/>
          <p:nvPr/>
        </p:nvSpPr>
        <p:spPr>
          <a:xfrm>
            <a:off x="877824" y="2944368"/>
            <a:ext cx="3118104" cy="292608"/>
          </a:xfrm>
          <a:prstGeom prst="rect">
            <a:avLst/>
          </a:prstGeom>
          <a:noFill/>
          <a:ln/>
        </p:spPr>
        <p:txBody>
          <a:bodyPr wrap="square" lIns="0" tIns="0" rIns="0" bIns="0" rtlCol="0" anchor="ctr"/>
          <a:lstStyle/>
          <a:p>
            <a:pPr marL="0" indent="0" algn="l">
              <a:buNone/>
            </a:pPr>
            <a:r>
              <a:rPr lang="en-US" sz="1100" b="1" kern="0" spc="150">
                <a:solidFill>
                  <a:srgbClr val="2B2A45"/>
                </a:solidFill>
                <a:latin typeface="Trebuchet MS" pitchFamily="34" charset="0"/>
                <a:ea typeface="Trebuchet MS" pitchFamily="34" charset="-122"/>
                <a:cs typeface="Trebuchet MS" pitchFamily="34" charset="-120"/>
              </a:rPr>
              <a:t>MEDICARE PAYMENTS</a:t>
            </a:r>
            <a:endParaRPr lang="en-US" sz="1100" dirty="0"/>
          </a:p>
        </p:txBody>
      </p:sp>
      <p:sp>
        <p:nvSpPr>
          <p:cNvPr id="10" name="Text 8"/>
          <p:cNvSpPr/>
          <p:nvPr/>
        </p:nvSpPr>
        <p:spPr>
          <a:xfrm>
            <a:off x="877824" y="3218688"/>
            <a:ext cx="3118104" cy="274320"/>
          </a:xfrm>
          <a:prstGeom prst="rect">
            <a:avLst/>
          </a:prstGeom>
          <a:noFill/>
          <a:ln/>
        </p:spPr>
        <p:txBody>
          <a:bodyPr wrap="square" lIns="0" tIns="0" rIns="0" bIns="0" rtlCol="0" anchor="ctr"/>
          <a:lstStyle/>
          <a:p>
            <a:pPr marL="0" indent="0" algn="l">
              <a:buNone/>
            </a:pPr>
            <a:r>
              <a:rPr lang="en-US" sz="1050">
                <a:solidFill>
                  <a:srgbClr val="7C7E96"/>
                </a:solidFill>
                <a:latin typeface="Calibri" pitchFamily="34" charset="0"/>
                <a:ea typeface="Calibri" pitchFamily="34" charset="-122"/>
                <a:cs typeface="Calibri" pitchFamily="34" charset="-120"/>
              </a:rPr>
              <a:t>Total paid, CY 2024</a:t>
            </a:r>
            <a:endParaRPr lang="en-US" sz="1050" dirty="0"/>
          </a:p>
        </p:txBody>
      </p:sp>
      <p:sp>
        <p:nvSpPr>
          <p:cNvPr id="11" name="kpi card">
            <a:extLst>
              <a:ext uri="{C183D7F6-B498-43B3-948B-1728B52AA6E4}">
                <adec:decorative xmlns:adec="http://schemas.microsoft.com/office/drawing/2017/decorative" val="1"/>
              </a:ext>
            </a:extLst>
          </p:cNvPr>
          <p:cNvSpPr/>
          <p:nvPr/>
        </p:nvSpPr>
        <p:spPr>
          <a:xfrm>
            <a:off x="4498848" y="1874520"/>
            <a:ext cx="3529584" cy="1783080"/>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12" name="kpi accent">
            <a:extLst>
              <a:ext uri="{C183D7F6-B498-43B3-948B-1728B52AA6E4}">
                <adec:decorative xmlns:adec="http://schemas.microsoft.com/office/drawing/2017/decorative" val="1"/>
              </a:ext>
            </a:extLst>
          </p:cNvPr>
          <p:cNvSpPr/>
          <p:nvPr/>
        </p:nvSpPr>
        <p:spPr>
          <a:xfrm>
            <a:off x="4498848" y="1874520"/>
            <a:ext cx="82296" cy="1783080"/>
          </a:xfrm>
          <a:prstGeom prst="rect">
            <a:avLst/>
          </a:prstGeom>
          <a:solidFill>
            <a:srgbClr val="6BA5D7"/>
          </a:solidFill>
          <a:ln/>
        </p:spPr>
        <p:txBody>
          <a:bodyPr/>
          <a:lstStyle/>
          <a:p>
            <a:endParaRPr lang="en-US"/>
          </a:p>
        </p:txBody>
      </p:sp>
      <p:sp>
        <p:nvSpPr>
          <p:cNvPr id="13" name="Text 11"/>
          <p:cNvSpPr/>
          <p:nvPr/>
        </p:nvSpPr>
        <p:spPr>
          <a:xfrm>
            <a:off x="4718304" y="2020824"/>
            <a:ext cx="3163824" cy="891540"/>
          </a:xfrm>
          <a:prstGeom prst="rect">
            <a:avLst/>
          </a:prstGeom>
          <a:noFill/>
          <a:ln/>
        </p:spPr>
        <p:txBody>
          <a:bodyPr wrap="square" lIns="0" tIns="0" rIns="0" bIns="0" rtlCol="0" anchor="ctr"/>
          <a:lstStyle/>
          <a:p>
            <a:pPr marL="0" indent="0" algn="l">
              <a:buNone/>
            </a:pPr>
            <a:r>
              <a:rPr lang="en-US" sz="3000" b="1">
                <a:solidFill>
                  <a:srgbClr val="4E79A7"/>
                </a:solidFill>
                <a:latin typeface="Consolas" pitchFamily="34" charset="0"/>
                <a:ea typeface="Consolas" pitchFamily="34" charset="-122"/>
                <a:cs typeface="Consolas" pitchFamily="34" charset="-120"/>
              </a:rPr>
              <a:t>$171.4B</a:t>
            </a:r>
            <a:endParaRPr lang="en-US" sz="3000" dirty="0"/>
          </a:p>
        </p:txBody>
      </p:sp>
      <p:sp>
        <p:nvSpPr>
          <p:cNvPr id="14" name="Text 12">
            <a:extLst>
              <a:ext uri="{C183D7F6-B498-43B3-948B-1728B52AA6E4}">
                <adec:decorative xmlns:adec="http://schemas.microsoft.com/office/drawing/2017/decorative" val="1"/>
              </a:ext>
            </a:extLst>
          </p:cNvPr>
          <p:cNvSpPr/>
          <p:nvPr/>
        </p:nvSpPr>
        <p:spPr>
          <a:xfrm>
            <a:off x="4736592" y="2944368"/>
            <a:ext cx="3118104" cy="292608"/>
          </a:xfrm>
          <a:prstGeom prst="rect">
            <a:avLst/>
          </a:prstGeom>
          <a:noFill/>
          <a:ln/>
        </p:spPr>
        <p:txBody>
          <a:bodyPr wrap="square" lIns="0" tIns="0" rIns="0" bIns="0" rtlCol="0" anchor="ctr"/>
          <a:lstStyle/>
          <a:p>
            <a:pPr marL="0" indent="0" algn="l">
              <a:buNone/>
            </a:pPr>
            <a:r>
              <a:rPr lang="en-US" sz="1100" b="1" kern="0" spc="150">
                <a:solidFill>
                  <a:srgbClr val="2B2A45"/>
                </a:solidFill>
                <a:latin typeface="Trebuchet MS" pitchFamily="34" charset="0"/>
                <a:ea typeface="Trebuchet MS" pitchFamily="34" charset="-122"/>
                <a:cs typeface="Trebuchet MS" pitchFamily="34" charset="-120"/>
              </a:rPr>
              <a:t>ALLOWED CHARGES</a:t>
            </a:r>
            <a:endParaRPr lang="en-US" sz="1100" dirty="0"/>
          </a:p>
        </p:txBody>
      </p:sp>
      <p:sp>
        <p:nvSpPr>
          <p:cNvPr id="15" name="Text 13"/>
          <p:cNvSpPr/>
          <p:nvPr/>
        </p:nvSpPr>
        <p:spPr>
          <a:xfrm>
            <a:off x="4736592" y="3218688"/>
            <a:ext cx="3118104" cy="274320"/>
          </a:xfrm>
          <a:prstGeom prst="rect">
            <a:avLst/>
          </a:prstGeom>
          <a:noFill/>
          <a:ln/>
        </p:spPr>
        <p:txBody>
          <a:bodyPr wrap="square" lIns="0" tIns="0" rIns="0" bIns="0" rtlCol="0" anchor="ctr"/>
          <a:lstStyle/>
          <a:p>
            <a:pPr marL="0" indent="0" algn="l">
              <a:buNone/>
            </a:pPr>
            <a:r>
              <a:rPr lang="en-US" sz="1050">
                <a:solidFill>
                  <a:srgbClr val="7C7E96"/>
                </a:solidFill>
                <a:latin typeface="Calibri" pitchFamily="34" charset="0"/>
                <a:ea typeface="Calibri" pitchFamily="34" charset="-122"/>
                <a:cs typeface="Calibri" pitchFamily="34" charset="-120"/>
              </a:rPr>
              <a:t>Approved billed amount</a:t>
            </a:r>
            <a:endParaRPr lang="en-US" sz="1050" dirty="0"/>
          </a:p>
        </p:txBody>
      </p:sp>
      <p:sp>
        <p:nvSpPr>
          <p:cNvPr id="16" name="kpi card">
            <a:extLst>
              <a:ext uri="{C183D7F6-B498-43B3-948B-1728B52AA6E4}">
                <adec:decorative xmlns:adec="http://schemas.microsoft.com/office/drawing/2017/decorative" val="1"/>
              </a:ext>
            </a:extLst>
          </p:cNvPr>
          <p:cNvSpPr/>
          <p:nvPr/>
        </p:nvSpPr>
        <p:spPr>
          <a:xfrm>
            <a:off x="8357616" y="1874520"/>
            <a:ext cx="3529584" cy="1783080"/>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17" name="kpi accent">
            <a:extLst>
              <a:ext uri="{C183D7F6-B498-43B3-948B-1728B52AA6E4}">
                <adec:decorative xmlns:adec="http://schemas.microsoft.com/office/drawing/2017/decorative" val="1"/>
              </a:ext>
            </a:extLst>
          </p:cNvPr>
          <p:cNvSpPr/>
          <p:nvPr/>
        </p:nvSpPr>
        <p:spPr>
          <a:xfrm>
            <a:off x="8357616" y="1874520"/>
            <a:ext cx="82296" cy="1783080"/>
          </a:xfrm>
          <a:prstGeom prst="rect">
            <a:avLst/>
          </a:prstGeom>
          <a:solidFill>
            <a:srgbClr val="6BA5D7"/>
          </a:solidFill>
          <a:ln/>
        </p:spPr>
        <p:txBody>
          <a:bodyPr/>
          <a:lstStyle/>
          <a:p>
            <a:endParaRPr lang="en-US"/>
          </a:p>
        </p:txBody>
      </p:sp>
      <p:sp>
        <p:nvSpPr>
          <p:cNvPr id="18" name="Text 16"/>
          <p:cNvSpPr/>
          <p:nvPr/>
        </p:nvSpPr>
        <p:spPr>
          <a:xfrm>
            <a:off x="8577072" y="2020824"/>
            <a:ext cx="3163824" cy="891540"/>
          </a:xfrm>
          <a:prstGeom prst="rect">
            <a:avLst/>
          </a:prstGeom>
          <a:noFill/>
          <a:ln/>
        </p:spPr>
        <p:txBody>
          <a:bodyPr wrap="square" lIns="0" tIns="0" rIns="0" bIns="0" rtlCol="0" anchor="ctr"/>
          <a:lstStyle/>
          <a:p>
            <a:pPr marL="0" indent="0" algn="l">
              <a:buNone/>
            </a:pPr>
            <a:r>
              <a:rPr lang="en-US" sz="3000" b="1">
                <a:solidFill>
                  <a:srgbClr val="4E79A7"/>
                </a:solidFill>
                <a:latin typeface="Consolas" pitchFamily="34" charset="0"/>
                <a:ea typeface="Consolas" pitchFamily="34" charset="-122"/>
                <a:cs typeface="Consolas" pitchFamily="34" charset="-120"/>
              </a:rPr>
              <a:t>6.0B</a:t>
            </a:r>
            <a:endParaRPr lang="en-US" sz="3000" dirty="0"/>
          </a:p>
        </p:txBody>
      </p:sp>
      <p:sp>
        <p:nvSpPr>
          <p:cNvPr id="19" name="Text 17"/>
          <p:cNvSpPr/>
          <p:nvPr/>
        </p:nvSpPr>
        <p:spPr>
          <a:xfrm>
            <a:off x="8595360" y="2944368"/>
            <a:ext cx="3118104" cy="292608"/>
          </a:xfrm>
          <a:prstGeom prst="rect">
            <a:avLst/>
          </a:prstGeom>
          <a:noFill/>
          <a:ln/>
        </p:spPr>
        <p:txBody>
          <a:bodyPr wrap="square" lIns="0" tIns="0" rIns="0" bIns="0" rtlCol="0" anchor="ctr"/>
          <a:lstStyle/>
          <a:p>
            <a:pPr marL="0" indent="0" algn="l">
              <a:buNone/>
            </a:pPr>
            <a:r>
              <a:rPr lang="en-US" sz="1100" b="1" kern="0" spc="150">
                <a:solidFill>
                  <a:srgbClr val="2B2A45"/>
                </a:solidFill>
                <a:latin typeface="Trebuchet MS" pitchFamily="34" charset="0"/>
                <a:ea typeface="Trebuchet MS" pitchFamily="34" charset="-122"/>
                <a:cs typeface="Trebuchet MS" pitchFamily="34" charset="-120"/>
              </a:rPr>
              <a:t>ALLOWED SERVICES</a:t>
            </a:r>
            <a:endParaRPr lang="en-US" sz="1100" dirty="0"/>
          </a:p>
        </p:txBody>
      </p:sp>
      <p:sp>
        <p:nvSpPr>
          <p:cNvPr id="20" name="Text 18">
            <a:extLst>
              <a:ext uri="{C183D7F6-B498-43B3-948B-1728B52AA6E4}">
                <adec:decorative xmlns:adec="http://schemas.microsoft.com/office/drawing/2017/decorative" val="1"/>
              </a:ext>
            </a:extLst>
          </p:cNvPr>
          <p:cNvSpPr/>
          <p:nvPr/>
        </p:nvSpPr>
        <p:spPr>
          <a:xfrm>
            <a:off x="8595360" y="3218688"/>
            <a:ext cx="3118104" cy="274320"/>
          </a:xfrm>
          <a:prstGeom prst="rect">
            <a:avLst/>
          </a:prstGeom>
          <a:noFill/>
          <a:ln/>
        </p:spPr>
        <p:txBody>
          <a:bodyPr wrap="square" lIns="0" tIns="0" rIns="0" bIns="0" rtlCol="0" anchor="ctr"/>
          <a:lstStyle/>
          <a:p>
            <a:pPr marL="0" indent="0" algn="l">
              <a:buNone/>
            </a:pPr>
            <a:r>
              <a:rPr lang="en-US" sz="1050">
                <a:solidFill>
                  <a:srgbClr val="7C7E96"/>
                </a:solidFill>
                <a:latin typeface="Calibri" pitchFamily="34" charset="0"/>
                <a:ea typeface="Calibri" pitchFamily="34" charset="-122"/>
                <a:cs typeface="Calibri" pitchFamily="34" charset="-120"/>
              </a:rPr>
              <a:t>Volume of services</a:t>
            </a:r>
            <a:endParaRPr lang="en-US" sz="1050" dirty="0"/>
          </a:p>
        </p:txBody>
      </p:sp>
      <p:sp>
        <p:nvSpPr>
          <p:cNvPr id="21" name="kpi card">
            <a:extLst>
              <a:ext uri="{C183D7F6-B498-43B3-948B-1728B52AA6E4}">
                <adec:decorative xmlns:adec="http://schemas.microsoft.com/office/drawing/2017/decorative" val="1"/>
              </a:ext>
            </a:extLst>
          </p:cNvPr>
          <p:cNvSpPr/>
          <p:nvPr/>
        </p:nvSpPr>
        <p:spPr>
          <a:xfrm>
            <a:off x="640080" y="3950208"/>
            <a:ext cx="3529584" cy="1783080"/>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22" name="kpi accent">
            <a:extLst>
              <a:ext uri="{C183D7F6-B498-43B3-948B-1728B52AA6E4}">
                <adec:decorative xmlns:adec="http://schemas.microsoft.com/office/drawing/2017/decorative" val="1"/>
              </a:ext>
            </a:extLst>
          </p:cNvPr>
          <p:cNvSpPr/>
          <p:nvPr/>
        </p:nvSpPr>
        <p:spPr>
          <a:xfrm>
            <a:off x="640080" y="3950208"/>
            <a:ext cx="82296" cy="1783080"/>
          </a:xfrm>
          <a:prstGeom prst="rect">
            <a:avLst/>
          </a:prstGeom>
          <a:solidFill>
            <a:srgbClr val="6BA5D7"/>
          </a:solidFill>
          <a:ln/>
        </p:spPr>
        <p:txBody>
          <a:bodyPr/>
          <a:lstStyle/>
          <a:p>
            <a:endParaRPr lang="en-US"/>
          </a:p>
        </p:txBody>
      </p:sp>
      <p:sp>
        <p:nvSpPr>
          <p:cNvPr id="23" name="Text 21">
            <a:extLst>
              <a:ext uri="{C183D7F6-B498-43B3-948B-1728B52AA6E4}">
                <adec:decorative xmlns:adec="http://schemas.microsoft.com/office/drawing/2017/decorative" val="1"/>
              </a:ext>
            </a:extLst>
          </p:cNvPr>
          <p:cNvSpPr/>
          <p:nvPr/>
        </p:nvSpPr>
        <p:spPr>
          <a:xfrm>
            <a:off x="859536" y="4096512"/>
            <a:ext cx="3163824" cy="891540"/>
          </a:xfrm>
          <a:prstGeom prst="rect">
            <a:avLst/>
          </a:prstGeom>
          <a:noFill/>
          <a:ln/>
        </p:spPr>
        <p:txBody>
          <a:bodyPr wrap="square" lIns="0" tIns="0" rIns="0" bIns="0" rtlCol="0" anchor="ctr"/>
          <a:lstStyle/>
          <a:p>
            <a:pPr marL="0" indent="0" algn="l">
              <a:buNone/>
            </a:pPr>
            <a:r>
              <a:rPr lang="en-US" sz="3000" b="1">
                <a:solidFill>
                  <a:srgbClr val="4E79A7"/>
                </a:solidFill>
                <a:latin typeface="Consolas" pitchFamily="34" charset="0"/>
                <a:ea typeface="Consolas" pitchFamily="34" charset="-122"/>
                <a:cs typeface="Consolas" pitchFamily="34" charset="-120"/>
              </a:rPr>
              <a:t>$22.08</a:t>
            </a:r>
            <a:endParaRPr lang="en-US" sz="3000" dirty="0"/>
          </a:p>
        </p:txBody>
      </p:sp>
      <p:sp>
        <p:nvSpPr>
          <p:cNvPr id="24" name="Text 22"/>
          <p:cNvSpPr/>
          <p:nvPr/>
        </p:nvSpPr>
        <p:spPr>
          <a:xfrm>
            <a:off x="877824" y="5020056"/>
            <a:ext cx="3118104" cy="292608"/>
          </a:xfrm>
          <a:prstGeom prst="rect">
            <a:avLst/>
          </a:prstGeom>
          <a:noFill/>
          <a:ln/>
        </p:spPr>
        <p:txBody>
          <a:bodyPr wrap="square" lIns="0" tIns="0" rIns="0" bIns="0" rtlCol="0" anchor="ctr"/>
          <a:lstStyle/>
          <a:p>
            <a:pPr marL="0" indent="0" algn="l">
              <a:buNone/>
            </a:pPr>
            <a:r>
              <a:rPr lang="en-US" sz="1100" b="1" kern="0" spc="150">
                <a:solidFill>
                  <a:srgbClr val="2B2A45"/>
                </a:solidFill>
                <a:latin typeface="Trebuchet MS" pitchFamily="34" charset="0"/>
                <a:ea typeface="Trebuchet MS" pitchFamily="34" charset="-122"/>
                <a:cs typeface="Trebuchet MS" pitchFamily="34" charset="-120"/>
              </a:rPr>
              <a:t>PAYMENT / SERVICE</a:t>
            </a:r>
            <a:endParaRPr lang="en-US" sz="1100" dirty="0"/>
          </a:p>
        </p:txBody>
      </p:sp>
      <p:sp>
        <p:nvSpPr>
          <p:cNvPr id="25" name="Text 23"/>
          <p:cNvSpPr/>
          <p:nvPr/>
        </p:nvSpPr>
        <p:spPr>
          <a:xfrm>
            <a:off x="877824" y="5294376"/>
            <a:ext cx="3118104" cy="274320"/>
          </a:xfrm>
          <a:prstGeom prst="rect">
            <a:avLst/>
          </a:prstGeom>
          <a:noFill/>
          <a:ln/>
        </p:spPr>
        <p:txBody>
          <a:bodyPr wrap="square" lIns="0" tIns="0" rIns="0" bIns="0" rtlCol="0" anchor="ctr"/>
          <a:lstStyle/>
          <a:p>
            <a:pPr marL="0" indent="0" algn="l">
              <a:buNone/>
            </a:pPr>
            <a:r>
              <a:rPr lang="en-US" sz="1050">
                <a:solidFill>
                  <a:srgbClr val="7C7E96"/>
                </a:solidFill>
                <a:latin typeface="Calibri" pitchFamily="34" charset="0"/>
                <a:ea typeface="Calibri" pitchFamily="34" charset="-122"/>
                <a:cs typeface="Calibri" pitchFamily="34" charset="-120"/>
              </a:rPr>
              <a:t>Avg. unit payment</a:t>
            </a:r>
            <a:endParaRPr lang="en-US" sz="1050" dirty="0"/>
          </a:p>
        </p:txBody>
      </p:sp>
      <p:sp>
        <p:nvSpPr>
          <p:cNvPr id="26" name="kpi card">
            <a:extLst>
              <a:ext uri="{C183D7F6-B498-43B3-948B-1728B52AA6E4}">
                <adec:decorative xmlns:adec="http://schemas.microsoft.com/office/drawing/2017/decorative" val="1"/>
              </a:ext>
            </a:extLst>
          </p:cNvPr>
          <p:cNvSpPr/>
          <p:nvPr/>
        </p:nvSpPr>
        <p:spPr>
          <a:xfrm>
            <a:off x="4498848" y="3950208"/>
            <a:ext cx="3529584" cy="1783080"/>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27" name="kpi accent">
            <a:extLst>
              <a:ext uri="{C183D7F6-B498-43B3-948B-1728B52AA6E4}">
                <adec:decorative xmlns:adec="http://schemas.microsoft.com/office/drawing/2017/decorative" val="1"/>
              </a:ext>
            </a:extLst>
          </p:cNvPr>
          <p:cNvSpPr/>
          <p:nvPr/>
        </p:nvSpPr>
        <p:spPr>
          <a:xfrm>
            <a:off x="4498848" y="3950208"/>
            <a:ext cx="82296" cy="1783080"/>
          </a:xfrm>
          <a:prstGeom prst="rect">
            <a:avLst/>
          </a:prstGeom>
          <a:solidFill>
            <a:srgbClr val="6BA5D7"/>
          </a:solidFill>
          <a:ln/>
        </p:spPr>
        <p:txBody>
          <a:bodyPr/>
          <a:lstStyle/>
          <a:p>
            <a:endParaRPr lang="en-US"/>
          </a:p>
        </p:txBody>
      </p:sp>
      <p:sp>
        <p:nvSpPr>
          <p:cNvPr id="28" name="Text 26"/>
          <p:cNvSpPr/>
          <p:nvPr/>
        </p:nvSpPr>
        <p:spPr>
          <a:xfrm>
            <a:off x="4718304" y="4096512"/>
            <a:ext cx="3163824" cy="891540"/>
          </a:xfrm>
          <a:prstGeom prst="rect">
            <a:avLst/>
          </a:prstGeom>
          <a:noFill/>
          <a:ln/>
        </p:spPr>
        <p:txBody>
          <a:bodyPr wrap="square" lIns="0" tIns="0" rIns="0" bIns="0" rtlCol="0" anchor="ctr"/>
          <a:lstStyle/>
          <a:p>
            <a:pPr marL="0" indent="0" algn="l">
              <a:buNone/>
            </a:pPr>
            <a:r>
              <a:rPr lang="en-US" sz="3000" b="1">
                <a:solidFill>
                  <a:srgbClr val="4E79A7"/>
                </a:solidFill>
                <a:latin typeface="Consolas" pitchFamily="34" charset="0"/>
                <a:ea typeface="Consolas" pitchFamily="34" charset="-122"/>
                <a:cs typeface="Consolas" pitchFamily="34" charset="-120"/>
              </a:rPr>
              <a:t>$28.74</a:t>
            </a:r>
            <a:endParaRPr lang="en-US" sz="3000" dirty="0"/>
          </a:p>
        </p:txBody>
      </p:sp>
      <p:sp>
        <p:nvSpPr>
          <p:cNvPr id="29" name="Text 27"/>
          <p:cNvSpPr/>
          <p:nvPr/>
        </p:nvSpPr>
        <p:spPr>
          <a:xfrm>
            <a:off x="4736592" y="5020056"/>
            <a:ext cx="3118104" cy="292608"/>
          </a:xfrm>
          <a:prstGeom prst="rect">
            <a:avLst/>
          </a:prstGeom>
          <a:noFill/>
          <a:ln/>
        </p:spPr>
        <p:txBody>
          <a:bodyPr wrap="square" lIns="0" tIns="0" rIns="0" bIns="0" rtlCol="0" anchor="ctr"/>
          <a:lstStyle/>
          <a:p>
            <a:pPr marL="0" indent="0" algn="l">
              <a:buNone/>
            </a:pPr>
            <a:r>
              <a:rPr lang="en-US" sz="1100" b="1" kern="0" spc="150">
                <a:solidFill>
                  <a:srgbClr val="2B2A45"/>
                </a:solidFill>
                <a:latin typeface="Trebuchet MS" pitchFamily="34" charset="0"/>
                <a:ea typeface="Trebuchet MS" pitchFamily="34" charset="-122"/>
                <a:cs typeface="Trebuchet MS" pitchFamily="34" charset="-120"/>
              </a:rPr>
              <a:t>CHARGE / SERVICE</a:t>
            </a:r>
            <a:endParaRPr lang="en-US" sz="1100" dirty="0"/>
          </a:p>
        </p:txBody>
      </p:sp>
      <p:sp>
        <p:nvSpPr>
          <p:cNvPr id="30" name="Text 28"/>
          <p:cNvSpPr/>
          <p:nvPr/>
        </p:nvSpPr>
        <p:spPr>
          <a:xfrm>
            <a:off x="4736592" y="5294376"/>
            <a:ext cx="3118104" cy="274320"/>
          </a:xfrm>
          <a:prstGeom prst="rect">
            <a:avLst/>
          </a:prstGeom>
          <a:noFill/>
          <a:ln/>
        </p:spPr>
        <p:txBody>
          <a:bodyPr wrap="square" lIns="0" tIns="0" rIns="0" bIns="0" rtlCol="0" anchor="ctr"/>
          <a:lstStyle/>
          <a:p>
            <a:pPr marL="0" indent="0" algn="l">
              <a:buNone/>
            </a:pPr>
            <a:r>
              <a:rPr lang="en-US" sz="1050">
                <a:solidFill>
                  <a:srgbClr val="7C7E96"/>
                </a:solidFill>
                <a:latin typeface="Calibri" pitchFamily="34" charset="0"/>
                <a:ea typeface="Calibri" pitchFamily="34" charset="-122"/>
                <a:cs typeface="Calibri" pitchFamily="34" charset="-120"/>
              </a:rPr>
              <a:t>Avg. billed unit</a:t>
            </a:r>
            <a:endParaRPr lang="en-US" sz="1050" dirty="0"/>
          </a:p>
        </p:txBody>
      </p:sp>
      <p:sp>
        <p:nvSpPr>
          <p:cNvPr id="31" name="kpi card">
            <a:extLst>
              <a:ext uri="{C183D7F6-B498-43B3-948B-1728B52AA6E4}">
                <adec:decorative xmlns:adec="http://schemas.microsoft.com/office/drawing/2017/decorative" val="1"/>
              </a:ext>
            </a:extLst>
          </p:cNvPr>
          <p:cNvSpPr/>
          <p:nvPr/>
        </p:nvSpPr>
        <p:spPr>
          <a:xfrm>
            <a:off x="8357616" y="3950208"/>
            <a:ext cx="3529584" cy="1783080"/>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32" name="kpi accent">
            <a:extLst>
              <a:ext uri="{C183D7F6-B498-43B3-948B-1728B52AA6E4}">
                <adec:decorative xmlns:adec="http://schemas.microsoft.com/office/drawing/2017/decorative" val="1"/>
              </a:ext>
            </a:extLst>
          </p:cNvPr>
          <p:cNvSpPr/>
          <p:nvPr/>
        </p:nvSpPr>
        <p:spPr>
          <a:xfrm>
            <a:off x="8357616" y="3950208"/>
            <a:ext cx="82296" cy="1783080"/>
          </a:xfrm>
          <a:prstGeom prst="rect">
            <a:avLst/>
          </a:prstGeom>
          <a:solidFill>
            <a:srgbClr val="6BA5D7"/>
          </a:solidFill>
          <a:ln/>
        </p:spPr>
        <p:txBody>
          <a:bodyPr/>
          <a:lstStyle/>
          <a:p>
            <a:endParaRPr lang="en-US"/>
          </a:p>
        </p:txBody>
      </p:sp>
      <p:sp>
        <p:nvSpPr>
          <p:cNvPr id="33" name="Text 31"/>
          <p:cNvSpPr/>
          <p:nvPr/>
        </p:nvSpPr>
        <p:spPr>
          <a:xfrm>
            <a:off x="8577072" y="4096512"/>
            <a:ext cx="3163824" cy="891540"/>
          </a:xfrm>
          <a:prstGeom prst="rect">
            <a:avLst/>
          </a:prstGeom>
          <a:noFill/>
          <a:ln/>
        </p:spPr>
        <p:txBody>
          <a:bodyPr wrap="square" lIns="0" tIns="0" rIns="0" bIns="0" rtlCol="0" anchor="ctr"/>
          <a:lstStyle/>
          <a:p>
            <a:pPr marL="0" indent="0" algn="l">
              <a:buNone/>
            </a:pPr>
            <a:r>
              <a:rPr lang="en-US" sz="3000" b="1">
                <a:solidFill>
                  <a:srgbClr val="4E79A7"/>
                </a:solidFill>
                <a:latin typeface="Consolas" pitchFamily="34" charset="0"/>
                <a:ea typeface="Consolas" pitchFamily="34" charset="-122"/>
                <a:cs typeface="Consolas" pitchFamily="34" charset="-120"/>
              </a:rPr>
              <a:t>76.8%</a:t>
            </a:r>
            <a:endParaRPr lang="en-US" sz="3000" dirty="0"/>
          </a:p>
        </p:txBody>
      </p:sp>
      <p:sp>
        <p:nvSpPr>
          <p:cNvPr id="34" name="Text 32"/>
          <p:cNvSpPr/>
          <p:nvPr/>
        </p:nvSpPr>
        <p:spPr>
          <a:xfrm>
            <a:off x="8595360" y="5020056"/>
            <a:ext cx="3118104" cy="292608"/>
          </a:xfrm>
          <a:prstGeom prst="rect">
            <a:avLst/>
          </a:prstGeom>
          <a:noFill/>
          <a:ln/>
        </p:spPr>
        <p:txBody>
          <a:bodyPr wrap="square" lIns="0" tIns="0" rIns="0" bIns="0" rtlCol="0" anchor="ctr"/>
          <a:lstStyle/>
          <a:p>
            <a:pPr marL="0" indent="0" algn="l">
              <a:buNone/>
            </a:pPr>
            <a:r>
              <a:rPr lang="en-US" sz="1100" b="1" kern="0" spc="150">
                <a:solidFill>
                  <a:srgbClr val="2B2A45"/>
                </a:solidFill>
                <a:latin typeface="Trebuchet MS" pitchFamily="34" charset="0"/>
                <a:ea typeface="Trebuchet MS" pitchFamily="34" charset="-122"/>
                <a:cs typeface="Trebuchet MS" pitchFamily="34" charset="-120"/>
              </a:rPr>
              <a:t>PAYMENT RATE</a:t>
            </a:r>
            <a:endParaRPr lang="en-US" sz="1100" dirty="0"/>
          </a:p>
        </p:txBody>
      </p:sp>
      <p:sp>
        <p:nvSpPr>
          <p:cNvPr id="35" name="Text 33"/>
          <p:cNvSpPr/>
          <p:nvPr/>
        </p:nvSpPr>
        <p:spPr>
          <a:xfrm>
            <a:off x="8595360" y="5294376"/>
            <a:ext cx="3118104" cy="274320"/>
          </a:xfrm>
          <a:prstGeom prst="rect">
            <a:avLst/>
          </a:prstGeom>
          <a:noFill/>
          <a:ln/>
        </p:spPr>
        <p:txBody>
          <a:bodyPr wrap="square" lIns="0" tIns="0" rIns="0" bIns="0" rtlCol="0" anchor="ctr"/>
          <a:lstStyle/>
          <a:p>
            <a:pPr marL="0" indent="0" algn="l">
              <a:buNone/>
            </a:pPr>
            <a:r>
              <a:rPr lang="en-US" sz="1050">
                <a:solidFill>
                  <a:srgbClr val="7C7E96"/>
                </a:solidFill>
                <a:latin typeface="Calibri" pitchFamily="34" charset="0"/>
                <a:ea typeface="Calibri" pitchFamily="34" charset="-122"/>
                <a:cs typeface="Calibri" pitchFamily="34" charset="-120"/>
              </a:rPr>
              <a:t>Paid ÷ allowed charges</a:t>
            </a:r>
            <a:endParaRPr lang="en-US" sz="1050" dirty="0"/>
          </a:p>
        </p:txBody>
      </p:sp>
      <p:sp>
        <p:nvSpPr>
          <p:cNvPr id="36" name="Text 34"/>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a:solidFill>
                  <a:srgbClr val="7C7E96"/>
                </a:solidFill>
                <a:latin typeface="Trebuchet MS" pitchFamily="34" charset="0"/>
                <a:ea typeface="Trebuchet MS" pitchFamily="34" charset="-122"/>
                <a:cs typeface="Trebuchet MS" pitchFamily="34" charset="-120"/>
              </a:rPr>
              <a:t>CMS MEDICARE PART B  ·  CY 2022–2024</a:t>
            </a:r>
            <a:endParaRPr lang="en-US" sz="900" dirty="0"/>
          </a:p>
        </p:txBody>
      </p:sp>
      <p:sp>
        <p:nvSpPr>
          <p:cNvPr id="37" name="Text 35"/>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a:solidFill>
                  <a:srgbClr val="4E79A7"/>
                </a:solidFill>
                <a:latin typeface="Consolas" pitchFamily="34" charset="0"/>
                <a:ea typeface="Consolas" pitchFamily="34" charset="-122"/>
                <a:cs typeface="Consolas"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40080" y="406908"/>
            <a:ext cx="201168" cy="128016"/>
          </a:xfrm>
          <a:prstGeom prst="rect">
            <a:avLst/>
          </a:prstGeom>
          <a:solidFill>
            <a:srgbClr val="6BA5D7"/>
          </a:solidFill>
          <a:ln/>
        </p:spPr>
        <p:txBody>
          <a:bodyPr/>
          <a:lstStyle/>
          <a:p>
            <a:endParaRPr lang="en-US"/>
          </a:p>
        </p:txBody>
      </p:sp>
      <p:sp>
        <p:nvSpPr>
          <p:cNvPr id="3" name="Text 1"/>
          <p:cNvSpPr/>
          <p:nvPr/>
        </p:nvSpPr>
        <p:spPr>
          <a:xfrm>
            <a:off x="932688" y="310896"/>
            <a:ext cx="8229600" cy="310896"/>
          </a:xfrm>
          <a:prstGeom prst="rect">
            <a:avLst/>
          </a:prstGeom>
          <a:noFill/>
          <a:ln/>
        </p:spPr>
        <p:txBody>
          <a:bodyPr wrap="square" lIns="0" tIns="0" rIns="0" bIns="0" rtlCol="0" anchor="ctr"/>
          <a:lstStyle/>
          <a:p>
            <a:pPr marL="0" indent="0" algn="l">
              <a:buNone/>
            </a:pPr>
            <a:r>
              <a:rPr lang="en-US" sz="1250" b="1" kern="0" spc="300">
                <a:solidFill>
                  <a:srgbClr val="4E79A7"/>
                </a:solidFill>
                <a:latin typeface="Trebuchet MS" pitchFamily="34" charset="0"/>
                <a:ea typeface="Trebuchet MS" pitchFamily="34" charset="-122"/>
                <a:cs typeface="Trebuchet MS" pitchFamily="34" charset="-120"/>
              </a:rPr>
              <a:t>DATASET OVERVIEW</a:t>
            </a:r>
            <a:endParaRPr lang="en-US" sz="1250" dirty="0"/>
          </a:p>
        </p:txBody>
      </p:sp>
      <p:sp>
        <p:nvSpPr>
          <p:cNvPr id="4" name="Text 0"/>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3000" b="1">
                <a:solidFill>
                  <a:srgbClr val="2B2A45"/>
                </a:solidFill>
                <a:latin typeface="Trebuchet MS" pitchFamily="34" charset="0"/>
                <a:ea typeface="Trebuchet MS" pitchFamily="34" charset="-122"/>
                <a:cs typeface="Trebuchet MS" pitchFamily="34" charset="-120"/>
              </a:rPr>
              <a:t>What This Analysis Covers</a:t>
            </a:r>
            <a:endParaRPr lang="en-US" sz="3000" dirty="0"/>
          </a:p>
        </p:txBody>
      </p:sp>
      <p:sp>
        <p:nvSpPr>
          <p:cNvPr id="5" name="card">
            <a:extLst>
              <a:ext uri="{C183D7F6-B498-43B3-948B-1728B52AA6E4}">
                <adec:decorative xmlns:adec="http://schemas.microsoft.com/office/drawing/2017/decorative" val="1"/>
              </a:ext>
            </a:extLst>
          </p:cNvPr>
          <p:cNvSpPr/>
          <p:nvPr/>
        </p:nvSpPr>
        <p:spPr>
          <a:xfrm>
            <a:off x="640080" y="1600200"/>
            <a:ext cx="5440680" cy="1481328"/>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6" name="Text 4">
            <a:extLst>
              <a:ext uri="{C183D7F6-B498-43B3-948B-1728B52AA6E4}">
                <adec:decorative xmlns:adec="http://schemas.microsoft.com/office/drawing/2017/decorative" val="1"/>
              </a:ext>
            </a:extLst>
          </p:cNvPr>
          <p:cNvSpPr/>
          <p:nvPr/>
        </p:nvSpPr>
        <p:spPr>
          <a:xfrm>
            <a:off x="896112" y="1801368"/>
            <a:ext cx="5001768" cy="457200"/>
          </a:xfrm>
          <a:prstGeom prst="rect">
            <a:avLst/>
          </a:prstGeom>
          <a:noFill/>
          <a:ln/>
        </p:spPr>
        <p:txBody>
          <a:bodyPr wrap="square" lIns="0" tIns="0" rIns="0" bIns="0" rtlCol="0" anchor="ctr"/>
          <a:lstStyle/>
          <a:p>
            <a:pPr marL="0" indent="0" algn="l">
              <a:buNone/>
            </a:pPr>
            <a:r>
              <a:rPr lang="en-US" sz="1500" b="1">
                <a:solidFill>
                  <a:srgbClr val="2B2A45"/>
                </a:solidFill>
                <a:latin typeface="Trebuchet MS" pitchFamily="34" charset="0"/>
                <a:ea typeface="Trebuchet MS" pitchFamily="34" charset="-122"/>
                <a:cs typeface="Trebuchet MS" pitchFamily="34" charset="-120"/>
              </a:rPr>
              <a:t>Scope</a:t>
            </a:r>
            <a:endParaRPr lang="en-US" sz="1500" dirty="0"/>
          </a:p>
        </p:txBody>
      </p:sp>
      <p:sp>
        <p:nvSpPr>
          <p:cNvPr id="7" name="Text 5">
            <a:extLst>
              <a:ext uri="{C183D7F6-B498-43B3-948B-1728B52AA6E4}">
                <adec:decorative xmlns:adec="http://schemas.microsoft.com/office/drawing/2017/decorative" val="1"/>
              </a:ext>
            </a:extLst>
          </p:cNvPr>
          <p:cNvSpPr/>
          <p:nvPr/>
        </p:nvSpPr>
        <p:spPr>
          <a:xfrm>
            <a:off x="896112" y="2313432"/>
            <a:ext cx="4937760" cy="585216"/>
          </a:xfrm>
          <a:prstGeom prst="rect">
            <a:avLst/>
          </a:prstGeom>
          <a:noFill/>
          <a:ln/>
        </p:spPr>
        <p:txBody>
          <a:bodyPr wrap="square" lIns="0" tIns="0" rIns="0" bIns="0" rtlCol="0" anchor="t"/>
          <a:lstStyle/>
          <a:p>
            <a:pPr marL="0" indent="0" algn="l">
              <a:lnSpc>
                <a:spcPct val="102000"/>
              </a:lnSpc>
              <a:buNone/>
            </a:pPr>
            <a:r>
              <a:rPr lang="en-US" sz="1250">
                <a:solidFill>
                  <a:srgbClr val="7C7E96"/>
                </a:solidFill>
                <a:latin typeface="Calibri" pitchFamily="34" charset="0"/>
                <a:ea typeface="Calibri" pitchFamily="34" charset="-122"/>
                <a:cs typeface="Calibri" pitchFamily="34" charset="-120"/>
              </a:rPr>
              <a:t>National Medicare Part B physician/supplier expenditures and services by provider specialty, CY 2022–2024.</a:t>
            </a:r>
            <a:endParaRPr lang="en-US" sz="1250" dirty="0"/>
          </a:p>
        </p:txBody>
      </p:sp>
      <p:sp>
        <p:nvSpPr>
          <p:cNvPr id="8" name="card">
            <a:extLst>
              <a:ext uri="{C183D7F6-B498-43B3-948B-1728B52AA6E4}">
                <adec:decorative xmlns:adec="http://schemas.microsoft.com/office/drawing/2017/decorative" val="1"/>
              </a:ext>
            </a:extLst>
          </p:cNvPr>
          <p:cNvSpPr/>
          <p:nvPr/>
        </p:nvSpPr>
        <p:spPr>
          <a:xfrm>
            <a:off x="6400800" y="1600200"/>
            <a:ext cx="5440680" cy="1481328"/>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9" name="Text 7"/>
          <p:cNvSpPr/>
          <p:nvPr/>
        </p:nvSpPr>
        <p:spPr>
          <a:xfrm>
            <a:off x="6656832" y="1801368"/>
            <a:ext cx="5001768" cy="457200"/>
          </a:xfrm>
          <a:prstGeom prst="rect">
            <a:avLst/>
          </a:prstGeom>
          <a:noFill/>
          <a:ln/>
        </p:spPr>
        <p:txBody>
          <a:bodyPr wrap="square" lIns="0" tIns="0" rIns="0" bIns="0" rtlCol="0" anchor="ctr"/>
          <a:lstStyle/>
          <a:p>
            <a:pPr marL="0" indent="0" algn="l">
              <a:buNone/>
            </a:pPr>
            <a:r>
              <a:rPr lang="en-US" sz="1500" b="1">
                <a:solidFill>
                  <a:srgbClr val="2B2A45"/>
                </a:solidFill>
                <a:latin typeface="Trebuchet MS" pitchFamily="34" charset="0"/>
                <a:ea typeface="Trebuchet MS" pitchFamily="34" charset="-122"/>
                <a:cs typeface="Trebuchet MS" pitchFamily="34" charset="-120"/>
              </a:rPr>
              <a:t>Population</a:t>
            </a:r>
            <a:endParaRPr lang="en-US" sz="1500" dirty="0"/>
          </a:p>
        </p:txBody>
      </p:sp>
      <p:sp>
        <p:nvSpPr>
          <p:cNvPr id="10" name="Text 8">
            <a:extLst>
              <a:ext uri="{C183D7F6-B498-43B3-948B-1728B52AA6E4}">
                <adec:decorative xmlns:adec="http://schemas.microsoft.com/office/drawing/2017/decorative" val="1"/>
              </a:ext>
            </a:extLst>
          </p:cNvPr>
          <p:cNvSpPr/>
          <p:nvPr/>
        </p:nvSpPr>
        <p:spPr>
          <a:xfrm>
            <a:off x="6656832" y="2313432"/>
            <a:ext cx="4937760" cy="585216"/>
          </a:xfrm>
          <a:prstGeom prst="rect">
            <a:avLst/>
          </a:prstGeom>
          <a:noFill/>
          <a:ln/>
        </p:spPr>
        <p:txBody>
          <a:bodyPr wrap="square" lIns="0" tIns="0" rIns="0" bIns="0" rtlCol="0" anchor="t"/>
          <a:lstStyle/>
          <a:p>
            <a:pPr marL="0" indent="0" algn="l">
              <a:lnSpc>
                <a:spcPct val="102000"/>
              </a:lnSpc>
              <a:buNone/>
            </a:pPr>
            <a:r>
              <a:rPr lang="en-US" sz="1250">
                <a:solidFill>
                  <a:srgbClr val="7C7E96"/>
                </a:solidFill>
                <a:latin typeface="Calibri" pitchFamily="34" charset="0"/>
                <a:ea typeface="Calibri" pitchFamily="34" charset="-122"/>
                <a:cs typeface="Calibri" pitchFamily="34" charset="-120"/>
              </a:rPr>
              <a:t>Original Medicare Part B national summary — aggregated public-use data, not beneficiary-level claims.</a:t>
            </a:r>
            <a:endParaRPr lang="en-US" sz="1250" dirty="0"/>
          </a:p>
        </p:txBody>
      </p:sp>
      <p:sp>
        <p:nvSpPr>
          <p:cNvPr id="11" name="card">
            <a:extLst>
              <a:ext uri="{C183D7F6-B498-43B3-948B-1728B52AA6E4}">
                <adec:decorative xmlns:adec="http://schemas.microsoft.com/office/drawing/2017/decorative" val="1"/>
              </a:ext>
            </a:extLst>
          </p:cNvPr>
          <p:cNvSpPr/>
          <p:nvPr/>
        </p:nvSpPr>
        <p:spPr>
          <a:xfrm>
            <a:off x="640080" y="3401568"/>
            <a:ext cx="5440680" cy="1481328"/>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12" name="Text 10"/>
          <p:cNvSpPr/>
          <p:nvPr/>
        </p:nvSpPr>
        <p:spPr>
          <a:xfrm>
            <a:off x="896112" y="3602736"/>
            <a:ext cx="5001768" cy="457200"/>
          </a:xfrm>
          <a:prstGeom prst="rect">
            <a:avLst/>
          </a:prstGeom>
          <a:noFill/>
          <a:ln/>
        </p:spPr>
        <p:txBody>
          <a:bodyPr wrap="square" lIns="0" tIns="0" rIns="0" bIns="0" rtlCol="0" anchor="ctr"/>
          <a:lstStyle/>
          <a:p>
            <a:pPr marL="0" indent="0" algn="l">
              <a:buNone/>
            </a:pPr>
            <a:r>
              <a:rPr lang="en-US" sz="1500" b="1">
                <a:solidFill>
                  <a:srgbClr val="2B2A45"/>
                </a:solidFill>
                <a:latin typeface="Trebuchet MS" pitchFamily="34" charset="0"/>
                <a:ea typeface="Trebuchet MS" pitchFamily="34" charset="-122"/>
                <a:cs typeface="Trebuchet MS" pitchFamily="34" charset="-120"/>
              </a:rPr>
              <a:t>Primary Question</a:t>
            </a:r>
            <a:endParaRPr lang="en-US" sz="1500" dirty="0"/>
          </a:p>
        </p:txBody>
      </p:sp>
      <p:sp>
        <p:nvSpPr>
          <p:cNvPr id="13" name="Text 11"/>
          <p:cNvSpPr/>
          <p:nvPr/>
        </p:nvSpPr>
        <p:spPr>
          <a:xfrm>
            <a:off x="896112" y="4114800"/>
            <a:ext cx="4937760" cy="585216"/>
          </a:xfrm>
          <a:prstGeom prst="rect">
            <a:avLst/>
          </a:prstGeom>
          <a:noFill/>
          <a:ln/>
        </p:spPr>
        <p:txBody>
          <a:bodyPr wrap="square" lIns="0" tIns="0" rIns="0" bIns="0" rtlCol="0" anchor="t"/>
          <a:lstStyle/>
          <a:p>
            <a:pPr marL="0" indent="0" algn="l">
              <a:lnSpc>
                <a:spcPct val="102000"/>
              </a:lnSpc>
              <a:buNone/>
            </a:pPr>
            <a:r>
              <a:rPr lang="en-US" sz="1250">
                <a:solidFill>
                  <a:srgbClr val="7C7E96"/>
                </a:solidFill>
                <a:latin typeface="Calibri" pitchFamily="34" charset="0"/>
                <a:ea typeface="Calibri" pitchFamily="34" charset="-122"/>
                <a:cs typeface="Calibri" pitchFamily="34" charset="-120"/>
              </a:rPr>
              <a:t>Which specialties drive utilization and spending, and how did cost intensity shift from 2022 to 2024?</a:t>
            </a:r>
            <a:endParaRPr lang="en-US" sz="1250" dirty="0"/>
          </a:p>
        </p:txBody>
      </p:sp>
      <p:sp>
        <p:nvSpPr>
          <p:cNvPr id="14" name="card">
            <a:extLst>
              <a:ext uri="{C183D7F6-B498-43B3-948B-1728B52AA6E4}">
                <adec:decorative xmlns:adec="http://schemas.microsoft.com/office/drawing/2017/decorative" val="1"/>
              </a:ext>
            </a:extLst>
          </p:cNvPr>
          <p:cNvSpPr/>
          <p:nvPr/>
        </p:nvSpPr>
        <p:spPr>
          <a:xfrm>
            <a:off x="6400800" y="3401568"/>
            <a:ext cx="5440680" cy="1481328"/>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15" name="Text 13">
            <a:extLst>
              <a:ext uri="{C183D7F6-B498-43B3-948B-1728B52AA6E4}">
                <adec:decorative xmlns:adec="http://schemas.microsoft.com/office/drawing/2017/decorative" val="1"/>
              </a:ext>
            </a:extLst>
          </p:cNvPr>
          <p:cNvSpPr/>
          <p:nvPr/>
        </p:nvSpPr>
        <p:spPr>
          <a:xfrm>
            <a:off x="6656832" y="3602736"/>
            <a:ext cx="5001768" cy="457200"/>
          </a:xfrm>
          <a:prstGeom prst="rect">
            <a:avLst/>
          </a:prstGeom>
          <a:noFill/>
          <a:ln/>
        </p:spPr>
        <p:txBody>
          <a:bodyPr wrap="square" lIns="0" tIns="0" rIns="0" bIns="0" rtlCol="0" anchor="ctr"/>
          <a:lstStyle/>
          <a:p>
            <a:pPr marL="0" indent="0" algn="l">
              <a:buNone/>
            </a:pPr>
            <a:r>
              <a:rPr lang="en-US" sz="1500" b="1">
                <a:solidFill>
                  <a:srgbClr val="2B2A45"/>
                </a:solidFill>
                <a:latin typeface="Trebuchet MS" pitchFamily="34" charset="0"/>
                <a:ea typeface="Trebuchet MS" pitchFamily="34" charset="-122"/>
                <a:cs typeface="Trebuchet MS" pitchFamily="34" charset="-120"/>
              </a:rPr>
              <a:t>Source</a:t>
            </a:r>
            <a:endParaRPr lang="en-US" sz="1500" dirty="0"/>
          </a:p>
        </p:txBody>
      </p:sp>
      <p:sp>
        <p:nvSpPr>
          <p:cNvPr id="16" name="Text 14"/>
          <p:cNvSpPr/>
          <p:nvPr/>
        </p:nvSpPr>
        <p:spPr>
          <a:xfrm>
            <a:off x="6656832" y="4114800"/>
            <a:ext cx="4937760" cy="585216"/>
          </a:xfrm>
          <a:prstGeom prst="rect">
            <a:avLst/>
          </a:prstGeom>
          <a:noFill/>
          <a:ln/>
        </p:spPr>
        <p:txBody>
          <a:bodyPr wrap="square" lIns="0" tIns="0" rIns="0" bIns="0" rtlCol="0" anchor="t"/>
          <a:lstStyle/>
          <a:p>
            <a:pPr marL="0" indent="0" algn="l">
              <a:lnSpc>
                <a:spcPct val="102000"/>
              </a:lnSpc>
              <a:buNone/>
            </a:pPr>
            <a:r>
              <a:rPr lang="en-US" sz="1250">
                <a:solidFill>
                  <a:srgbClr val="7C7E96"/>
                </a:solidFill>
                <a:latin typeface="Calibri" pitchFamily="34" charset="0"/>
                <a:ea typeface="Calibri" pitchFamily="34" charset="-122"/>
                <a:cs typeface="Calibri" pitchFamily="34" charset="-120"/>
              </a:rPr>
              <a:t>CMS CY 2022, 2023 &amp; 2024 Expenditures and Services by Specialty files (PBAR national summary).</a:t>
            </a:r>
            <a:endParaRPr lang="en-US" sz="1250" dirty="0"/>
          </a:p>
        </p:txBody>
      </p:sp>
      <p:sp>
        <p:nvSpPr>
          <p:cNvPr id="17" name="fact chip">
            <a:extLst>
              <a:ext uri="{C183D7F6-B498-43B3-948B-1728B52AA6E4}">
                <adec:decorative xmlns:adec="http://schemas.microsoft.com/office/drawing/2017/decorative" val="1"/>
              </a:ext>
            </a:extLst>
          </p:cNvPr>
          <p:cNvSpPr/>
          <p:nvPr/>
        </p:nvSpPr>
        <p:spPr>
          <a:xfrm>
            <a:off x="640080" y="5221224"/>
            <a:ext cx="2674620" cy="841248"/>
          </a:xfrm>
          <a:prstGeom prst="rect">
            <a:avLst/>
          </a:prstGeom>
          <a:solidFill>
            <a:srgbClr val="43426A"/>
          </a:solidFill>
          <a:ln/>
        </p:spPr>
        <p:txBody>
          <a:bodyPr/>
          <a:lstStyle/>
          <a:p>
            <a:endParaRPr lang="en-US"/>
          </a:p>
        </p:txBody>
      </p:sp>
      <p:sp>
        <p:nvSpPr>
          <p:cNvPr id="18" name="Text 16">
            <a:extLst>
              <a:ext uri="{C183D7F6-B498-43B3-948B-1728B52AA6E4}">
                <adec:decorative xmlns:adec="http://schemas.microsoft.com/office/drawing/2017/decorative" val="1"/>
              </a:ext>
            </a:extLst>
          </p:cNvPr>
          <p:cNvSpPr/>
          <p:nvPr/>
        </p:nvSpPr>
        <p:spPr>
          <a:xfrm>
            <a:off x="841248" y="5330952"/>
            <a:ext cx="1280160" cy="457200"/>
          </a:xfrm>
          <a:prstGeom prst="rect">
            <a:avLst/>
          </a:prstGeom>
          <a:noFill/>
          <a:ln/>
        </p:spPr>
        <p:txBody>
          <a:bodyPr wrap="square" lIns="0" tIns="0" rIns="0" bIns="0" rtlCol="0" anchor="ctr"/>
          <a:lstStyle/>
          <a:p>
            <a:pPr marL="0" indent="0">
              <a:buNone/>
            </a:pPr>
            <a:r>
              <a:rPr lang="en-US" sz="2400" b="1">
                <a:solidFill>
                  <a:srgbClr val="6BA5D7"/>
                </a:solidFill>
                <a:latin typeface="Consolas" pitchFamily="34" charset="0"/>
                <a:ea typeface="Consolas" pitchFamily="34" charset="-122"/>
                <a:cs typeface="Consolas" pitchFamily="34" charset="-120"/>
              </a:rPr>
              <a:t>3</a:t>
            </a:r>
            <a:endParaRPr lang="en-US" sz="2400" dirty="0"/>
          </a:p>
        </p:txBody>
      </p:sp>
      <p:sp>
        <p:nvSpPr>
          <p:cNvPr id="19" name="Text 17">
            <a:extLst>
              <a:ext uri="{C183D7F6-B498-43B3-948B-1728B52AA6E4}">
                <adec:decorative xmlns:adec="http://schemas.microsoft.com/office/drawing/2017/decorative" val="1"/>
              </a:ext>
            </a:extLst>
          </p:cNvPr>
          <p:cNvSpPr/>
          <p:nvPr/>
        </p:nvSpPr>
        <p:spPr>
          <a:xfrm>
            <a:off x="1874520" y="5330952"/>
            <a:ext cx="1303020" cy="621792"/>
          </a:xfrm>
          <a:prstGeom prst="rect">
            <a:avLst/>
          </a:prstGeom>
          <a:noFill/>
          <a:ln/>
        </p:spPr>
        <p:txBody>
          <a:bodyPr wrap="square" lIns="0" tIns="0" rIns="0" bIns="0" rtlCol="0" anchor="ctr"/>
          <a:lstStyle/>
          <a:p>
            <a:pPr marL="0" indent="0">
              <a:buNone/>
            </a:pPr>
            <a:r>
              <a:rPr lang="en-US" sz="1150">
                <a:solidFill>
                  <a:srgbClr val="CBD9E9"/>
                </a:solidFill>
                <a:latin typeface="Calibri" pitchFamily="34" charset="0"/>
                <a:ea typeface="Calibri" pitchFamily="34" charset="-122"/>
                <a:cs typeface="Calibri" pitchFamily="34" charset="-120"/>
              </a:rPr>
              <a:t>Calendar years (2022–24)</a:t>
            </a:r>
            <a:endParaRPr lang="en-US" sz="1150" dirty="0"/>
          </a:p>
        </p:txBody>
      </p:sp>
      <p:sp>
        <p:nvSpPr>
          <p:cNvPr id="20" name="fact chip">
            <a:extLst>
              <a:ext uri="{C183D7F6-B498-43B3-948B-1728B52AA6E4}">
                <adec:decorative xmlns:adec="http://schemas.microsoft.com/office/drawing/2017/decorative" val="1"/>
              </a:ext>
            </a:extLst>
          </p:cNvPr>
          <p:cNvSpPr/>
          <p:nvPr/>
        </p:nvSpPr>
        <p:spPr>
          <a:xfrm>
            <a:off x="3589020" y="5221224"/>
            <a:ext cx="2674620" cy="841248"/>
          </a:xfrm>
          <a:prstGeom prst="rect">
            <a:avLst/>
          </a:prstGeom>
          <a:solidFill>
            <a:srgbClr val="43426A"/>
          </a:solidFill>
          <a:ln/>
        </p:spPr>
        <p:txBody>
          <a:bodyPr/>
          <a:lstStyle/>
          <a:p>
            <a:endParaRPr lang="en-US"/>
          </a:p>
        </p:txBody>
      </p:sp>
      <p:sp>
        <p:nvSpPr>
          <p:cNvPr id="21" name="Text 19"/>
          <p:cNvSpPr/>
          <p:nvPr/>
        </p:nvSpPr>
        <p:spPr>
          <a:xfrm>
            <a:off x="3790188" y="5330952"/>
            <a:ext cx="1280160" cy="457200"/>
          </a:xfrm>
          <a:prstGeom prst="rect">
            <a:avLst/>
          </a:prstGeom>
          <a:noFill/>
          <a:ln/>
        </p:spPr>
        <p:txBody>
          <a:bodyPr wrap="square" lIns="0" tIns="0" rIns="0" bIns="0" rtlCol="0" anchor="ctr"/>
          <a:lstStyle/>
          <a:p>
            <a:pPr marL="0" indent="0">
              <a:buNone/>
            </a:pPr>
            <a:r>
              <a:rPr lang="en-US" sz="2400" b="1">
                <a:solidFill>
                  <a:srgbClr val="6BA5D7"/>
                </a:solidFill>
                <a:latin typeface="Consolas" pitchFamily="34" charset="0"/>
                <a:ea typeface="Consolas" pitchFamily="34" charset="-122"/>
                <a:cs typeface="Consolas" pitchFamily="34" charset="-120"/>
              </a:rPr>
              <a:t>100+</a:t>
            </a:r>
            <a:endParaRPr lang="en-US" sz="2400" dirty="0"/>
          </a:p>
        </p:txBody>
      </p:sp>
      <p:sp>
        <p:nvSpPr>
          <p:cNvPr id="22" name="Text 20">
            <a:extLst>
              <a:ext uri="{C183D7F6-B498-43B3-948B-1728B52AA6E4}">
                <adec:decorative xmlns:adec="http://schemas.microsoft.com/office/drawing/2017/decorative" val="1"/>
              </a:ext>
            </a:extLst>
          </p:cNvPr>
          <p:cNvSpPr/>
          <p:nvPr/>
        </p:nvSpPr>
        <p:spPr>
          <a:xfrm>
            <a:off x="4823460" y="5330952"/>
            <a:ext cx="1303020" cy="621792"/>
          </a:xfrm>
          <a:prstGeom prst="rect">
            <a:avLst/>
          </a:prstGeom>
          <a:noFill/>
          <a:ln/>
        </p:spPr>
        <p:txBody>
          <a:bodyPr wrap="square" lIns="0" tIns="0" rIns="0" bIns="0" rtlCol="0" anchor="ctr"/>
          <a:lstStyle/>
          <a:p>
            <a:pPr marL="0" indent="0">
              <a:buNone/>
            </a:pPr>
            <a:r>
              <a:rPr lang="en-US" sz="1150">
                <a:solidFill>
                  <a:srgbClr val="CBD9E9"/>
                </a:solidFill>
                <a:latin typeface="Calibri" pitchFamily="34" charset="0"/>
                <a:ea typeface="Calibri" pitchFamily="34" charset="-122"/>
                <a:cs typeface="Calibri" pitchFamily="34" charset="-120"/>
              </a:rPr>
              <a:t>Provider specialties</a:t>
            </a:r>
            <a:endParaRPr lang="en-US" sz="1150" dirty="0"/>
          </a:p>
        </p:txBody>
      </p:sp>
      <p:sp>
        <p:nvSpPr>
          <p:cNvPr id="23" name="fact chip">
            <a:extLst>
              <a:ext uri="{C183D7F6-B498-43B3-948B-1728B52AA6E4}">
                <adec:decorative xmlns:adec="http://schemas.microsoft.com/office/drawing/2017/decorative" val="1"/>
              </a:ext>
            </a:extLst>
          </p:cNvPr>
          <p:cNvSpPr/>
          <p:nvPr/>
        </p:nvSpPr>
        <p:spPr>
          <a:xfrm>
            <a:off x="6537960" y="5221224"/>
            <a:ext cx="2674620" cy="841248"/>
          </a:xfrm>
          <a:prstGeom prst="rect">
            <a:avLst/>
          </a:prstGeom>
          <a:solidFill>
            <a:srgbClr val="43426A"/>
          </a:solidFill>
          <a:ln/>
        </p:spPr>
        <p:txBody>
          <a:bodyPr/>
          <a:lstStyle/>
          <a:p>
            <a:endParaRPr lang="en-US"/>
          </a:p>
        </p:txBody>
      </p:sp>
      <p:sp>
        <p:nvSpPr>
          <p:cNvPr id="24" name="Text 22"/>
          <p:cNvSpPr/>
          <p:nvPr/>
        </p:nvSpPr>
        <p:spPr>
          <a:xfrm>
            <a:off x="6739128" y="5330952"/>
            <a:ext cx="1280160" cy="457200"/>
          </a:xfrm>
          <a:prstGeom prst="rect">
            <a:avLst/>
          </a:prstGeom>
          <a:noFill/>
          <a:ln/>
        </p:spPr>
        <p:txBody>
          <a:bodyPr wrap="square" lIns="0" tIns="0" rIns="0" bIns="0" rtlCol="0" anchor="ctr"/>
          <a:lstStyle/>
          <a:p>
            <a:pPr marL="0" indent="0">
              <a:buNone/>
            </a:pPr>
            <a:r>
              <a:rPr lang="en-US" sz="2400" b="1">
                <a:solidFill>
                  <a:srgbClr val="6BA5D7"/>
                </a:solidFill>
                <a:latin typeface="Consolas" pitchFamily="34" charset="0"/>
                <a:ea typeface="Consolas" pitchFamily="34" charset="-122"/>
                <a:cs typeface="Consolas" pitchFamily="34" charset="-120"/>
              </a:rPr>
              <a:t>8</a:t>
            </a:r>
            <a:endParaRPr lang="en-US" sz="2400" dirty="0"/>
          </a:p>
        </p:txBody>
      </p:sp>
      <p:sp>
        <p:nvSpPr>
          <p:cNvPr id="25" name="Text 23"/>
          <p:cNvSpPr/>
          <p:nvPr/>
        </p:nvSpPr>
        <p:spPr>
          <a:xfrm>
            <a:off x="7772400" y="5330952"/>
            <a:ext cx="1303020" cy="621792"/>
          </a:xfrm>
          <a:prstGeom prst="rect">
            <a:avLst/>
          </a:prstGeom>
          <a:noFill/>
          <a:ln/>
        </p:spPr>
        <p:txBody>
          <a:bodyPr wrap="square" lIns="0" tIns="0" rIns="0" bIns="0" rtlCol="0" anchor="ctr"/>
          <a:lstStyle/>
          <a:p>
            <a:pPr marL="0" indent="0">
              <a:buNone/>
            </a:pPr>
            <a:r>
              <a:rPr lang="en-US" sz="1150">
                <a:solidFill>
                  <a:srgbClr val="CBD9E9"/>
                </a:solidFill>
                <a:latin typeface="Calibri" pitchFamily="34" charset="0"/>
                <a:ea typeface="Calibri" pitchFamily="34" charset="-122"/>
                <a:cs typeface="Calibri" pitchFamily="34" charset="-120"/>
              </a:rPr>
              <a:t>Metrics per record</a:t>
            </a:r>
            <a:endParaRPr lang="en-US" sz="1150" dirty="0"/>
          </a:p>
        </p:txBody>
      </p:sp>
      <p:sp>
        <p:nvSpPr>
          <p:cNvPr id="26" name="fact chip">
            <a:extLst>
              <a:ext uri="{C183D7F6-B498-43B3-948B-1728B52AA6E4}">
                <adec:decorative xmlns:adec="http://schemas.microsoft.com/office/drawing/2017/decorative" val="1"/>
              </a:ext>
            </a:extLst>
          </p:cNvPr>
          <p:cNvSpPr/>
          <p:nvPr/>
        </p:nvSpPr>
        <p:spPr>
          <a:xfrm>
            <a:off x="9486900" y="5221224"/>
            <a:ext cx="2674620" cy="841248"/>
          </a:xfrm>
          <a:prstGeom prst="rect">
            <a:avLst/>
          </a:prstGeom>
          <a:solidFill>
            <a:srgbClr val="43426A"/>
          </a:solidFill>
          <a:ln/>
        </p:spPr>
        <p:txBody>
          <a:bodyPr/>
          <a:lstStyle/>
          <a:p>
            <a:endParaRPr lang="en-US"/>
          </a:p>
        </p:txBody>
      </p:sp>
      <p:sp>
        <p:nvSpPr>
          <p:cNvPr id="27" name="Text 25">
            <a:extLst>
              <a:ext uri="{C183D7F6-B498-43B3-948B-1728B52AA6E4}">
                <adec:decorative xmlns:adec="http://schemas.microsoft.com/office/drawing/2017/decorative" val="1"/>
              </a:ext>
            </a:extLst>
          </p:cNvPr>
          <p:cNvSpPr/>
          <p:nvPr/>
        </p:nvSpPr>
        <p:spPr>
          <a:xfrm>
            <a:off x="9688068" y="5330952"/>
            <a:ext cx="1280160" cy="457200"/>
          </a:xfrm>
          <a:prstGeom prst="rect">
            <a:avLst/>
          </a:prstGeom>
          <a:noFill/>
          <a:ln/>
        </p:spPr>
        <p:txBody>
          <a:bodyPr wrap="square" lIns="0" tIns="0" rIns="0" bIns="0" rtlCol="0" anchor="ctr"/>
          <a:lstStyle/>
          <a:p>
            <a:pPr marL="0" indent="0">
              <a:buNone/>
            </a:pPr>
            <a:r>
              <a:rPr lang="en-US" sz="2400" b="1">
                <a:solidFill>
                  <a:srgbClr val="6BA5D7"/>
                </a:solidFill>
                <a:latin typeface="Consolas" pitchFamily="34" charset="0"/>
                <a:ea typeface="Consolas" pitchFamily="34" charset="-122"/>
                <a:cs typeface="Consolas" pitchFamily="34" charset="-120"/>
              </a:rPr>
              <a:t>391</a:t>
            </a:r>
            <a:endParaRPr lang="en-US" sz="2400" dirty="0"/>
          </a:p>
        </p:txBody>
      </p:sp>
      <p:sp>
        <p:nvSpPr>
          <p:cNvPr id="28" name="Text 26"/>
          <p:cNvSpPr/>
          <p:nvPr/>
        </p:nvSpPr>
        <p:spPr>
          <a:xfrm>
            <a:off x="10721340" y="5330952"/>
            <a:ext cx="1303020" cy="621792"/>
          </a:xfrm>
          <a:prstGeom prst="rect">
            <a:avLst/>
          </a:prstGeom>
          <a:noFill/>
          <a:ln/>
        </p:spPr>
        <p:txBody>
          <a:bodyPr wrap="square" lIns="0" tIns="0" rIns="0" bIns="0" rtlCol="0" anchor="ctr"/>
          <a:lstStyle/>
          <a:p>
            <a:pPr marL="0" indent="0">
              <a:buNone/>
            </a:pPr>
            <a:r>
              <a:rPr lang="en-US" sz="1150">
                <a:solidFill>
                  <a:srgbClr val="CBD9E9"/>
                </a:solidFill>
                <a:latin typeface="Calibri" pitchFamily="34" charset="0"/>
                <a:ea typeface="Calibri" pitchFamily="34" charset="-122"/>
                <a:cs typeface="Calibri" pitchFamily="34" charset="-120"/>
              </a:rPr>
              <a:t>Specialty-year rows</a:t>
            </a:r>
            <a:endParaRPr lang="en-US" sz="1150" dirty="0"/>
          </a:p>
        </p:txBody>
      </p:sp>
      <p:sp>
        <p:nvSpPr>
          <p:cNvPr id="29" name="Text 27"/>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a:solidFill>
                  <a:srgbClr val="7C7E96"/>
                </a:solidFill>
                <a:latin typeface="Trebuchet MS" pitchFamily="34" charset="0"/>
                <a:ea typeface="Trebuchet MS" pitchFamily="34" charset="-122"/>
                <a:cs typeface="Trebuchet MS" pitchFamily="34" charset="-120"/>
              </a:rPr>
              <a:t>CMS MEDICARE PART B  ·  CY 2022–2024</a:t>
            </a:r>
            <a:endParaRPr lang="en-US" sz="900" dirty="0"/>
          </a:p>
        </p:txBody>
      </p:sp>
      <p:sp>
        <p:nvSpPr>
          <p:cNvPr id="30" name="Text 28"/>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a:solidFill>
                  <a:srgbClr val="4E79A7"/>
                </a:solidFill>
                <a:latin typeface="Consolas" pitchFamily="34" charset="0"/>
                <a:ea typeface="Consolas" pitchFamily="34" charset="-122"/>
                <a:cs typeface="Consolas"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40080" y="406908"/>
            <a:ext cx="201168" cy="128016"/>
          </a:xfrm>
          <a:prstGeom prst="rect">
            <a:avLst/>
          </a:prstGeom>
          <a:solidFill>
            <a:srgbClr val="6BA5D7"/>
          </a:solidFill>
          <a:ln/>
        </p:spPr>
        <p:txBody>
          <a:bodyPr/>
          <a:lstStyle/>
          <a:p>
            <a:endParaRPr lang="en-US"/>
          </a:p>
        </p:txBody>
      </p:sp>
      <p:sp>
        <p:nvSpPr>
          <p:cNvPr id="3" name="Text 1"/>
          <p:cNvSpPr/>
          <p:nvPr/>
        </p:nvSpPr>
        <p:spPr>
          <a:xfrm>
            <a:off x="932688" y="310896"/>
            <a:ext cx="8229600" cy="310896"/>
          </a:xfrm>
          <a:prstGeom prst="rect">
            <a:avLst/>
          </a:prstGeom>
          <a:noFill/>
          <a:ln/>
        </p:spPr>
        <p:txBody>
          <a:bodyPr wrap="square" lIns="0" tIns="0" rIns="0" bIns="0" rtlCol="0" anchor="ctr"/>
          <a:lstStyle/>
          <a:p>
            <a:pPr marL="0" indent="0" algn="l">
              <a:buNone/>
            </a:pPr>
            <a:r>
              <a:rPr lang="en-US" sz="1250" b="1" kern="0" spc="300">
                <a:solidFill>
                  <a:srgbClr val="4E79A7"/>
                </a:solidFill>
                <a:latin typeface="Trebuchet MS" pitchFamily="34" charset="0"/>
                <a:ea typeface="Trebuchet MS" pitchFamily="34" charset="-122"/>
                <a:cs typeface="Trebuchet MS" pitchFamily="34" charset="-120"/>
              </a:rPr>
              <a:t>DESCRIPTIVE · NATIONAL TREND</a:t>
            </a:r>
            <a:endParaRPr lang="en-US" sz="1250" dirty="0"/>
          </a:p>
        </p:txBody>
      </p:sp>
      <p:sp>
        <p:nvSpPr>
          <p:cNvPr id="4" name="Text 0"/>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2800" b="1">
                <a:solidFill>
                  <a:srgbClr val="2B2A45"/>
                </a:solidFill>
                <a:latin typeface="Trebuchet MS" pitchFamily="34" charset="0"/>
                <a:ea typeface="Trebuchet MS" pitchFamily="34" charset="-122"/>
                <a:cs typeface="Trebuchet MS" pitchFamily="34" charset="-120"/>
              </a:rPr>
              <a:t>Medicare Part B Spending Is Climbing</a:t>
            </a:r>
            <a:endParaRPr lang="en-US" sz="2800" dirty="0"/>
          </a:p>
        </p:txBody>
      </p:sp>
      <p:sp>
        <p:nvSpPr>
          <p:cNvPr id="5" name="chart card">
            <a:extLst>
              <a:ext uri="{C183D7F6-B498-43B3-948B-1728B52AA6E4}">
                <adec:decorative xmlns:adec="http://schemas.microsoft.com/office/drawing/2017/decorative" val="1"/>
              </a:ext>
            </a:extLst>
          </p:cNvPr>
          <p:cNvSpPr/>
          <p:nvPr/>
        </p:nvSpPr>
        <p:spPr>
          <a:xfrm>
            <a:off x="640080" y="1554480"/>
            <a:ext cx="7086600" cy="4572000"/>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6" name="Text 4"/>
          <p:cNvSpPr/>
          <p:nvPr/>
        </p:nvSpPr>
        <p:spPr>
          <a:xfrm>
            <a:off x="914400" y="1737360"/>
            <a:ext cx="6583680" cy="365760"/>
          </a:xfrm>
          <a:prstGeom prst="rect">
            <a:avLst/>
          </a:prstGeom>
          <a:noFill/>
          <a:ln/>
        </p:spPr>
        <p:txBody>
          <a:bodyPr wrap="square" lIns="0" tIns="0" rIns="0" bIns="0" rtlCol="0" anchor="ctr"/>
          <a:lstStyle/>
          <a:p>
            <a:pPr marL="0" indent="0">
              <a:buNone/>
            </a:pPr>
            <a:r>
              <a:rPr lang="en-US" sz="1350" b="1">
                <a:solidFill>
                  <a:srgbClr val="2B2A45"/>
                </a:solidFill>
                <a:latin typeface="Trebuchet MS" pitchFamily="34" charset="0"/>
                <a:ea typeface="Trebuchet MS" pitchFamily="34" charset="-122"/>
                <a:cs typeface="Trebuchet MS" pitchFamily="34" charset="-120"/>
              </a:rPr>
              <a:t>Total Medicare Payment Amount by Year ($ Billions)</a:t>
            </a:r>
            <a:endParaRPr lang="en-US" sz="1350" dirty="0"/>
          </a:p>
        </p:txBody>
      </p:sp>
      <p:graphicFrame>
        <p:nvGraphicFramePr>
          <p:cNvPr id="7" name="Payment amount by year" descr="Column chart of Medicare Part B payments: $115.9B in 2022, $125.7B in 2023, $131.7B in 2024"/>
          <p:cNvGraphicFramePr/>
          <p:nvPr>
            <p:extLst>
              <p:ext uri="{D42A27DB-BD31-4B8C-83A1-F6EECF244321}">
                <p14:modId xmlns:p14="http://schemas.microsoft.com/office/powerpoint/2010/main" val="392285717"/>
              </p:ext>
            </p:extLst>
          </p:nvPr>
        </p:nvGraphicFramePr>
        <p:xfrm>
          <a:off x="868680" y="2148840"/>
          <a:ext cx="6629400" cy="3794760"/>
        </p:xfrm>
        <a:graphic>
          <a:graphicData uri="http://schemas.openxmlformats.org/drawingml/2006/chart">
            <c:chart xmlns:c="http://schemas.openxmlformats.org/drawingml/2006/chart" xmlns:r="http://schemas.openxmlformats.org/officeDocument/2006/relationships" r:id="rId3"/>
          </a:graphicData>
        </a:graphic>
      </p:graphicFrame>
      <p:sp>
        <p:nvSpPr>
          <p:cNvPr id="8" name="kpi card">
            <a:extLst>
              <a:ext uri="{C183D7F6-B498-43B3-948B-1728B52AA6E4}">
                <adec:decorative xmlns:adec="http://schemas.microsoft.com/office/drawing/2017/decorative" val="1"/>
              </a:ext>
            </a:extLst>
          </p:cNvPr>
          <p:cNvSpPr/>
          <p:nvPr/>
        </p:nvSpPr>
        <p:spPr>
          <a:xfrm>
            <a:off x="8001000" y="1554480"/>
            <a:ext cx="3520440" cy="1417320"/>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9" name="kpi accent">
            <a:extLst>
              <a:ext uri="{C183D7F6-B498-43B3-948B-1728B52AA6E4}">
                <adec:decorative xmlns:adec="http://schemas.microsoft.com/office/drawing/2017/decorative" val="1"/>
              </a:ext>
            </a:extLst>
          </p:cNvPr>
          <p:cNvSpPr/>
          <p:nvPr/>
        </p:nvSpPr>
        <p:spPr>
          <a:xfrm>
            <a:off x="8001000" y="1554480"/>
            <a:ext cx="82296" cy="1417320"/>
          </a:xfrm>
          <a:prstGeom prst="rect">
            <a:avLst/>
          </a:prstGeom>
          <a:solidFill>
            <a:srgbClr val="6BA5D7"/>
          </a:solidFill>
          <a:ln/>
        </p:spPr>
        <p:txBody>
          <a:bodyPr/>
          <a:lstStyle/>
          <a:p>
            <a:endParaRPr lang="en-US"/>
          </a:p>
        </p:txBody>
      </p:sp>
      <p:sp>
        <p:nvSpPr>
          <p:cNvPr id="10" name="Text 7">
            <a:extLst>
              <a:ext uri="{C183D7F6-B498-43B3-948B-1728B52AA6E4}">
                <adec:decorative xmlns:adec="http://schemas.microsoft.com/office/drawing/2017/decorative" val="1"/>
              </a:ext>
            </a:extLst>
          </p:cNvPr>
          <p:cNvSpPr/>
          <p:nvPr/>
        </p:nvSpPr>
        <p:spPr>
          <a:xfrm>
            <a:off x="8220456" y="1700784"/>
            <a:ext cx="3154680" cy="708660"/>
          </a:xfrm>
          <a:prstGeom prst="rect">
            <a:avLst/>
          </a:prstGeom>
          <a:noFill/>
          <a:ln/>
        </p:spPr>
        <p:txBody>
          <a:bodyPr wrap="square" lIns="0" tIns="0" rIns="0" bIns="0" rtlCol="0" anchor="ctr"/>
          <a:lstStyle/>
          <a:p>
            <a:pPr marL="0" indent="0" algn="l">
              <a:buNone/>
            </a:pPr>
            <a:r>
              <a:rPr lang="en-US" sz="3000" b="1">
                <a:solidFill>
                  <a:srgbClr val="4E79A7"/>
                </a:solidFill>
                <a:latin typeface="Consolas" pitchFamily="34" charset="0"/>
                <a:ea typeface="Consolas" pitchFamily="34" charset="-122"/>
                <a:cs typeface="Consolas" pitchFamily="34" charset="-120"/>
              </a:rPr>
              <a:t>+13.6%</a:t>
            </a:r>
            <a:endParaRPr lang="en-US" sz="3000" dirty="0"/>
          </a:p>
        </p:txBody>
      </p:sp>
      <p:sp>
        <p:nvSpPr>
          <p:cNvPr id="11" name="Text 8"/>
          <p:cNvSpPr/>
          <p:nvPr/>
        </p:nvSpPr>
        <p:spPr>
          <a:xfrm>
            <a:off x="8238744" y="2404872"/>
            <a:ext cx="3108960" cy="292608"/>
          </a:xfrm>
          <a:prstGeom prst="rect">
            <a:avLst/>
          </a:prstGeom>
          <a:noFill/>
          <a:ln/>
        </p:spPr>
        <p:txBody>
          <a:bodyPr wrap="square" lIns="0" tIns="0" rIns="0" bIns="0" rtlCol="0" anchor="ctr"/>
          <a:lstStyle/>
          <a:p>
            <a:pPr marL="0" indent="0" algn="l">
              <a:buNone/>
            </a:pPr>
            <a:r>
              <a:rPr lang="en-US" sz="1100" b="1" kern="0" spc="150">
                <a:solidFill>
                  <a:srgbClr val="2B2A45"/>
                </a:solidFill>
                <a:latin typeface="Trebuchet MS" pitchFamily="34" charset="0"/>
                <a:ea typeface="Trebuchet MS" pitchFamily="34" charset="-122"/>
                <a:cs typeface="Trebuchet MS" pitchFamily="34" charset="-120"/>
              </a:rPr>
              <a:t>2-YR PAYMENT GROWTH</a:t>
            </a:r>
            <a:endParaRPr lang="en-US" sz="1100" dirty="0"/>
          </a:p>
        </p:txBody>
      </p:sp>
      <p:sp>
        <p:nvSpPr>
          <p:cNvPr id="12" name="Text 9"/>
          <p:cNvSpPr/>
          <p:nvPr/>
        </p:nvSpPr>
        <p:spPr>
          <a:xfrm>
            <a:off x="8238744" y="2679192"/>
            <a:ext cx="3108960" cy="274320"/>
          </a:xfrm>
          <a:prstGeom prst="rect">
            <a:avLst/>
          </a:prstGeom>
          <a:noFill/>
          <a:ln/>
        </p:spPr>
        <p:txBody>
          <a:bodyPr wrap="square" lIns="0" tIns="0" rIns="0" bIns="0" rtlCol="0" anchor="ctr"/>
          <a:lstStyle/>
          <a:p>
            <a:pPr marL="0" indent="0" algn="l">
              <a:buNone/>
            </a:pPr>
            <a:r>
              <a:rPr lang="en-US" sz="1050">
                <a:solidFill>
                  <a:srgbClr val="7C7E96"/>
                </a:solidFill>
                <a:latin typeface="Calibri" pitchFamily="34" charset="0"/>
                <a:ea typeface="Calibri" pitchFamily="34" charset="-122"/>
                <a:cs typeface="Calibri" pitchFamily="34" charset="-120"/>
              </a:rPr>
              <a:t>2022 → 2024</a:t>
            </a:r>
            <a:endParaRPr lang="en-US" sz="1050" dirty="0"/>
          </a:p>
        </p:txBody>
      </p:sp>
      <p:sp>
        <p:nvSpPr>
          <p:cNvPr id="13" name="insight card">
            <a:extLst>
              <a:ext uri="{C183D7F6-B498-43B3-948B-1728B52AA6E4}">
                <adec:decorative xmlns:adec="http://schemas.microsoft.com/office/drawing/2017/decorative" val="1"/>
              </a:ext>
            </a:extLst>
          </p:cNvPr>
          <p:cNvSpPr/>
          <p:nvPr/>
        </p:nvSpPr>
        <p:spPr>
          <a:xfrm>
            <a:off x="8001000" y="3127248"/>
            <a:ext cx="3520440" cy="2999232"/>
          </a:xfrm>
          <a:prstGeom prst="rect">
            <a:avLst/>
          </a:prstGeom>
          <a:solidFill>
            <a:srgbClr val="43426A"/>
          </a:solidFill>
          <a:ln/>
        </p:spPr>
        <p:txBody>
          <a:bodyPr/>
          <a:lstStyle/>
          <a:p>
            <a:endParaRPr lang="en-US"/>
          </a:p>
        </p:txBody>
      </p:sp>
      <p:sp>
        <p:nvSpPr>
          <p:cNvPr id="14" name="Text 11">
            <a:extLst>
              <a:ext uri="{C183D7F6-B498-43B3-948B-1728B52AA6E4}">
                <adec:decorative xmlns:adec="http://schemas.microsoft.com/office/drawing/2017/decorative" val="1"/>
              </a:ext>
            </a:extLst>
          </p:cNvPr>
          <p:cNvSpPr/>
          <p:nvPr/>
        </p:nvSpPr>
        <p:spPr>
          <a:xfrm>
            <a:off x="8257032" y="3310128"/>
            <a:ext cx="3017520" cy="365760"/>
          </a:xfrm>
          <a:prstGeom prst="rect">
            <a:avLst/>
          </a:prstGeom>
          <a:noFill/>
          <a:ln/>
        </p:spPr>
        <p:txBody>
          <a:bodyPr wrap="square" lIns="0" tIns="0" rIns="0" bIns="0" rtlCol="0" anchor="ctr"/>
          <a:lstStyle/>
          <a:p>
            <a:pPr marL="0" indent="0">
              <a:buNone/>
            </a:pPr>
            <a:r>
              <a:rPr lang="en-US" sz="1300" b="1">
                <a:solidFill>
                  <a:srgbClr val="6BA5D7"/>
                </a:solidFill>
                <a:latin typeface="Trebuchet MS" pitchFamily="34" charset="0"/>
                <a:ea typeface="Trebuchet MS" pitchFamily="34" charset="-122"/>
                <a:cs typeface="Trebuchet MS" pitchFamily="34" charset="-120"/>
              </a:rPr>
              <a:t>What's happening</a:t>
            </a:r>
            <a:endParaRPr lang="en-US" sz="1300" dirty="0"/>
          </a:p>
        </p:txBody>
      </p:sp>
      <p:sp>
        <p:nvSpPr>
          <p:cNvPr id="15" name="Text 12"/>
          <p:cNvSpPr/>
          <p:nvPr/>
        </p:nvSpPr>
        <p:spPr>
          <a:xfrm>
            <a:off x="8257032" y="3703320"/>
            <a:ext cx="3017520" cy="2286000"/>
          </a:xfrm>
          <a:prstGeom prst="rect">
            <a:avLst/>
          </a:prstGeom>
          <a:noFill/>
          <a:ln/>
        </p:spPr>
        <p:txBody>
          <a:bodyPr wrap="square" lIns="0" tIns="0" rIns="0" bIns="0" rtlCol="0" anchor="t"/>
          <a:lstStyle/>
          <a:p>
            <a:pPr marL="0" indent="0">
              <a:lnSpc>
                <a:spcPct val="105000"/>
              </a:lnSpc>
              <a:buNone/>
            </a:pPr>
            <a:r>
              <a:rPr lang="en-US" sz="1300">
                <a:solidFill>
                  <a:srgbClr val="CBD9E9"/>
                </a:solidFill>
                <a:latin typeface="Calibri" pitchFamily="34" charset="0"/>
                <a:ea typeface="Calibri" pitchFamily="34" charset="-122"/>
                <a:cs typeface="Calibri" pitchFamily="34" charset="-120"/>
              </a:rPr>
              <a:t>Payments rose </a:t>
            </a:r>
            <a:r>
              <a:rPr lang="en-US" sz="1300" b="1" dirty="0">
                <a:solidFill>
                  <a:srgbClr val="FFFFFF"/>
                </a:solidFill>
                <a:latin typeface="Calibri" pitchFamily="34" charset="0"/>
                <a:ea typeface="Calibri" pitchFamily="34" charset="-122"/>
                <a:cs typeface="Calibri" pitchFamily="34" charset="-120"/>
              </a:rPr>
              <a:t>+8.4%</a:t>
            </a:r>
            <a:r>
              <a:rPr lang="en-US" sz="1300">
                <a:solidFill>
                  <a:srgbClr val="CBD9E9"/>
                </a:solidFill>
                <a:latin typeface="Calibri" pitchFamily="34" charset="0"/>
                <a:ea typeface="Calibri" pitchFamily="34" charset="-122"/>
                <a:cs typeface="Calibri" pitchFamily="34" charset="-120"/>
              </a:rPr>
              <a:t> in 2023, then a softer </a:t>
            </a:r>
            <a:r>
              <a:rPr lang="en-US" sz="1300" b="1" dirty="0">
                <a:solidFill>
                  <a:srgbClr val="FFFFFF"/>
                </a:solidFill>
                <a:latin typeface="Calibri" pitchFamily="34" charset="0"/>
                <a:ea typeface="Calibri" pitchFamily="34" charset="-122"/>
                <a:cs typeface="Calibri" pitchFamily="34" charset="-120"/>
              </a:rPr>
              <a:t>+4.8%</a:t>
            </a:r>
            <a:r>
              <a:rPr lang="en-US" sz="1300">
                <a:solidFill>
                  <a:srgbClr val="CBD9E9"/>
                </a:solidFill>
                <a:latin typeface="Calibri" pitchFamily="34" charset="0"/>
                <a:ea typeface="Calibri" pitchFamily="34" charset="-122"/>
                <a:cs typeface="Calibri" pitchFamily="34" charset="-120"/>
              </a:rPr>
              <a:t> in 2024.</a:t>
            </a:r>
            <a:endParaRPr lang="en-US" sz="1300" dirty="0"/>
          </a:p>
          <a:p>
            <a:pPr marL="0" indent="0">
              <a:lnSpc>
                <a:spcPct val="105000"/>
              </a:lnSpc>
              <a:buNone/>
            </a:pPr>
            <a:r>
              <a:rPr lang="en-US" sz="1300">
                <a:solidFill>
                  <a:srgbClr val="CBD9E9"/>
                </a:solidFill>
                <a:latin typeface="Calibri" pitchFamily="34" charset="0"/>
                <a:ea typeface="Calibri" pitchFamily="34" charset="-122"/>
                <a:cs typeface="Calibri" pitchFamily="34" charset="-120"/>
              </a:rPr>
              <a:t> </a:t>
            </a:r>
            <a:endParaRPr lang="en-US" sz="1300" dirty="0"/>
          </a:p>
          <a:p>
            <a:pPr marL="0" indent="0">
              <a:lnSpc>
                <a:spcPct val="105000"/>
              </a:lnSpc>
              <a:buNone/>
            </a:pPr>
            <a:r>
              <a:rPr lang="en-US" sz="1300">
                <a:solidFill>
                  <a:srgbClr val="CBD9E9"/>
                </a:solidFill>
                <a:latin typeface="Calibri" pitchFamily="34" charset="0"/>
                <a:ea typeface="Calibri" pitchFamily="34" charset="-122"/>
                <a:cs typeface="Calibri" pitchFamily="34" charset="-120"/>
              </a:rPr>
              <a:t>Growth is decelerating even as total spend keeps setting new highs — pointing to volume and mix effects rather than runaway unit prices.</a:t>
            </a:r>
            <a:endParaRPr lang="en-US" sz="1300" dirty="0"/>
          </a:p>
        </p:txBody>
      </p:sp>
      <p:sp>
        <p:nvSpPr>
          <p:cNvPr id="16" name="Text 13"/>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a:solidFill>
                  <a:srgbClr val="7C7E96"/>
                </a:solidFill>
                <a:latin typeface="Trebuchet MS" pitchFamily="34" charset="0"/>
                <a:ea typeface="Trebuchet MS" pitchFamily="34" charset="-122"/>
                <a:cs typeface="Trebuchet MS" pitchFamily="34" charset="-120"/>
              </a:rPr>
              <a:t>CMS MEDICARE PART B  ·  CY 2022–2024</a:t>
            </a:r>
            <a:endParaRPr lang="en-US" sz="900" dirty="0"/>
          </a:p>
        </p:txBody>
      </p:sp>
      <p:sp>
        <p:nvSpPr>
          <p:cNvPr id="17" name="Text 14"/>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a:solidFill>
                  <a:srgbClr val="4E79A7"/>
                </a:solidFill>
                <a:latin typeface="Consolas" pitchFamily="34" charset="0"/>
                <a:ea typeface="Consolas" pitchFamily="34" charset="-122"/>
                <a:cs typeface="Consolas"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40080" y="406908"/>
            <a:ext cx="201168" cy="128016"/>
          </a:xfrm>
          <a:prstGeom prst="rect">
            <a:avLst/>
          </a:prstGeom>
          <a:solidFill>
            <a:srgbClr val="6BA5D7"/>
          </a:solidFill>
          <a:ln/>
        </p:spPr>
        <p:txBody>
          <a:bodyPr/>
          <a:lstStyle/>
          <a:p>
            <a:endParaRPr lang="en-US"/>
          </a:p>
        </p:txBody>
      </p:sp>
      <p:sp>
        <p:nvSpPr>
          <p:cNvPr id="3" name="Text 1"/>
          <p:cNvSpPr/>
          <p:nvPr/>
        </p:nvSpPr>
        <p:spPr>
          <a:xfrm>
            <a:off x="932688" y="310896"/>
            <a:ext cx="8229600" cy="310896"/>
          </a:xfrm>
          <a:prstGeom prst="rect">
            <a:avLst/>
          </a:prstGeom>
          <a:noFill/>
          <a:ln/>
        </p:spPr>
        <p:txBody>
          <a:bodyPr wrap="square" lIns="0" tIns="0" rIns="0" bIns="0" rtlCol="0" anchor="ctr"/>
          <a:lstStyle/>
          <a:p>
            <a:pPr marL="0" indent="0" algn="l">
              <a:buNone/>
            </a:pPr>
            <a:r>
              <a:rPr lang="en-US" sz="1250" b="1" kern="0" spc="300">
                <a:solidFill>
                  <a:srgbClr val="4E79A7"/>
                </a:solidFill>
                <a:latin typeface="Trebuchet MS" pitchFamily="34" charset="0"/>
                <a:ea typeface="Trebuchet MS" pitchFamily="34" charset="-122"/>
                <a:cs typeface="Trebuchet MS" pitchFamily="34" charset="-120"/>
              </a:rPr>
              <a:t>DESCRIPTIVE · CHARGES VS. PAYMENTS</a:t>
            </a:r>
            <a:endParaRPr lang="en-US" sz="1250" dirty="0"/>
          </a:p>
        </p:txBody>
      </p:sp>
      <p:sp>
        <p:nvSpPr>
          <p:cNvPr id="4" name="Text 0"/>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2800" b="1">
                <a:solidFill>
                  <a:srgbClr val="2B2A45"/>
                </a:solidFill>
                <a:latin typeface="Trebuchet MS" pitchFamily="34" charset="0"/>
                <a:ea typeface="Trebuchet MS" pitchFamily="34" charset="-122"/>
                <a:cs typeface="Trebuchet MS" pitchFamily="34" charset="-120"/>
              </a:rPr>
              <a:t>Payment Rate Holds Near 77%</a:t>
            </a:r>
            <a:endParaRPr lang="en-US" sz="2800" dirty="0"/>
          </a:p>
        </p:txBody>
      </p:sp>
      <p:sp>
        <p:nvSpPr>
          <p:cNvPr id="5" name="chart card">
            <a:extLst>
              <a:ext uri="{C183D7F6-B498-43B3-948B-1728B52AA6E4}">
                <adec:decorative xmlns:adec="http://schemas.microsoft.com/office/drawing/2017/decorative" val="1"/>
              </a:ext>
            </a:extLst>
          </p:cNvPr>
          <p:cNvSpPr/>
          <p:nvPr/>
        </p:nvSpPr>
        <p:spPr>
          <a:xfrm>
            <a:off x="640080" y="1554480"/>
            <a:ext cx="7086600" cy="4572000"/>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6" name="Text 4"/>
          <p:cNvSpPr/>
          <p:nvPr/>
        </p:nvSpPr>
        <p:spPr>
          <a:xfrm>
            <a:off x="914400" y="1737360"/>
            <a:ext cx="6583680" cy="365760"/>
          </a:xfrm>
          <a:prstGeom prst="rect">
            <a:avLst/>
          </a:prstGeom>
          <a:noFill/>
          <a:ln/>
        </p:spPr>
        <p:txBody>
          <a:bodyPr wrap="square" lIns="0" tIns="0" rIns="0" bIns="0" rtlCol="0" anchor="ctr"/>
          <a:lstStyle/>
          <a:p>
            <a:pPr marL="0" indent="0">
              <a:buNone/>
            </a:pPr>
            <a:r>
              <a:rPr lang="en-US" sz="1350" b="1">
                <a:solidFill>
                  <a:srgbClr val="2B2A45"/>
                </a:solidFill>
                <a:latin typeface="Trebuchet MS" pitchFamily="34" charset="0"/>
                <a:ea typeface="Trebuchet MS" pitchFamily="34" charset="-122"/>
                <a:cs typeface="Trebuchet MS" pitchFamily="34" charset="-120"/>
              </a:rPr>
              <a:t>Allowed Charges vs. Medicare Payment ($ Billions)</a:t>
            </a:r>
            <a:endParaRPr lang="en-US" sz="1350" dirty="0"/>
          </a:p>
        </p:txBody>
      </p:sp>
      <p:graphicFrame>
        <p:nvGraphicFramePr>
          <p:cNvPr id="7" name="Charges vs payment by year" descr="Clustered columns comparing allowed charges and Medicare payment 2022-2024"/>
          <p:cNvGraphicFramePr/>
          <p:nvPr>
            <p:extLst>
              <p:ext uri="{D42A27DB-BD31-4B8C-83A1-F6EECF244321}">
                <p14:modId xmlns:p14="http://schemas.microsoft.com/office/powerpoint/2010/main" val="2464291284"/>
              </p:ext>
            </p:extLst>
          </p:nvPr>
        </p:nvGraphicFramePr>
        <p:xfrm>
          <a:off x="868680" y="2194560"/>
          <a:ext cx="662940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p:nvPr/>
        </p:nvSpPr>
        <p:spPr>
          <a:xfrm>
            <a:off x="914400" y="5623560"/>
            <a:ext cx="6583680" cy="320040"/>
          </a:xfrm>
          <a:prstGeom prst="rect">
            <a:avLst/>
          </a:prstGeom>
          <a:noFill/>
          <a:ln/>
        </p:spPr>
        <p:txBody>
          <a:bodyPr wrap="square" lIns="0" tIns="0" rIns="0" bIns="0" rtlCol="0" anchor="ctr"/>
          <a:lstStyle/>
          <a:p>
            <a:pPr marL="0" indent="0" algn="ctr">
              <a:buNone/>
            </a:pPr>
            <a:r>
              <a:rPr lang="en-US" sz="1200" b="1">
                <a:solidFill>
                  <a:srgbClr val="4E79A7"/>
                </a:solidFill>
                <a:latin typeface="Consolas" pitchFamily="34" charset="0"/>
                <a:ea typeface="Consolas" pitchFamily="34" charset="-122"/>
                <a:cs typeface="Consolas" pitchFamily="34" charset="-120"/>
              </a:rPr>
              <a:t>Payment rate:  2022  77.3%      2023  77.1%      2024  76.8%</a:t>
            </a:r>
            <a:endParaRPr lang="en-US" sz="1200" dirty="0"/>
          </a:p>
        </p:txBody>
      </p:sp>
      <p:sp>
        <p:nvSpPr>
          <p:cNvPr id="9" name="kpi card">
            <a:extLst>
              <a:ext uri="{C183D7F6-B498-43B3-948B-1728B52AA6E4}">
                <adec:decorative xmlns:adec="http://schemas.microsoft.com/office/drawing/2017/decorative" val="1"/>
              </a:ext>
            </a:extLst>
          </p:cNvPr>
          <p:cNvSpPr/>
          <p:nvPr/>
        </p:nvSpPr>
        <p:spPr>
          <a:xfrm>
            <a:off x="8001000" y="1554480"/>
            <a:ext cx="3520440" cy="1417320"/>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10" name="kpi accent">
            <a:extLst>
              <a:ext uri="{C183D7F6-B498-43B3-948B-1728B52AA6E4}">
                <adec:decorative xmlns:adec="http://schemas.microsoft.com/office/drawing/2017/decorative" val="1"/>
              </a:ext>
            </a:extLst>
          </p:cNvPr>
          <p:cNvSpPr/>
          <p:nvPr/>
        </p:nvSpPr>
        <p:spPr>
          <a:xfrm>
            <a:off x="8001000" y="1554480"/>
            <a:ext cx="82296" cy="1417320"/>
          </a:xfrm>
          <a:prstGeom prst="rect">
            <a:avLst/>
          </a:prstGeom>
          <a:solidFill>
            <a:srgbClr val="6BA5D7"/>
          </a:solidFill>
          <a:ln/>
        </p:spPr>
        <p:txBody>
          <a:bodyPr/>
          <a:lstStyle/>
          <a:p>
            <a:endParaRPr lang="en-US"/>
          </a:p>
        </p:txBody>
      </p:sp>
      <p:sp>
        <p:nvSpPr>
          <p:cNvPr id="11" name="Text 8">
            <a:extLst>
              <a:ext uri="{C183D7F6-B498-43B3-948B-1728B52AA6E4}">
                <adec:decorative xmlns:adec="http://schemas.microsoft.com/office/drawing/2017/decorative" val="1"/>
              </a:ext>
            </a:extLst>
          </p:cNvPr>
          <p:cNvSpPr/>
          <p:nvPr/>
        </p:nvSpPr>
        <p:spPr>
          <a:xfrm>
            <a:off x="8220456" y="1700784"/>
            <a:ext cx="3154680" cy="708660"/>
          </a:xfrm>
          <a:prstGeom prst="rect">
            <a:avLst/>
          </a:prstGeom>
          <a:noFill/>
          <a:ln/>
        </p:spPr>
        <p:txBody>
          <a:bodyPr wrap="square" lIns="0" tIns="0" rIns="0" bIns="0" rtlCol="0" anchor="ctr"/>
          <a:lstStyle/>
          <a:p>
            <a:pPr marL="0" indent="0" algn="l">
              <a:buNone/>
            </a:pPr>
            <a:r>
              <a:rPr lang="en-US" sz="3000" b="1">
                <a:solidFill>
                  <a:srgbClr val="4E79A7"/>
                </a:solidFill>
                <a:latin typeface="Consolas" pitchFamily="34" charset="0"/>
                <a:ea typeface="Consolas" pitchFamily="34" charset="-122"/>
                <a:cs typeface="Consolas" pitchFamily="34" charset="-120"/>
              </a:rPr>
              <a:t>76.8%</a:t>
            </a:r>
            <a:endParaRPr lang="en-US" sz="3000" dirty="0"/>
          </a:p>
        </p:txBody>
      </p:sp>
      <p:sp>
        <p:nvSpPr>
          <p:cNvPr id="12" name="Text 9"/>
          <p:cNvSpPr/>
          <p:nvPr/>
        </p:nvSpPr>
        <p:spPr>
          <a:xfrm>
            <a:off x="8238744" y="2404872"/>
            <a:ext cx="3108960" cy="292608"/>
          </a:xfrm>
          <a:prstGeom prst="rect">
            <a:avLst/>
          </a:prstGeom>
          <a:noFill/>
          <a:ln/>
        </p:spPr>
        <p:txBody>
          <a:bodyPr wrap="square" lIns="0" tIns="0" rIns="0" bIns="0" rtlCol="0" anchor="ctr"/>
          <a:lstStyle/>
          <a:p>
            <a:pPr marL="0" indent="0" algn="l">
              <a:buNone/>
            </a:pPr>
            <a:r>
              <a:rPr lang="en-US" sz="1100" b="1" kern="0" spc="150">
                <a:solidFill>
                  <a:srgbClr val="2B2A45"/>
                </a:solidFill>
                <a:latin typeface="Trebuchet MS" pitchFamily="34" charset="0"/>
                <a:ea typeface="Trebuchet MS" pitchFamily="34" charset="-122"/>
                <a:cs typeface="Trebuchet MS" pitchFamily="34" charset="-120"/>
              </a:rPr>
              <a:t>2024 PAYMENT RATE</a:t>
            </a:r>
            <a:endParaRPr lang="en-US" sz="1100" dirty="0"/>
          </a:p>
        </p:txBody>
      </p:sp>
      <p:sp>
        <p:nvSpPr>
          <p:cNvPr id="13" name="Text 10"/>
          <p:cNvSpPr/>
          <p:nvPr/>
        </p:nvSpPr>
        <p:spPr>
          <a:xfrm>
            <a:off x="8238744" y="2679192"/>
            <a:ext cx="3108960" cy="274320"/>
          </a:xfrm>
          <a:prstGeom prst="rect">
            <a:avLst/>
          </a:prstGeom>
          <a:noFill/>
          <a:ln/>
        </p:spPr>
        <p:txBody>
          <a:bodyPr wrap="square" lIns="0" tIns="0" rIns="0" bIns="0" rtlCol="0" anchor="ctr"/>
          <a:lstStyle/>
          <a:p>
            <a:pPr marL="0" indent="0" algn="l">
              <a:buNone/>
            </a:pPr>
            <a:r>
              <a:rPr lang="en-US" sz="1050">
                <a:solidFill>
                  <a:srgbClr val="7C7E96"/>
                </a:solidFill>
                <a:latin typeface="Calibri" pitchFamily="34" charset="0"/>
                <a:ea typeface="Calibri" pitchFamily="34" charset="-122"/>
                <a:cs typeface="Calibri" pitchFamily="34" charset="-120"/>
              </a:rPr>
              <a:t>of allowed charges paid</a:t>
            </a:r>
            <a:endParaRPr lang="en-US" sz="1050" dirty="0"/>
          </a:p>
        </p:txBody>
      </p:sp>
      <p:sp>
        <p:nvSpPr>
          <p:cNvPr id="14" name="insight card">
            <a:extLst>
              <a:ext uri="{C183D7F6-B498-43B3-948B-1728B52AA6E4}">
                <adec:decorative xmlns:adec="http://schemas.microsoft.com/office/drawing/2017/decorative" val="1"/>
              </a:ext>
            </a:extLst>
          </p:cNvPr>
          <p:cNvSpPr/>
          <p:nvPr/>
        </p:nvSpPr>
        <p:spPr>
          <a:xfrm>
            <a:off x="8001000" y="3127248"/>
            <a:ext cx="3520440" cy="2999232"/>
          </a:xfrm>
          <a:prstGeom prst="rect">
            <a:avLst/>
          </a:prstGeom>
          <a:solidFill>
            <a:srgbClr val="43426A"/>
          </a:solidFill>
          <a:ln/>
        </p:spPr>
        <p:txBody>
          <a:bodyPr/>
          <a:lstStyle/>
          <a:p>
            <a:endParaRPr lang="en-US"/>
          </a:p>
        </p:txBody>
      </p:sp>
      <p:sp>
        <p:nvSpPr>
          <p:cNvPr id="15" name="Text 12">
            <a:extLst>
              <a:ext uri="{C183D7F6-B498-43B3-948B-1728B52AA6E4}">
                <adec:decorative xmlns:adec="http://schemas.microsoft.com/office/drawing/2017/decorative" val="1"/>
              </a:ext>
            </a:extLst>
          </p:cNvPr>
          <p:cNvSpPr/>
          <p:nvPr/>
        </p:nvSpPr>
        <p:spPr>
          <a:xfrm>
            <a:off x="8257032" y="3310128"/>
            <a:ext cx="3017520" cy="365760"/>
          </a:xfrm>
          <a:prstGeom prst="rect">
            <a:avLst/>
          </a:prstGeom>
          <a:noFill/>
          <a:ln/>
        </p:spPr>
        <p:txBody>
          <a:bodyPr wrap="square" lIns="0" tIns="0" rIns="0" bIns="0" rtlCol="0" anchor="ctr"/>
          <a:lstStyle/>
          <a:p>
            <a:pPr marL="0" indent="0">
              <a:buNone/>
            </a:pPr>
            <a:r>
              <a:rPr lang="en-US" sz="1300" b="1">
                <a:solidFill>
                  <a:srgbClr val="6BA5D7"/>
                </a:solidFill>
                <a:latin typeface="Trebuchet MS" pitchFamily="34" charset="0"/>
                <a:ea typeface="Trebuchet MS" pitchFamily="34" charset="-122"/>
                <a:cs typeface="Trebuchet MS" pitchFamily="34" charset="-120"/>
              </a:rPr>
              <a:t>Why it matters</a:t>
            </a:r>
            <a:endParaRPr lang="en-US" sz="1300" dirty="0"/>
          </a:p>
        </p:txBody>
      </p:sp>
      <p:sp>
        <p:nvSpPr>
          <p:cNvPr id="16" name="Text 13"/>
          <p:cNvSpPr/>
          <p:nvPr/>
        </p:nvSpPr>
        <p:spPr>
          <a:xfrm>
            <a:off x="8257032" y="3703320"/>
            <a:ext cx="3017520" cy="2286000"/>
          </a:xfrm>
          <a:prstGeom prst="rect">
            <a:avLst/>
          </a:prstGeom>
          <a:noFill/>
          <a:ln/>
        </p:spPr>
        <p:txBody>
          <a:bodyPr wrap="square" lIns="0" tIns="0" rIns="0" bIns="0" rtlCol="0" anchor="t"/>
          <a:lstStyle/>
          <a:p>
            <a:pPr marL="0" indent="0">
              <a:lnSpc>
                <a:spcPct val="105000"/>
              </a:lnSpc>
              <a:buNone/>
            </a:pPr>
            <a:r>
              <a:rPr lang="en-US" sz="1300">
                <a:solidFill>
                  <a:srgbClr val="CBD9E9"/>
                </a:solidFill>
                <a:latin typeface="Calibri" pitchFamily="34" charset="0"/>
                <a:ea typeface="Calibri" pitchFamily="34" charset="-122"/>
                <a:cs typeface="Calibri" pitchFamily="34" charset="-120"/>
              </a:rPr>
              <a:t>Roughly </a:t>
            </a:r>
            <a:r>
              <a:rPr lang="en-US" sz="1300" b="1" dirty="0">
                <a:solidFill>
                  <a:srgbClr val="FFFFFF"/>
                </a:solidFill>
                <a:latin typeface="Calibri" pitchFamily="34" charset="0"/>
                <a:ea typeface="Calibri" pitchFamily="34" charset="-122"/>
                <a:cs typeface="Calibri" pitchFamily="34" charset="-120"/>
              </a:rPr>
              <a:t>77 cents on every approved dollar</a:t>
            </a:r>
            <a:r>
              <a:rPr lang="en-US" sz="1300">
                <a:solidFill>
                  <a:srgbClr val="CBD9E9"/>
                </a:solidFill>
                <a:latin typeface="Calibri" pitchFamily="34" charset="0"/>
                <a:ea typeface="Calibri" pitchFamily="34" charset="-122"/>
                <a:cs typeface="Calibri" pitchFamily="34" charset="-120"/>
              </a:rPr>
              <a:t> is paid, and that ratio barely moves year to year.</a:t>
            </a:r>
            <a:endParaRPr lang="en-US" sz="1300" dirty="0"/>
          </a:p>
          <a:p>
            <a:pPr marL="0" indent="0">
              <a:lnSpc>
                <a:spcPct val="105000"/>
              </a:lnSpc>
              <a:buNone/>
            </a:pPr>
            <a:r>
              <a:rPr lang="en-US" sz="1300">
                <a:solidFill>
                  <a:srgbClr val="CBD9E9"/>
                </a:solidFill>
                <a:latin typeface="Calibri" pitchFamily="34" charset="0"/>
                <a:ea typeface="Calibri" pitchFamily="34" charset="-122"/>
                <a:cs typeface="Calibri" pitchFamily="34" charset="-120"/>
              </a:rPr>
              <a:t> </a:t>
            </a:r>
            <a:endParaRPr lang="en-US" sz="1300" dirty="0"/>
          </a:p>
          <a:p>
            <a:pPr marL="0" indent="0">
              <a:lnSpc>
                <a:spcPct val="105000"/>
              </a:lnSpc>
              <a:buNone/>
            </a:pPr>
            <a:r>
              <a:rPr lang="en-US" sz="1300">
                <a:solidFill>
                  <a:srgbClr val="CBD9E9"/>
                </a:solidFill>
                <a:latin typeface="Calibri" pitchFamily="34" charset="0"/>
                <a:ea typeface="Calibri" pitchFamily="34" charset="-122"/>
                <a:cs typeface="Calibri" pitchFamily="34" charset="-120"/>
              </a:rPr>
              <a:t>The slight dip to 76.8% in 2024 signals a modest shift in service mix toward lower-reimbursed categories, not a policy break.</a:t>
            </a:r>
            <a:endParaRPr lang="en-US" sz="1300" dirty="0"/>
          </a:p>
        </p:txBody>
      </p:sp>
      <p:sp>
        <p:nvSpPr>
          <p:cNvPr id="17" name="Text 14"/>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a:solidFill>
                  <a:srgbClr val="7C7E96"/>
                </a:solidFill>
                <a:latin typeface="Trebuchet MS" pitchFamily="34" charset="0"/>
                <a:ea typeface="Trebuchet MS" pitchFamily="34" charset="-122"/>
                <a:cs typeface="Trebuchet MS" pitchFamily="34" charset="-120"/>
              </a:rPr>
              <a:t>CMS MEDICARE PART B  ·  CY 2022–2024</a:t>
            </a:r>
            <a:endParaRPr lang="en-US" sz="900" dirty="0"/>
          </a:p>
        </p:txBody>
      </p:sp>
      <p:sp>
        <p:nvSpPr>
          <p:cNvPr id="18" name="Text 15"/>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a:solidFill>
                  <a:srgbClr val="4E79A7"/>
                </a:solidFill>
                <a:latin typeface="Consolas" pitchFamily="34" charset="0"/>
                <a:ea typeface="Consolas" pitchFamily="34" charset="-122"/>
                <a:cs typeface="Consolas"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40080" y="406908"/>
            <a:ext cx="201168" cy="128016"/>
          </a:xfrm>
          <a:prstGeom prst="rect">
            <a:avLst/>
          </a:prstGeom>
          <a:solidFill>
            <a:srgbClr val="6BA5D7"/>
          </a:solidFill>
          <a:ln/>
        </p:spPr>
        <p:txBody>
          <a:bodyPr/>
          <a:lstStyle/>
          <a:p>
            <a:endParaRPr lang="en-US"/>
          </a:p>
        </p:txBody>
      </p:sp>
      <p:sp>
        <p:nvSpPr>
          <p:cNvPr id="3" name="Text 1"/>
          <p:cNvSpPr/>
          <p:nvPr/>
        </p:nvSpPr>
        <p:spPr>
          <a:xfrm>
            <a:off x="932688" y="310896"/>
            <a:ext cx="8229600" cy="310896"/>
          </a:xfrm>
          <a:prstGeom prst="rect">
            <a:avLst/>
          </a:prstGeom>
          <a:noFill/>
          <a:ln/>
        </p:spPr>
        <p:txBody>
          <a:bodyPr wrap="square" lIns="0" tIns="0" rIns="0" bIns="0" rtlCol="0" anchor="ctr"/>
          <a:lstStyle/>
          <a:p>
            <a:pPr marL="0" indent="0" algn="l">
              <a:buNone/>
            </a:pPr>
            <a:r>
              <a:rPr lang="en-US" sz="1250" b="1" kern="0" spc="300">
                <a:solidFill>
                  <a:srgbClr val="4E79A7"/>
                </a:solidFill>
                <a:latin typeface="Trebuchet MS" pitchFamily="34" charset="0"/>
                <a:ea typeface="Trebuchet MS" pitchFamily="34" charset="-122"/>
                <a:cs typeface="Trebuchet MS" pitchFamily="34" charset="-120"/>
              </a:rPr>
              <a:t>DESCRIPTIVE · VOLUME VS. UNIT COST</a:t>
            </a:r>
            <a:endParaRPr lang="en-US" sz="1250" dirty="0"/>
          </a:p>
        </p:txBody>
      </p:sp>
      <p:sp>
        <p:nvSpPr>
          <p:cNvPr id="4" name="Text 0"/>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2600" b="1">
                <a:solidFill>
                  <a:srgbClr val="2B2A45"/>
                </a:solidFill>
                <a:latin typeface="Trebuchet MS" pitchFamily="34" charset="0"/>
                <a:ea typeface="Trebuchet MS" pitchFamily="34" charset="-122"/>
                <a:cs typeface="Trebuchet MS" pitchFamily="34" charset="-120"/>
              </a:rPr>
              <a:t>Volume Peaked in 2023; Unit Cost Rebounded</a:t>
            </a:r>
            <a:endParaRPr lang="en-US" sz="2600" dirty="0"/>
          </a:p>
        </p:txBody>
      </p:sp>
      <p:sp>
        <p:nvSpPr>
          <p:cNvPr id="5" name="chart card">
            <a:extLst>
              <a:ext uri="{C183D7F6-B498-43B3-948B-1728B52AA6E4}">
                <adec:decorative xmlns:adec="http://schemas.microsoft.com/office/drawing/2017/decorative" val="1"/>
              </a:ext>
            </a:extLst>
          </p:cNvPr>
          <p:cNvSpPr/>
          <p:nvPr/>
        </p:nvSpPr>
        <p:spPr>
          <a:xfrm>
            <a:off x="640080" y="1554480"/>
            <a:ext cx="7086600" cy="4572000"/>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6" name="Text 4">
            <a:extLst>
              <a:ext uri="{C183D7F6-B498-43B3-948B-1728B52AA6E4}">
                <adec:decorative xmlns:adec="http://schemas.microsoft.com/office/drawing/2017/decorative" val="1"/>
              </a:ext>
            </a:extLst>
          </p:cNvPr>
          <p:cNvSpPr/>
          <p:nvPr/>
        </p:nvSpPr>
        <p:spPr>
          <a:xfrm>
            <a:off x="914400" y="1737360"/>
            <a:ext cx="3291840" cy="365760"/>
          </a:xfrm>
          <a:prstGeom prst="rect">
            <a:avLst/>
          </a:prstGeom>
          <a:noFill/>
          <a:ln/>
        </p:spPr>
        <p:txBody>
          <a:bodyPr wrap="square" lIns="0" tIns="0" rIns="0" bIns="0" rtlCol="0" anchor="ctr"/>
          <a:lstStyle/>
          <a:p>
            <a:pPr marL="0" indent="0">
              <a:buNone/>
            </a:pPr>
            <a:r>
              <a:rPr lang="en-US" sz="1300" b="1">
                <a:solidFill>
                  <a:srgbClr val="2B2A45"/>
                </a:solidFill>
                <a:latin typeface="Trebuchet MS" pitchFamily="34" charset="0"/>
                <a:ea typeface="Trebuchet MS" pitchFamily="34" charset="-122"/>
                <a:cs typeface="Trebuchet MS" pitchFamily="34" charset="-120"/>
              </a:rPr>
              <a:t>Allowed Services (Billions)</a:t>
            </a:r>
            <a:endParaRPr lang="en-US" sz="1300" dirty="0"/>
          </a:p>
        </p:txBody>
      </p:sp>
      <p:graphicFrame>
        <p:nvGraphicFramePr>
          <p:cNvPr id="7" name="Allowed services by year" descr="Column chart of allowed services: 5.48B 2022, 6.14B 2023, 5.96B 2024"/>
          <p:cNvGraphicFramePr/>
          <p:nvPr>
            <p:extLst>
              <p:ext uri="{D42A27DB-BD31-4B8C-83A1-F6EECF244321}">
                <p14:modId xmlns:p14="http://schemas.microsoft.com/office/powerpoint/2010/main" val="1173002064"/>
              </p:ext>
            </p:extLst>
          </p:nvPr>
        </p:nvGraphicFramePr>
        <p:xfrm>
          <a:off x="868680" y="2148840"/>
          <a:ext cx="3291840" cy="374904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a:extLst>
              <a:ext uri="{C183D7F6-B498-43B3-948B-1728B52AA6E4}">
                <adec:decorative xmlns:adec="http://schemas.microsoft.com/office/drawing/2017/decorative" val="1"/>
              </a:ext>
            </a:extLst>
          </p:cNvPr>
          <p:cNvSpPr/>
          <p:nvPr/>
        </p:nvSpPr>
        <p:spPr>
          <a:xfrm>
            <a:off x="4343400" y="1737360"/>
            <a:ext cx="3291840" cy="365760"/>
          </a:xfrm>
          <a:prstGeom prst="rect">
            <a:avLst/>
          </a:prstGeom>
          <a:noFill/>
          <a:ln/>
        </p:spPr>
        <p:txBody>
          <a:bodyPr wrap="square" lIns="0" tIns="0" rIns="0" bIns="0" rtlCol="0" anchor="ctr"/>
          <a:lstStyle/>
          <a:p>
            <a:pPr marL="0" indent="0">
              <a:buNone/>
            </a:pPr>
            <a:r>
              <a:rPr lang="en-US" sz="1300" b="1">
                <a:solidFill>
                  <a:srgbClr val="2B2A45"/>
                </a:solidFill>
                <a:latin typeface="Trebuchet MS" pitchFamily="34" charset="0"/>
                <a:ea typeface="Trebuchet MS" pitchFamily="34" charset="-122"/>
                <a:cs typeface="Trebuchet MS" pitchFamily="34" charset="-120"/>
              </a:rPr>
              <a:t>Payment per Service ($)</a:t>
            </a:r>
            <a:endParaRPr lang="en-US" sz="1300" dirty="0"/>
          </a:p>
        </p:txBody>
      </p:sp>
      <p:graphicFrame>
        <p:nvGraphicFramePr>
          <p:cNvPr id="9" name="Payment per service by year" descr="Line chart of payment per service: $21.15 2022, $20.47 2023, $22.08 2024"/>
          <p:cNvGraphicFramePr/>
          <p:nvPr>
            <p:extLst>
              <p:ext uri="{D42A27DB-BD31-4B8C-83A1-F6EECF244321}">
                <p14:modId xmlns:p14="http://schemas.microsoft.com/office/powerpoint/2010/main" val="583535845"/>
              </p:ext>
            </p:extLst>
          </p:nvPr>
        </p:nvGraphicFramePr>
        <p:xfrm>
          <a:off x="4297680" y="2148840"/>
          <a:ext cx="3337560" cy="3749040"/>
        </p:xfrm>
        <a:graphic>
          <a:graphicData uri="http://schemas.openxmlformats.org/drawingml/2006/chart">
            <c:chart xmlns:c="http://schemas.openxmlformats.org/drawingml/2006/chart" xmlns:r="http://schemas.openxmlformats.org/officeDocument/2006/relationships" r:id="rId4"/>
          </a:graphicData>
        </a:graphic>
      </p:graphicFrame>
      <p:sp>
        <p:nvSpPr>
          <p:cNvPr id="10" name="kpi card">
            <a:extLst>
              <a:ext uri="{C183D7F6-B498-43B3-948B-1728B52AA6E4}">
                <adec:decorative xmlns:adec="http://schemas.microsoft.com/office/drawing/2017/decorative" val="1"/>
              </a:ext>
            </a:extLst>
          </p:cNvPr>
          <p:cNvSpPr/>
          <p:nvPr/>
        </p:nvSpPr>
        <p:spPr>
          <a:xfrm>
            <a:off x="8001000" y="1554480"/>
            <a:ext cx="3520440" cy="1417320"/>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11" name="kpi accent">
            <a:extLst>
              <a:ext uri="{C183D7F6-B498-43B3-948B-1728B52AA6E4}">
                <adec:decorative xmlns:adec="http://schemas.microsoft.com/office/drawing/2017/decorative" val="1"/>
              </a:ext>
            </a:extLst>
          </p:cNvPr>
          <p:cNvSpPr/>
          <p:nvPr/>
        </p:nvSpPr>
        <p:spPr>
          <a:xfrm>
            <a:off x="8001000" y="1554480"/>
            <a:ext cx="82296" cy="1417320"/>
          </a:xfrm>
          <a:prstGeom prst="rect">
            <a:avLst/>
          </a:prstGeom>
          <a:solidFill>
            <a:srgbClr val="6BA5D7"/>
          </a:solidFill>
          <a:ln/>
        </p:spPr>
        <p:txBody>
          <a:bodyPr/>
          <a:lstStyle/>
          <a:p>
            <a:endParaRPr lang="en-US"/>
          </a:p>
        </p:txBody>
      </p:sp>
      <p:sp>
        <p:nvSpPr>
          <p:cNvPr id="12" name="Text 8"/>
          <p:cNvSpPr/>
          <p:nvPr/>
        </p:nvSpPr>
        <p:spPr>
          <a:xfrm>
            <a:off x="8220456" y="1700784"/>
            <a:ext cx="3154680" cy="708660"/>
          </a:xfrm>
          <a:prstGeom prst="rect">
            <a:avLst/>
          </a:prstGeom>
          <a:noFill/>
          <a:ln/>
        </p:spPr>
        <p:txBody>
          <a:bodyPr wrap="square" lIns="0" tIns="0" rIns="0" bIns="0" rtlCol="0" anchor="ctr"/>
          <a:lstStyle/>
          <a:p>
            <a:pPr marL="0" indent="0" algn="l">
              <a:buNone/>
            </a:pPr>
            <a:r>
              <a:rPr lang="en-US" sz="3000" b="1">
                <a:solidFill>
                  <a:srgbClr val="4E79A7"/>
                </a:solidFill>
                <a:latin typeface="Consolas" pitchFamily="34" charset="0"/>
                <a:ea typeface="Consolas" pitchFamily="34" charset="-122"/>
                <a:cs typeface="Consolas" pitchFamily="34" charset="-120"/>
              </a:rPr>
              <a:t>6.14B</a:t>
            </a:r>
            <a:endParaRPr lang="en-US" sz="3000" dirty="0"/>
          </a:p>
        </p:txBody>
      </p:sp>
      <p:sp>
        <p:nvSpPr>
          <p:cNvPr id="13" name="Text 9">
            <a:extLst>
              <a:ext uri="{C183D7F6-B498-43B3-948B-1728B52AA6E4}">
                <adec:decorative xmlns:adec="http://schemas.microsoft.com/office/drawing/2017/decorative" val="1"/>
              </a:ext>
            </a:extLst>
          </p:cNvPr>
          <p:cNvSpPr/>
          <p:nvPr/>
        </p:nvSpPr>
        <p:spPr>
          <a:xfrm>
            <a:off x="8238744" y="2404872"/>
            <a:ext cx="3108960" cy="292608"/>
          </a:xfrm>
          <a:prstGeom prst="rect">
            <a:avLst/>
          </a:prstGeom>
          <a:noFill/>
          <a:ln/>
        </p:spPr>
        <p:txBody>
          <a:bodyPr wrap="square" lIns="0" tIns="0" rIns="0" bIns="0" rtlCol="0" anchor="ctr"/>
          <a:lstStyle/>
          <a:p>
            <a:pPr marL="0" indent="0" algn="l">
              <a:buNone/>
            </a:pPr>
            <a:r>
              <a:rPr lang="en-US" sz="1100" b="1" kern="0" spc="150">
                <a:solidFill>
                  <a:srgbClr val="2B2A45"/>
                </a:solidFill>
                <a:latin typeface="Trebuchet MS" pitchFamily="34" charset="0"/>
                <a:ea typeface="Trebuchet MS" pitchFamily="34" charset="-122"/>
                <a:cs typeface="Trebuchet MS" pitchFamily="34" charset="-120"/>
              </a:rPr>
              <a:t>PEAK SERVICES (2023)</a:t>
            </a:r>
            <a:endParaRPr lang="en-US" sz="1100" dirty="0"/>
          </a:p>
        </p:txBody>
      </p:sp>
      <p:sp>
        <p:nvSpPr>
          <p:cNvPr id="14" name="Text 10"/>
          <p:cNvSpPr/>
          <p:nvPr/>
        </p:nvSpPr>
        <p:spPr>
          <a:xfrm>
            <a:off x="8238744" y="2679192"/>
            <a:ext cx="3108960" cy="274320"/>
          </a:xfrm>
          <a:prstGeom prst="rect">
            <a:avLst/>
          </a:prstGeom>
          <a:noFill/>
          <a:ln/>
        </p:spPr>
        <p:txBody>
          <a:bodyPr wrap="square" lIns="0" tIns="0" rIns="0" bIns="0" rtlCol="0" anchor="ctr"/>
          <a:lstStyle/>
          <a:p>
            <a:pPr marL="0" indent="0" algn="l">
              <a:buNone/>
            </a:pPr>
            <a:r>
              <a:rPr lang="en-US" sz="1050">
                <a:solidFill>
                  <a:srgbClr val="7C7E96"/>
                </a:solidFill>
                <a:latin typeface="Calibri" pitchFamily="34" charset="0"/>
                <a:ea typeface="Calibri" pitchFamily="34" charset="-122"/>
                <a:cs typeface="Calibri" pitchFamily="34" charset="-120"/>
              </a:rPr>
              <a:t>eased to 5.96B in 2024</a:t>
            </a:r>
            <a:endParaRPr lang="en-US" sz="1050" dirty="0"/>
          </a:p>
        </p:txBody>
      </p:sp>
      <p:sp>
        <p:nvSpPr>
          <p:cNvPr id="15" name="insight card">
            <a:extLst>
              <a:ext uri="{C183D7F6-B498-43B3-948B-1728B52AA6E4}">
                <adec:decorative xmlns:adec="http://schemas.microsoft.com/office/drawing/2017/decorative" val="1"/>
              </a:ext>
            </a:extLst>
          </p:cNvPr>
          <p:cNvSpPr/>
          <p:nvPr/>
        </p:nvSpPr>
        <p:spPr>
          <a:xfrm>
            <a:off x="8001000" y="3127248"/>
            <a:ext cx="3520440" cy="2999232"/>
          </a:xfrm>
          <a:prstGeom prst="rect">
            <a:avLst/>
          </a:prstGeom>
          <a:solidFill>
            <a:srgbClr val="43426A"/>
          </a:solidFill>
          <a:ln/>
        </p:spPr>
        <p:txBody>
          <a:bodyPr/>
          <a:lstStyle/>
          <a:p>
            <a:endParaRPr lang="en-US"/>
          </a:p>
        </p:txBody>
      </p:sp>
      <p:sp>
        <p:nvSpPr>
          <p:cNvPr id="16" name="Text 12"/>
          <p:cNvSpPr/>
          <p:nvPr/>
        </p:nvSpPr>
        <p:spPr>
          <a:xfrm>
            <a:off x="8257032" y="3310128"/>
            <a:ext cx="3017520" cy="365760"/>
          </a:xfrm>
          <a:prstGeom prst="rect">
            <a:avLst/>
          </a:prstGeom>
          <a:noFill/>
          <a:ln/>
        </p:spPr>
        <p:txBody>
          <a:bodyPr wrap="square" lIns="0" tIns="0" rIns="0" bIns="0" rtlCol="0" anchor="ctr"/>
          <a:lstStyle/>
          <a:p>
            <a:pPr marL="0" indent="0">
              <a:buNone/>
            </a:pPr>
            <a:r>
              <a:rPr lang="en-US" sz="1300" b="1">
                <a:solidFill>
                  <a:srgbClr val="6BA5D7"/>
                </a:solidFill>
                <a:latin typeface="Trebuchet MS" pitchFamily="34" charset="0"/>
                <a:ea typeface="Trebuchet MS" pitchFamily="34" charset="-122"/>
                <a:cs typeface="Trebuchet MS" pitchFamily="34" charset="-120"/>
              </a:rPr>
              <a:t>Reading the split</a:t>
            </a:r>
            <a:endParaRPr lang="en-US" sz="1300" dirty="0"/>
          </a:p>
        </p:txBody>
      </p:sp>
      <p:sp>
        <p:nvSpPr>
          <p:cNvPr id="17" name="Text 13"/>
          <p:cNvSpPr/>
          <p:nvPr/>
        </p:nvSpPr>
        <p:spPr>
          <a:xfrm>
            <a:off x="8257032" y="3703320"/>
            <a:ext cx="3017520" cy="2286000"/>
          </a:xfrm>
          <a:prstGeom prst="rect">
            <a:avLst/>
          </a:prstGeom>
          <a:noFill/>
          <a:ln/>
        </p:spPr>
        <p:txBody>
          <a:bodyPr wrap="square" lIns="0" tIns="0" rIns="0" bIns="0" rtlCol="0" anchor="t"/>
          <a:lstStyle/>
          <a:p>
            <a:pPr marL="0" indent="0">
              <a:lnSpc>
                <a:spcPct val="105000"/>
              </a:lnSpc>
              <a:buNone/>
            </a:pPr>
            <a:r>
              <a:rPr lang="en-US" sz="1300">
                <a:solidFill>
                  <a:srgbClr val="CBD9E9"/>
                </a:solidFill>
                <a:latin typeface="Calibri" pitchFamily="34" charset="0"/>
                <a:ea typeface="Calibri" pitchFamily="34" charset="-122"/>
                <a:cs typeface="Calibri" pitchFamily="34" charset="-120"/>
              </a:rPr>
              <a:t>Service volume </a:t>
            </a:r>
            <a:r>
              <a:rPr lang="en-US" sz="1300" b="1" dirty="0">
                <a:solidFill>
                  <a:srgbClr val="FFFFFF"/>
                </a:solidFill>
                <a:latin typeface="Calibri" pitchFamily="34" charset="0"/>
                <a:ea typeface="Calibri" pitchFamily="34" charset="-122"/>
                <a:cs typeface="Calibri" pitchFamily="34" charset="-120"/>
              </a:rPr>
              <a:t>peaked in 2023</a:t>
            </a:r>
            <a:r>
              <a:rPr lang="en-US" sz="1300">
                <a:solidFill>
                  <a:srgbClr val="CBD9E9"/>
                </a:solidFill>
                <a:latin typeface="Calibri" pitchFamily="34" charset="0"/>
                <a:ea typeface="Calibri" pitchFamily="34" charset="-122"/>
                <a:cs typeface="Calibri" pitchFamily="34" charset="-120"/>
              </a:rPr>
              <a:t> then eased, while payment per service </a:t>
            </a:r>
            <a:r>
              <a:rPr lang="en-US" sz="1300" b="1" dirty="0">
                <a:solidFill>
                  <a:srgbClr val="FFFFFF"/>
                </a:solidFill>
                <a:latin typeface="Calibri" pitchFamily="34" charset="0"/>
                <a:ea typeface="Calibri" pitchFamily="34" charset="-122"/>
                <a:cs typeface="Calibri" pitchFamily="34" charset="-120"/>
              </a:rPr>
              <a:t>dipped then rebounded to $22.08</a:t>
            </a:r>
            <a:r>
              <a:rPr lang="en-US" sz="1300">
                <a:solidFill>
                  <a:srgbClr val="CBD9E9"/>
                </a:solidFill>
                <a:latin typeface="Calibri" pitchFamily="34" charset="0"/>
                <a:ea typeface="Calibri" pitchFamily="34" charset="-122"/>
                <a:cs typeface="Calibri" pitchFamily="34" charset="-120"/>
              </a:rPr>
              <a:t>.</a:t>
            </a:r>
            <a:endParaRPr lang="en-US" sz="1300" dirty="0"/>
          </a:p>
          <a:p>
            <a:pPr marL="0" indent="0">
              <a:lnSpc>
                <a:spcPct val="105000"/>
              </a:lnSpc>
              <a:buNone/>
            </a:pPr>
            <a:r>
              <a:rPr lang="en-US" sz="1300">
                <a:solidFill>
                  <a:srgbClr val="CBD9E9"/>
                </a:solidFill>
                <a:latin typeface="Calibri" pitchFamily="34" charset="0"/>
                <a:ea typeface="Calibri" pitchFamily="34" charset="-122"/>
                <a:cs typeface="Calibri" pitchFamily="34" charset="-120"/>
              </a:rPr>
              <a:t> </a:t>
            </a:r>
            <a:endParaRPr lang="en-US" sz="1300" dirty="0"/>
          </a:p>
          <a:p>
            <a:pPr marL="0" indent="0">
              <a:lnSpc>
                <a:spcPct val="105000"/>
              </a:lnSpc>
              <a:buNone/>
            </a:pPr>
            <a:r>
              <a:rPr lang="en-US" sz="1300">
                <a:solidFill>
                  <a:srgbClr val="CBD9E9"/>
                </a:solidFill>
                <a:latin typeface="Calibri" pitchFamily="34" charset="0"/>
                <a:ea typeface="Calibri" pitchFamily="34" charset="-122"/>
                <a:cs typeface="Calibri" pitchFamily="34" charset="-120"/>
              </a:rPr>
              <a:t>2024's spending growth was driven more by higher unit cost than by more services.</a:t>
            </a:r>
            <a:endParaRPr lang="en-US" sz="1300" dirty="0"/>
          </a:p>
        </p:txBody>
      </p:sp>
      <p:sp>
        <p:nvSpPr>
          <p:cNvPr id="18" name="Text 14"/>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a:solidFill>
                  <a:srgbClr val="7C7E96"/>
                </a:solidFill>
                <a:latin typeface="Trebuchet MS" pitchFamily="34" charset="0"/>
                <a:ea typeface="Trebuchet MS" pitchFamily="34" charset="-122"/>
                <a:cs typeface="Trebuchet MS" pitchFamily="34" charset="-120"/>
              </a:rPr>
              <a:t>CMS MEDICARE PART B  ·  CY 2022–2024</a:t>
            </a:r>
            <a:endParaRPr lang="en-US" sz="900" dirty="0"/>
          </a:p>
        </p:txBody>
      </p:sp>
      <p:sp>
        <p:nvSpPr>
          <p:cNvPr id="19" name="Text 15"/>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a:solidFill>
                  <a:srgbClr val="4E79A7"/>
                </a:solidFill>
                <a:latin typeface="Consolas" pitchFamily="34" charset="0"/>
                <a:ea typeface="Consolas" pitchFamily="34" charset="-122"/>
                <a:cs typeface="Consolas"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40080" y="406908"/>
            <a:ext cx="201168" cy="128016"/>
          </a:xfrm>
          <a:prstGeom prst="rect">
            <a:avLst/>
          </a:prstGeom>
          <a:solidFill>
            <a:srgbClr val="6BA5D7"/>
          </a:solidFill>
          <a:ln/>
        </p:spPr>
        <p:txBody>
          <a:bodyPr/>
          <a:lstStyle/>
          <a:p>
            <a:endParaRPr lang="en-US"/>
          </a:p>
        </p:txBody>
      </p:sp>
      <p:sp>
        <p:nvSpPr>
          <p:cNvPr id="3" name="Text 1"/>
          <p:cNvSpPr/>
          <p:nvPr/>
        </p:nvSpPr>
        <p:spPr>
          <a:xfrm>
            <a:off x="932688" y="310896"/>
            <a:ext cx="8229600" cy="310896"/>
          </a:xfrm>
          <a:prstGeom prst="rect">
            <a:avLst/>
          </a:prstGeom>
          <a:noFill/>
          <a:ln/>
        </p:spPr>
        <p:txBody>
          <a:bodyPr wrap="square" lIns="0" tIns="0" rIns="0" bIns="0" rtlCol="0" anchor="ctr"/>
          <a:lstStyle/>
          <a:p>
            <a:pPr marL="0" indent="0" algn="l">
              <a:buNone/>
            </a:pPr>
            <a:r>
              <a:rPr lang="en-US" sz="1250" b="1" kern="0" spc="300">
                <a:solidFill>
                  <a:srgbClr val="4E79A7"/>
                </a:solidFill>
                <a:latin typeface="Trebuchet MS" pitchFamily="34" charset="0"/>
                <a:ea typeface="Trebuchet MS" pitchFamily="34" charset="-122"/>
                <a:cs typeface="Trebuchet MS" pitchFamily="34" charset="-120"/>
              </a:rPr>
              <a:t>DESCRIPTIVE · RANKING</a:t>
            </a:r>
            <a:endParaRPr lang="en-US" sz="1250" dirty="0"/>
          </a:p>
        </p:txBody>
      </p:sp>
      <p:sp>
        <p:nvSpPr>
          <p:cNvPr id="4" name="Text 0"/>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2700" b="1">
                <a:solidFill>
                  <a:srgbClr val="2B2A45"/>
                </a:solidFill>
                <a:latin typeface="Trebuchet MS" pitchFamily="34" charset="0"/>
                <a:ea typeface="Trebuchet MS" pitchFamily="34" charset="-122"/>
                <a:cs typeface="Trebuchet MS" pitchFamily="34" charset="-120"/>
              </a:rPr>
              <a:t>Top 10 Specialties by Medicare Payment</a:t>
            </a:r>
            <a:endParaRPr lang="en-US" sz="2700" dirty="0"/>
          </a:p>
        </p:txBody>
      </p:sp>
      <p:sp>
        <p:nvSpPr>
          <p:cNvPr id="5" name="Text 3">
            <a:extLst>
              <a:ext uri="{C183D7F6-B498-43B3-948B-1728B52AA6E4}">
                <adec:decorative xmlns:adec="http://schemas.microsoft.com/office/drawing/2017/decorative" val="1"/>
              </a:ext>
            </a:extLst>
          </p:cNvPr>
          <p:cNvSpPr/>
          <p:nvPr/>
        </p:nvSpPr>
        <p:spPr>
          <a:xfrm>
            <a:off x="640080" y="1325880"/>
            <a:ext cx="10972800" cy="329184"/>
          </a:xfrm>
          <a:prstGeom prst="rect">
            <a:avLst/>
          </a:prstGeom>
          <a:noFill/>
          <a:ln/>
        </p:spPr>
        <p:txBody>
          <a:bodyPr wrap="square" lIns="0" tIns="0" rIns="0" bIns="0" rtlCol="0" anchor="ctr"/>
          <a:lstStyle/>
          <a:p>
            <a:pPr marL="0" indent="0">
              <a:buNone/>
            </a:pPr>
            <a:r>
              <a:rPr lang="en-US" sz="1300" i="1">
                <a:solidFill>
                  <a:srgbClr val="7C7E96"/>
                </a:solidFill>
                <a:latin typeface="Calibri" pitchFamily="34" charset="0"/>
                <a:ea typeface="Calibri" pitchFamily="34" charset="-122"/>
                <a:cs typeface="Calibri" pitchFamily="34" charset="-120"/>
              </a:rPr>
              <a:t>CY 2022 baseline — the most recent year with complete specialty-level detail in this extract.</a:t>
            </a:r>
            <a:endParaRPr lang="en-US" sz="1300" dirty="0"/>
          </a:p>
        </p:txBody>
      </p:sp>
      <p:sp>
        <p:nvSpPr>
          <p:cNvPr id="6" name="chart card">
            <a:extLst>
              <a:ext uri="{C183D7F6-B498-43B3-948B-1728B52AA6E4}">
                <adec:decorative xmlns:adec="http://schemas.microsoft.com/office/drawing/2017/decorative" val="1"/>
              </a:ext>
            </a:extLst>
          </p:cNvPr>
          <p:cNvSpPr/>
          <p:nvPr/>
        </p:nvSpPr>
        <p:spPr>
          <a:xfrm>
            <a:off x="640080" y="1737360"/>
            <a:ext cx="7498080" cy="4434840"/>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graphicFrame>
        <p:nvGraphicFramePr>
          <p:cNvPr id="7" name="Top 10 specialties by payment" descr="Horizontal bar chart of top 10 specialties by 2022 Medicare payment, led by Internal Medicine at $7.29B and Ophthalmology at $7.25B"/>
          <p:cNvGraphicFramePr/>
          <p:nvPr>
            <p:extLst>
              <p:ext uri="{D42A27DB-BD31-4B8C-83A1-F6EECF244321}">
                <p14:modId xmlns:p14="http://schemas.microsoft.com/office/powerpoint/2010/main" val="3757626563"/>
              </p:ext>
            </p:extLst>
          </p:nvPr>
        </p:nvGraphicFramePr>
        <p:xfrm>
          <a:off x="822960" y="1874520"/>
          <a:ext cx="717804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8" name="kpi card">
            <a:extLst>
              <a:ext uri="{C183D7F6-B498-43B3-948B-1728B52AA6E4}">
                <adec:decorative xmlns:adec="http://schemas.microsoft.com/office/drawing/2017/decorative" val="1"/>
              </a:ext>
            </a:extLst>
          </p:cNvPr>
          <p:cNvSpPr/>
          <p:nvPr/>
        </p:nvSpPr>
        <p:spPr>
          <a:xfrm>
            <a:off x="8275320" y="1737360"/>
            <a:ext cx="3246120" cy="1371600"/>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9" name="kpi accent">
            <a:extLst>
              <a:ext uri="{C183D7F6-B498-43B3-948B-1728B52AA6E4}">
                <adec:decorative xmlns:adec="http://schemas.microsoft.com/office/drawing/2017/decorative" val="1"/>
              </a:ext>
            </a:extLst>
          </p:cNvPr>
          <p:cNvSpPr/>
          <p:nvPr/>
        </p:nvSpPr>
        <p:spPr>
          <a:xfrm>
            <a:off x="8275320" y="1737360"/>
            <a:ext cx="82296" cy="1371600"/>
          </a:xfrm>
          <a:prstGeom prst="rect">
            <a:avLst/>
          </a:prstGeom>
          <a:solidFill>
            <a:srgbClr val="6BA5D7"/>
          </a:solidFill>
          <a:ln/>
        </p:spPr>
        <p:txBody>
          <a:bodyPr/>
          <a:lstStyle/>
          <a:p>
            <a:endParaRPr lang="en-US"/>
          </a:p>
        </p:txBody>
      </p:sp>
      <p:sp>
        <p:nvSpPr>
          <p:cNvPr id="10" name="Text 7"/>
          <p:cNvSpPr/>
          <p:nvPr/>
        </p:nvSpPr>
        <p:spPr>
          <a:xfrm>
            <a:off x="8494776" y="1883664"/>
            <a:ext cx="2880360" cy="685800"/>
          </a:xfrm>
          <a:prstGeom prst="rect">
            <a:avLst/>
          </a:prstGeom>
          <a:noFill/>
          <a:ln/>
        </p:spPr>
        <p:txBody>
          <a:bodyPr wrap="square" lIns="0" tIns="0" rIns="0" bIns="0" rtlCol="0" anchor="ctr"/>
          <a:lstStyle/>
          <a:p>
            <a:pPr marL="0" indent="0" algn="l">
              <a:buNone/>
            </a:pPr>
            <a:r>
              <a:rPr lang="en-US" sz="3000" b="1">
                <a:solidFill>
                  <a:srgbClr val="4E79A7"/>
                </a:solidFill>
                <a:latin typeface="Consolas" pitchFamily="34" charset="0"/>
                <a:ea typeface="Consolas" pitchFamily="34" charset="-122"/>
                <a:cs typeface="Consolas" pitchFamily="34" charset="-120"/>
              </a:rPr>
              <a:t>$7.29B</a:t>
            </a:r>
            <a:endParaRPr lang="en-US" sz="3000" dirty="0"/>
          </a:p>
        </p:txBody>
      </p:sp>
      <p:sp>
        <p:nvSpPr>
          <p:cNvPr id="11" name="Text 8">
            <a:extLst>
              <a:ext uri="{C183D7F6-B498-43B3-948B-1728B52AA6E4}">
                <adec:decorative xmlns:adec="http://schemas.microsoft.com/office/drawing/2017/decorative" val="1"/>
              </a:ext>
            </a:extLst>
          </p:cNvPr>
          <p:cNvSpPr/>
          <p:nvPr/>
        </p:nvSpPr>
        <p:spPr>
          <a:xfrm>
            <a:off x="8513064" y="2560320"/>
            <a:ext cx="2834640" cy="292608"/>
          </a:xfrm>
          <a:prstGeom prst="rect">
            <a:avLst/>
          </a:prstGeom>
          <a:noFill/>
          <a:ln/>
        </p:spPr>
        <p:txBody>
          <a:bodyPr wrap="square" lIns="0" tIns="0" rIns="0" bIns="0" rtlCol="0" anchor="ctr"/>
          <a:lstStyle/>
          <a:p>
            <a:pPr marL="0" indent="0" algn="l">
              <a:buNone/>
            </a:pPr>
            <a:r>
              <a:rPr lang="en-US" sz="1100" b="1" kern="0" spc="150">
                <a:solidFill>
                  <a:srgbClr val="2B2A45"/>
                </a:solidFill>
                <a:latin typeface="Trebuchet MS" pitchFamily="34" charset="0"/>
                <a:ea typeface="Trebuchet MS" pitchFamily="34" charset="-122"/>
                <a:cs typeface="Trebuchet MS" pitchFamily="34" charset="-120"/>
              </a:rPr>
              <a:t>TOP SPECIALTY</a:t>
            </a:r>
            <a:endParaRPr lang="en-US" sz="1100" dirty="0"/>
          </a:p>
        </p:txBody>
      </p:sp>
      <p:sp>
        <p:nvSpPr>
          <p:cNvPr id="12" name="Text 9"/>
          <p:cNvSpPr/>
          <p:nvPr/>
        </p:nvSpPr>
        <p:spPr>
          <a:xfrm>
            <a:off x="8513064" y="2834640"/>
            <a:ext cx="2834640" cy="274320"/>
          </a:xfrm>
          <a:prstGeom prst="rect">
            <a:avLst/>
          </a:prstGeom>
          <a:noFill/>
          <a:ln/>
        </p:spPr>
        <p:txBody>
          <a:bodyPr wrap="square" lIns="0" tIns="0" rIns="0" bIns="0" rtlCol="0" anchor="ctr"/>
          <a:lstStyle/>
          <a:p>
            <a:pPr marL="0" indent="0" algn="l">
              <a:buNone/>
            </a:pPr>
            <a:r>
              <a:rPr lang="en-US" sz="1050">
                <a:solidFill>
                  <a:srgbClr val="7C7E96"/>
                </a:solidFill>
                <a:latin typeface="Calibri" pitchFamily="34" charset="0"/>
                <a:ea typeface="Calibri" pitchFamily="34" charset="-122"/>
                <a:cs typeface="Calibri" pitchFamily="34" charset="-120"/>
              </a:rPr>
              <a:t>Internal Medicine</a:t>
            </a:r>
            <a:endParaRPr lang="en-US" sz="1050" dirty="0"/>
          </a:p>
        </p:txBody>
      </p:sp>
      <p:sp>
        <p:nvSpPr>
          <p:cNvPr id="13" name="insight card">
            <a:extLst>
              <a:ext uri="{C183D7F6-B498-43B3-948B-1728B52AA6E4}">
                <adec:decorative xmlns:adec="http://schemas.microsoft.com/office/drawing/2017/decorative" val="1"/>
              </a:ext>
            </a:extLst>
          </p:cNvPr>
          <p:cNvSpPr/>
          <p:nvPr/>
        </p:nvSpPr>
        <p:spPr>
          <a:xfrm>
            <a:off x="8275320" y="3246120"/>
            <a:ext cx="3246120" cy="2926080"/>
          </a:xfrm>
          <a:prstGeom prst="rect">
            <a:avLst/>
          </a:prstGeom>
          <a:solidFill>
            <a:srgbClr val="43426A"/>
          </a:solidFill>
          <a:ln/>
        </p:spPr>
        <p:txBody>
          <a:bodyPr/>
          <a:lstStyle/>
          <a:p>
            <a:endParaRPr lang="en-US"/>
          </a:p>
        </p:txBody>
      </p:sp>
      <p:sp>
        <p:nvSpPr>
          <p:cNvPr id="14" name="Text 11">
            <a:extLst>
              <a:ext uri="{C183D7F6-B498-43B3-948B-1728B52AA6E4}">
                <adec:decorative xmlns:adec="http://schemas.microsoft.com/office/drawing/2017/decorative" val="1"/>
              </a:ext>
            </a:extLst>
          </p:cNvPr>
          <p:cNvSpPr/>
          <p:nvPr/>
        </p:nvSpPr>
        <p:spPr>
          <a:xfrm>
            <a:off x="8513064" y="3401568"/>
            <a:ext cx="2788920" cy="365760"/>
          </a:xfrm>
          <a:prstGeom prst="rect">
            <a:avLst/>
          </a:prstGeom>
          <a:noFill/>
          <a:ln/>
        </p:spPr>
        <p:txBody>
          <a:bodyPr wrap="square" lIns="0" tIns="0" rIns="0" bIns="0" rtlCol="0" anchor="ctr"/>
          <a:lstStyle/>
          <a:p>
            <a:pPr marL="0" indent="0">
              <a:buNone/>
            </a:pPr>
            <a:r>
              <a:rPr lang="en-US" sz="1300" b="1">
                <a:solidFill>
                  <a:srgbClr val="6BA5D7"/>
                </a:solidFill>
                <a:latin typeface="Trebuchet MS" pitchFamily="34" charset="0"/>
                <a:ea typeface="Trebuchet MS" pitchFamily="34" charset="-122"/>
                <a:cs typeface="Trebuchet MS" pitchFamily="34" charset="-120"/>
              </a:rPr>
              <a:t>Concentration</a:t>
            </a:r>
            <a:endParaRPr lang="en-US" sz="1300" dirty="0"/>
          </a:p>
        </p:txBody>
      </p:sp>
      <p:sp>
        <p:nvSpPr>
          <p:cNvPr id="15" name="Text 12"/>
          <p:cNvSpPr/>
          <p:nvPr/>
        </p:nvSpPr>
        <p:spPr>
          <a:xfrm>
            <a:off x="8513064" y="3767328"/>
            <a:ext cx="2788920" cy="2286000"/>
          </a:xfrm>
          <a:prstGeom prst="rect">
            <a:avLst/>
          </a:prstGeom>
          <a:noFill/>
          <a:ln/>
        </p:spPr>
        <p:txBody>
          <a:bodyPr wrap="square" lIns="0" tIns="0" rIns="0" bIns="0" rtlCol="0" anchor="t"/>
          <a:lstStyle/>
          <a:p>
            <a:pPr marL="0" indent="0">
              <a:lnSpc>
                <a:spcPct val="104000"/>
              </a:lnSpc>
              <a:buNone/>
            </a:pPr>
            <a:r>
              <a:rPr lang="en-US" sz="1250">
                <a:solidFill>
                  <a:srgbClr val="CBD9E9"/>
                </a:solidFill>
                <a:latin typeface="Calibri" pitchFamily="34" charset="0"/>
                <a:ea typeface="Calibri" pitchFamily="34" charset="-122"/>
                <a:cs typeface="Calibri" pitchFamily="34" charset="-120"/>
              </a:rPr>
              <a:t>The top 10 specialties alone account for </a:t>
            </a:r>
            <a:r>
              <a:rPr lang="en-US" sz="1250" b="1" dirty="0">
                <a:solidFill>
                  <a:srgbClr val="FFFFFF"/>
                </a:solidFill>
                <a:latin typeface="Calibri" pitchFamily="34" charset="0"/>
                <a:ea typeface="Calibri" pitchFamily="34" charset="-122"/>
                <a:cs typeface="Calibri" pitchFamily="34" charset="-120"/>
              </a:rPr>
              <a:t>~$54.8B</a:t>
            </a:r>
            <a:r>
              <a:rPr lang="en-US" sz="1250">
                <a:solidFill>
                  <a:srgbClr val="CBD9E9"/>
                </a:solidFill>
                <a:latin typeface="Calibri" pitchFamily="34" charset="0"/>
                <a:ea typeface="Calibri" pitchFamily="34" charset="-122"/>
                <a:cs typeface="Calibri" pitchFamily="34" charset="-120"/>
              </a:rPr>
              <a:t> of 2022 payments.</a:t>
            </a:r>
            <a:endParaRPr lang="en-US" sz="1250" dirty="0"/>
          </a:p>
          <a:p>
            <a:pPr marL="0" indent="0">
              <a:lnSpc>
                <a:spcPct val="104000"/>
              </a:lnSpc>
              <a:buNone/>
            </a:pPr>
            <a:r>
              <a:rPr lang="en-US" sz="1250">
                <a:solidFill>
                  <a:srgbClr val="CBD9E9"/>
                </a:solidFill>
                <a:latin typeface="Calibri" pitchFamily="34" charset="0"/>
                <a:ea typeface="Calibri" pitchFamily="34" charset="-122"/>
                <a:cs typeface="Calibri" pitchFamily="34" charset="-120"/>
              </a:rPr>
              <a:t> </a:t>
            </a:r>
            <a:endParaRPr lang="en-US" sz="1250" dirty="0"/>
          </a:p>
          <a:p>
            <a:pPr marL="0" indent="0">
              <a:lnSpc>
                <a:spcPct val="104000"/>
              </a:lnSpc>
              <a:buNone/>
            </a:pPr>
            <a:r>
              <a:rPr lang="en-US" sz="1250">
                <a:solidFill>
                  <a:srgbClr val="CBD9E9"/>
                </a:solidFill>
                <a:latin typeface="Calibri" pitchFamily="34" charset="0"/>
                <a:ea typeface="Calibri" pitchFamily="34" charset="-122"/>
                <a:cs typeface="Calibri" pitchFamily="34" charset="-120"/>
              </a:rPr>
              <a:t>Primary care, ophthalmology, labs, and oncology anchor the spend — a mix of high-volume and drug-heavy fields.</a:t>
            </a:r>
            <a:endParaRPr lang="en-US" sz="1250" dirty="0"/>
          </a:p>
        </p:txBody>
      </p:sp>
      <p:sp>
        <p:nvSpPr>
          <p:cNvPr id="16" name="Text 13"/>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a:solidFill>
                  <a:srgbClr val="7C7E96"/>
                </a:solidFill>
                <a:latin typeface="Trebuchet MS" pitchFamily="34" charset="0"/>
                <a:ea typeface="Trebuchet MS" pitchFamily="34" charset="-122"/>
                <a:cs typeface="Trebuchet MS" pitchFamily="34" charset="-120"/>
              </a:rPr>
              <a:t>CMS MEDICARE PART B  ·  CY 2022–2024</a:t>
            </a:r>
            <a:endParaRPr lang="en-US" sz="900" dirty="0"/>
          </a:p>
        </p:txBody>
      </p:sp>
      <p:sp>
        <p:nvSpPr>
          <p:cNvPr id="17" name="Text 14"/>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a:solidFill>
                  <a:srgbClr val="4E79A7"/>
                </a:solidFill>
                <a:latin typeface="Consolas" pitchFamily="34" charset="0"/>
                <a:ea typeface="Consolas" pitchFamily="34" charset="-122"/>
                <a:cs typeface="Consolas"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914400" y="914400"/>
            <a:ext cx="201168" cy="128016"/>
          </a:xfrm>
          <a:prstGeom prst="rect">
            <a:avLst/>
          </a:prstGeom>
          <a:solidFill>
            <a:srgbClr val="6BA5D7"/>
          </a:solidFill>
          <a:ln/>
        </p:spPr>
        <p:txBody>
          <a:bodyPr/>
          <a:lstStyle/>
          <a:p>
            <a:endParaRPr lang="en-US"/>
          </a:p>
        </p:txBody>
      </p:sp>
      <p:sp>
        <p:nvSpPr>
          <p:cNvPr id="3" name="Text 1"/>
          <p:cNvSpPr/>
          <p:nvPr/>
        </p:nvSpPr>
        <p:spPr>
          <a:xfrm>
            <a:off x="0" y="0"/>
            <a:ext cx="8229600" cy="310896"/>
          </a:xfrm>
          <a:prstGeom prst="rect">
            <a:avLst/>
          </a:prstGeom>
          <a:noFill/>
          <a:ln/>
        </p:spPr>
        <p:txBody>
          <a:bodyPr wrap="square" lIns="0" tIns="0" rIns="0" bIns="0" rtlCol="0" anchor="ctr"/>
          <a:lstStyle/>
          <a:p>
            <a:pPr marL="0" indent="0" algn="l">
              <a:buNone/>
            </a:pPr>
            <a:r>
              <a:rPr lang="en-US" sz="1250" b="1" kern="0" spc="300">
                <a:solidFill>
                  <a:srgbClr val="4E79A7"/>
                </a:solidFill>
                <a:latin typeface="Trebuchet MS" pitchFamily="34" charset="0"/>
                <a:ea typeface="Trebuchet MS" pitchFamily="34" charset="-122"/>
                <a:cs typeface="Trebuchet MS" pitchFamily="34" charset="-120"/>
              </a:rPr>
              <a:t>SPECIALTY SPOTLIGHT · #1 BY PAYMENT</a:t>
            </a:r>
            <a:endParaRPr lang="en-US" sz="1250" dirty="0"/>
          </a:p>
        </p:txBody>
      </p:sp>
      <p:sp>
        <p:nvSpPr>
          <p:cNvPr id="4" name="Text 0"/>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2700" b="1">
                <a:solidFill>
                  <a:srgbClr val="2B2A45"/>
                </a:solidFill>
                <a:latin typeface="Trebuchet MS" pitchFamily="34" charset="0"/>
                <a:ea typeface="Trebuchet MS" pitchFamily="34" charset="-122"/>
                <a:cs typeface="Trebuchet MS" pitchFamily="34" charset="-120"/>
              </a:rPr>
              <a:t>Internal Medicine: The Volume Engine</a:t>
            </a:r>
            <a:endParaRPr lang="en-US" sz="2700" dirty="0"/>
          </a:p>
        </p:txBody>
      </p:sp>
      <p:sp>
        <p:nvSpPr>
          <p:cNvPr id="5" name="Text 3">
            <a:extLst>
              <a:ext uri="{C183D7F6-B498-43B3-948B-1728B52AA6E4}">
                <adec:decorative xmlns:adec="http://schemas.microsoft.com/office/drawing/2017/decorative" val="1"/>
              </a:ext>
            </a:extLst>
          </p:cNvPr>
          <p:cNvSpPr/>
          <p:nvPr/>
        </p:nvSpPr>
        <p:spPr>
          <a:xfrm>
            <a:off x="640080" y="1325880"/>
            <a:ext cx="10972800" cy="329184"/>
          </a:xfrm>
          <a:prstGeom prst="rect">
            <a:avLst/>
          </a:prstGeom>
          <a:noFill/>
          <a:ln/>
        </p:spPr>
        <p:txBody>
          <a:bodyPr wrap="square" lIns="0" tIns="0" rIns="0" bIns="0" rtlCol="0" anchor="ctr"/>
          <a:lstStyle/>
          <a:p>
            <a:pPr marL="0" indent="0">
              <a:buNone/>
            </a:pPr>
            <a:r>
              <a:rPr lang="en-US" sz="1300" i="1">
                <a:solidFill>
                  <a:srgbClr val="7C7E96"/>
                </a:solidFill>
                <a:latin typeface="Calibri" pitchFamily="34" charset="0"/>
                <a:ea typeface="Calibri" pitchFamily="34" charset="-122"/>
                <a:cs typeface="Calibri" pitchFamily="34" charset="-120"/>
              </a:rPr>
              <a:t>The single largest specialty by Medicare payment — built on immense service volume at a modest unit price (CY 2022).</a:t>
            </a:r>
            <a:endParaRPr lang="en-US" sz="1300" dirty="0"/>
          </a:p>
        </p:txBody>
      </p:sp>
      <p:sp>
        <p:nvSpPr>
          <p:cNvPr id="6" name="kpi card">
            <a:extLst>
              <a:ext uri="{C183D7F6-B498-43B3-948B-1728B52AA6E4}">
                <adec:decorative xmlns:adec="http://schemas.microsoft.com/office/drawing/2017/decorative" val="1"/>
              </a:ext>
            </a:extLst>
          </p:cNvPr>
          <p:cNvSpPr/>
          <p:nvPr/>
        </p:nvSpPr>
        <p:spPr>
          <a:xfrm>
            <a:off x="640080" y="1828800"/>
            <a:ext cx="2523744" cy="1325880"/>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7" name="kpi accent">
            <a:extLst>
              <a:ext uri="{C183D7F6-B498-43B3-948B-1728B52AA6E4}">
                <adec:decorative xmlns:adec="http://schemas.microsoft.com/office/drawing/2017/decorative" val="1"/>
              </a:ext>
            </a:extLst>
          </p:cNvPr>
          <p:cNvSpPr/>
          <p:nvPr/>
        </p:nvSpPr>
        <p:spPr>
          <a:xfrm>
            <a:off x="640080" y="1828800"/>
            <a:ext cx="82296" cy="1325880"/>
          </a:xfrm>
          <a:prstGeom prst="rect">
            <a:avLst/>
          </a:prstGeom>
          <a:solidFill>
            <a:srgbClr val="6BA5D7"/>
          </a:solidFill>
          <a:ln/>
        </p:spPr>
        <p:txBody>
          <a:bodyPr/>
          <a:lstStyle/>
          <a:p>
            <a:endParaRPr lang="en-US"/>
          </a:p>
        </p:txBody>
      </p:sp>
      <p:sp>
        <p:nvSpPr>
          <p:cNvPr id="8" name="Text 6"/>
          <p:cNvSpPr/>
          <p:nvPr/>
        </p:nvSpPr>
        <p:spPr>
          <a:xfrm>
            <a:off x="859536" y="1975104"/>
            <a:ext cx="2157984" cy="662940"/>
          </a:xfrm>
          <a:prstGeom prst="rect">
            <a:avLst/>
          </a:prstGeom>
          <a:noFill/>
          <a:ln/>
        </p:spPr>
        <p:txBody>
          <a:bodyPr wrap="square" lIns="0" tIns="0" rIns="0" bIns="0" rtlCol="0" anchor="ctr"/>
          <a:lstStyle/>
          <a:p>
            <a:pPr marL="0" indent="0" algn="l">
              <a:buNone/>
            </a:pPr>
            <a:r>
              <a:rPr lang="en-US" sz="3000" b="1">
                <a:solidFill>
                  <a:srgbClr val="4E79A7"/>
                </a:solidFill>
                <a:latin typeface="Consolas" pitchFamily="34" charset="0"/>
                <a:ea typeface="Consolas" pitchFamily="34" charset="-122"/>
                <a:cs typeface="Consolas" pitchFamily="34" charset="-120"/>
              </a:rPr>
              <a:t>$7.29B</a:t>
            </a:r>
            <a:endParaRPr lang="en-US" sz="3000" dirty="0"/>
          </a:p>
        </p:txBody>
      </p:sp>
      <p:sp>
        <p:nvSpPr>
          <p:cNvPr id="9" name="Text 7"/>
          <p:cNvSpPr/>
          <p:nvPr/>
        </p:nvSpPr>
        <p:spPr>
          <a:xfrm>
            <a:off x="877824" y="2624328"/>
            <a:ext cx="2112264" cy="292608"/>
          </a:xfrm>
          <a:prstGeom prst="rect">
            <a:avLst/>
          </a:prstGeom>
          <a:noFill/>
          <a:ln/>
        </p:spPr>
        <p:txBody>
          <a:bodyPr wrap="square" lIns="0" tIns="0" rIns="0" bIns="0" rtlCol="0" anchor="ctr"/>
          <a:lstStyle/>
          <a:p>
            <a:pPr marL="0" indent="0" algn="l">
              <a:buNone/>
            </a:pPr>
            <a:r>
              <a:rPr lang="en-US" sz="1100" b="1" kern="0" spc="150">
                <a:solidFill>
                  <a:srgbClr val="2B2A45"/>
                </a:solidFill>
                <a:latin typeface="Trebuchet MS" pitchFamily="34" charset="0"/>
                <a:ea typeface="Trebuchet MS" pitchFamily="34" charset="-122"/>
                <a:cs typeface="Trebuchet MS" pitchFamily="34" charset="-120"/>
              </a:rPr>
              <a:t>MEDICARE PAYMENT</a:t>
            </a:r>
            <a:endParaRPr lang="en-US" sz="1100" dirty="0"/>
          </a:p>
        </p:txBody>
      </p:sp>
      <p:sp>
        <p:nvSpPr>
          <p:cNvPr id="10" name="Text 8"/>
          <p:cNvSpPr/>
          <p:nvPr/>
        </p:nvSpPr>
        <p:spPr>
          <a:xfrm>
            <a:off x="877824" y="2898648"/>
            <a:ext cx="2112264" cy="274320"/>
          </a:xfrm>
          <a:prstGeom prst="rect">
            <a:avLst/>
          </a:prstGeom>
          <a:noFill/>
          <a:ln/>
        </p:spPr>
        <p:txBody>
          <a:bodyPr wrap="square" lIns="0" tIns="0" rIns="0" bIns="0" rtlCol="0" anchor="ctr"/>
          <a:lstStyle/>
          <a:p>
            <a:pPr marL="0" indent="0" algn="l">
              <a:buNone/>
            </a:pPr>
            <a:r>
              <a:rPr lang="en-US" sz="1050">
                <a:solidFill>
                  <a:srgbClr val="7C7E96"/>
                </a:solidFill>
                <a:latin typeface="Calibri" pitchFamily="34" charset="0"/>
                <a:ea typeface="Calibri" pitchFamily="34" charset="-122"/>
                <a:cs typeface="Calibri" pitchFamily="34" charset="-120"/>
              </a:rPr>
              <a:t>#1 of all specialties</a:t>
            </a:r>
            <a:endParaRPr lang="en-US" sz="1050" dirty="0"/>
          </a:p>
        </p:txBody>
      </p:sp>
      <p:sp>
        <p:nvSpPr>
          <p:cNvPr id="11" name="kpi card">
            <a:extLst>
              <a:ext uri="{C183D7F6-B498-43B3-948B-1728B52AA6E4}">
                <adec:decorative xmlns:adec="http://schemas.microsoft.com/office/drawing/2017/decorative" val="1"/>
              </a:ext>
            </a:extLst>
          </p:cNvPr>
          <p:cNvSpPr/>
          <p:nvPr/>
        </p:nvSpPr>
        <p:spPr>
          <a:xfrm>
            <a:off x="3438144" y="1828800"/>
            <a:ext cx="2523744" cy="1325880"/>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12" name="kpi accent">
            <a:extLst>
              <a:ext uri="{C183D7F6-B498-43B3-948B-1728B52AA6E4}">
                <adec:decorative xmlns:adec="http://schemas.microsoft.com/office/drawing/2017/decorative" val="1"/>
              </a:ext>
            </a:extLst>
          </p:cNvPr>
          <p:cNvSpPr/>
          <p:nvPr/>
        </p:nvSpPr>
        <p:spPr>
          <a:xfrm>
            <a:off x="3438144" y="1828800"/>
            <a:ext cx="82296" cy="1325880"/>
          </a:xfrm>
          <a:prstGeom prst="rect">
            <a:avLst/>
          </a:prstGeom>
          <a:solidFill>
            <a:srgbClr val="6BA5D7"/>
          </a:solidFill>
          <a:ln/>
        </p:spPr>
        <p:txBody>
          <a:bodyPr/>
          <a:lstStyle/>
          <a:p>
            <a:endParaRPr lang="en-US"/>
          </a:p>
        </p:txBody>
      </p:sp>
      <p:sp>
        <p:nvSpPr>
          <p:cNvPr id="13" name="Text 11"/>
          <p:cNvSpPr/>
          <p:nvPr/>
        </p:nvSpPr>
        <p:spPr>
          <a:xfrm>
            <a:off x="3657600" y="1975104"/>
            <a:ext cx="2157984" cy="662940"/>
          </a:xfrm>
          <a:prstGeom prst="rect">
            <a:avLst/>
          </a:prstGeom>
          <a:noFill/>
          <a:ln/>
        </p:spPr>
        <p:txBody>
          <a:bodyPr wrap="square" lIns="0" tIns="0" rIns="0" bIns="0" rtlCol="0" anchor="ctr"/>
          <a:lstStyle/>
          <a:p>
            <a:pPr marL="0" indent="0" algn="l">
              <a:buNone/>
            </a:pPr>
            <a:r>
              <a:rPr lang="en-US" sz="3000" b="1">
                <a:solidFill>
                  <a:srgbClr val="4E79A7"/>
                </a:solidFill>
                <a:latin typeface="Consolas" pitchFamily="34" charset="0"/>
                <a:ea typeface="Consolas" pitchFamily="34" charset="-122"/>
                <a:cs typeface="Consolas" pitchFamily="34" charset="-120"/>
              </a:rPr>
              <a:t>175.2M</a:t>
            </a:r>
            <a:endParaRPr lang="en-US" sz="3000" dirty="0"/>
          </a:p>
        </p:txBody>
      </p:sp>
      <p:sp>
        <p:nvSpPr>
          <p:cNvPr id="14" name="Text 12"/>
          <p:cNvSpPr/>
          <p:nvPr/>
        </p:nvSpPr>
        <p:spPr>
          <a:xfrm>
            <a:off x="3675888" y="2624328"/>
            <a:ext cx="2112264" cy="292608"/>
          </a:xfrm>
          <a:prstGeom prst="rect">
            <a:avLst/>
          </a:prstGeom>
          <a:noFill/>
          <a:ln/>
        </p:spPr>
        <p:txBody>
          <a:bodyPr wrap="square" lIns="0" tIns="0" rIns="0" bIns="0" rtlCol="0" anchor="ctr"/>
          <a:lstStyle/>
          <a:p>
            <a:pPr marL="0" indent="0" algn="l">
              <a:buNone/>
            </a:pPr>
            <a:r>
              <a:rPr lang="en-US" sz="1100" b="1" kern="0" spc="150">
                <a:solidFill>
                  <a:srgbClr val="2B2A45"/>
                </a:solidFill>
                <a:latin typeface="Trebuchet MS" pitchFamily="34" charset="0"/>
                <a:ea typeface="Trebuchet MS" pitchFamily="34" charset="-122"/>
                <a:cs typeface="Trebuchet MS" pitchFamily="34" charset="-120"/>
              </a:rPr>
              <a:t>ALLOWED SERVICES</a:t>
            </a:r>
            <a:endParaRPr lang="en-US" sz="1100" dirty="0"/>
          </a:p>
        </p:txBody>
      </p:sp>
      <p:sp>
        <p:nvSpPr>
          <p:cNvPr id="15" name="Text 13"/>
          <p:cNvSpPr/>
          <p:nvPr/>
        </p:nvSpPr>
        <p:spPr>
          <a:xfrm>
            <a:off x="3675888" y="2898648"/>
            <a:ext cx="2112264" cy="274320"/>
          </a:xfrm>
          <a:prstGeom prst="rect">
            <a:avLst/>
          </a:prstGeom>
          <a:noFill/>
          <a:ln/>
        </p:spPr>
        <p:txBody>
          <a:bodyPr wrap="square" lIns="0" tIns="0" rIns="0" bIns="0" rtlCol="0" anchor="ctr"/>
          <a:lstStyle/>
          <a:p>
            <a:pPr marL="0" indent="0" algn="l">
              <a:buNone/>
            </a:pPr>
            <a:r>
              <a:rPr lang="en-US" sz="1050">
                <a:solidFill>
                  <a:srgbClr val="7C7E96"/>
                </a:solidFill>
                <a:latin typeface="Calibri" pitchFamily="34" charset="0"/>
                <a:ea typeface="Calibri" pitchFamily="34" charset="-122"/>
                <a:cs typeface="Calibri" pitchFamily="34" charset="-120"/>
              </a:rPr>
              <a:t>Highest physician volume</a:t>
            </a:r>
            <a:endParaRPr lang="en-US" sz="1050" dirty="0"/>
          </a:p>
        </p:txBody>
      </p:sp>
      <p:sp>
        <p:nvSpPr>
          <p:cNvPr id="16" name="kpi card">
            <a:extLst>
              <a:ext uri="{C183D7F6-B498-43B3-948B-1728B52AA6E4}">
                <adec:decorative xmlns:adec="http://schemas.microsoft.com/office/drawing/2017/decorative" val="1"/>
              </a:ext>
            </a:extLst>
          </p:cNvPr>
          <p:cNvSpPr/>
          <p:nvPr/>
        </p:nvSpPr>
        <p:spPr>
          <a:xfrm>
            <a:off x="6236208" y="1828800"/>
            <a:ext cx="2523744" cy="1325880"/>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17" name="kpi accent">
            <a:extLst>
              <a:ext uri="{C183D7F6-B498-43B3-948B-1728B52AA6E4}">
                <adec:decorative xmlns:adec="http://schemas.microsoft.com/office/drawing/2017/decorative" val="1"/>
              </a:ext>
            </a:extLst>
          </p:cNvPr>
          <p:cNvSpPr/>
          <p:nvPr/>
        </p:nvSpPr>
        <p:spPr>
          <a:xfrm>
            <a:off x="6236208" y="1828800"/>
            <a:ext cx="82296" cy="1325880"/>
          </a:xfrm>
          <a:prstGeom prst="rect">
            <a:avLst/>
          </a:prstGeom>
          <a:solidFill>
            <a:srgbClr val="6BA5D7"/>
          </a:solidFill>
          <a:ln/>
        </p:spPr>
        <p:txBody>
          <a:bodyPr/>
          <a:lstStyle/>
          <a:p>
            <a:endParaRPr lang="en-US"/>
          </a:p>
        </p:txBody>
      </p:sp>
      <p:sp>
        <p:nvSpPr>
          <p:cNvPr id="18" name="Text 16"/>
          <p:cNvSpPr/>
          <p:nvPr/>
        </p:nvSpPr>
        <p:spPr>
          <a:xfrm>
            <a:off x="6455664" y="1975104"/>
            <a:ext cx="2157984" cy="662940"/>
          </a:xfrm>
          <a:prstGeom prst="rect">
            <a:avLst/>
          </a:prstGeom>
          <a:noFill/>
          <a:ln/>
        </p:spPr>
        <p:txBody>
          <a:bodyPr wrap="square" lIns="0" tIns="0" rIns="0" bIns="0" rtlCol="0" anchor="ctr"/>
          <a:lstStyle/>
          <a:p>
            <a:pPr marL="0" indent="0" algn="l">
              <a:buNone/>
            </a:pPr>
            <a:r>
              <a:rPr lang="en-US" sz="3000" b="1">
                <a:solidFill>
                  <a:srgbClr val="4E79A7"/>
                </a:solidFill>
                <a:latin typeface="Consolas" pitchFamily="34" charset="0"/>
                <a:ea typeface="Consolas" pitchFamily="34" charset="-122"/>
                <a:cs typeface="Consolas" pitchFamily="34" charset="-120"/>
              </a:rPr>
              <a:t>$41.59</a:t>
            </a:r>
            <a:endParaRPr lang="en-US" sz="3000" dirty="0"/>
          </a:p>
        </p:txBody>
      </p:sp>
      <p:sp>
        <p:nvSpPr>
          <p:cNvPr id="19" name="Text 17"/>
          <p:cNvSpPr/>
          <p:nvPr/>
        </p:nvSpPr>
        <p:spPr>
          <a:xfrm>
            <a:off x="6473952" y="2624328"/>
            <a:ext cx="2112264" cy="292608"/>
          </a:xfrm>
          <a:prstGeom prst="rect">
            <a:avLst/>
          </a:prstGeom>
          <a:noFill/>
          <a:ln/>
        </p:spPr>
        <p:txBody>
          <a:bodyPr wrap="square" lIns="0" tIns="0" rIns="0" bIns="0" rtlCol="0" anchor="ctr"/>
          <a:lstStyle/>
          <a:p>
            <a:pPr marL="0" indent="0" algn="l">
              <a:buNone/>
            </a:pPr>
            <a:r>
              <a:rPr lang="en-US" sz="1100" b="1" kern="0" spc="150">
                <a:solidFill>
                  <a:srgbClr val="2B2A45"/>
                </a:solidFill>
                <a:latin typeface="Trebuchet MS" pitchFamily="34" charset="0"/>
                <a:ea typeface="Trebuchet MS" pitchFamily="34" charset="-122"/>
                <a:cs typeface="Trebuchet MS" pitchFamily="34" charset="-120"/>
              </a:rPr>
              <a:t>PAYMENT / SERVICE</a:t>
            </a:r>
            <a:endParaRPr lang="en-US" sz="1100" dirty="0"/>
          </a:p>
        </p:txBody>
      </p:sp>
      <p:sp>
        <p:nvSpPr>
          <p:cNvPr id="20" name="Text 18"/>
          <p:cNvSpPr/>
          <p:nvPr/>
        </p:nvSpPr>
        <p:spPr>
          <a:xfrm>
            <a:off x="6473952" y="2898648"/>
            <a:ext cx="2112264" cy="274320"/>
          </a:xfrm>
          <a:prstGeom prst="rect">
            <a:avLst/>
          </a:prstGeom>
          <a:noFill/>
          <a:ln/>
        </p:spPr>
        <p:txBody>
          <a:bodyPr wrap="square" lIns="0" tIns="0" rIns="0" bIns="0" rtlCol="0" anchor="ctr"/>
          <a:lstStyle/>
          <a:p>
            <a:pPr marL="0" indent="0" algn="l">
              <a:buNone/>
            </a:pPr>
            <a:r>
              <a:rPr lang="en-US" sz="1050">
                <a:solidFill>
                  <a:srgbClr val="7C7E96"/>
                </a:solidFill>
                <a:latin typeface="Calibri" pitchFamily="34" charset="0"/>
                <a:ea typeface="Calibri" pitchFamily="34" charset="-122"/>
                <a:cs typeface="Calibri" pitchFamily="34" charset="-120"/>
              </a:rPr>
              <a:t>Modest unit cost</a:t>
            </a:r>
            <a:endParaRPr lang="en-US" sz="1050" dirty="0"/>
          </a:p>
        </p:txBody>
      </p:sp>
      <p:sp>
        <p:nvSpPr>
          <p:cNvPr id="21" name="kpi card">
            <a:extLst>
              <a:ext uri="{C183D7F6-B498-43B3-948B-1728B52AA6E4}">
                <adec:decorative xmlns:adec="http://schemas.microsoft.com/office/drawing/2017/decorative" val="1"/>
              </a:ext>
            </a:extLst>
          </p:cNvPr>
          <p:cNvSpPr/>
          <p:nvPr/>
        </p:nvSpPr>
        <p:spPr>
          <a:xfrm>
            <a:off x="9034272" y="1828800"/>
            <a:ext cx="2523744" cy="1325880"/>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22" name="kpi accent">
            <a:extLst>
              <a:ext uri="{C183D7F6-B498-43B3-948B-1728B52AA6E4}">
                <adec:decorative xmlns:adec="http://schemas.microsoft.com/office/drawing/2017/decorative" val="1"/>
              </a:ext>
            </a:extLst>
          </p:cNvPr>
          <p:cNvSpPr/>
          <p:nvPr/>
        </p:nvSpPr>
        <p:spPr>
          <a:xfrm>
            <a:off x="9034272" y="1828800"/>
            <a:ext cx="82296" cy="1325880"/>
          </a:xfrm>
          <a:prstGeom prst="rect">
            <a:avLst/>
          </a:prstGeom>
          <a:solidFill>
            <a:srgbClr val="6BA5D7"/>
          </a:solidFill>
          <a:ln/>
        </p:spPr>
        <p:txBody>
          <a:bodyPr/>
          <a:lstStyle/>
          <a:p>
            <a:endParaRPr lang="en-US"/>
          </a:p>
        </p:txBody>
      </p:sp>
      <p:sp>
        <p:nvSpPr>
          <p:cNvPr id="23" name="Text 21">
            <a:extLst>
              <a:ext uri="{C183D7F6-B498-43B3-948B-1728B52AA6E4}">
                <adec:decorative xmlns:adec="http://schemas.microsoft.com/office/drawing/2017/decorative" val="1"/>
              </a:ext>
            </a:extLst>
          </p:cNvPr>
          <p:cNvSpPr/>
          <p:nvPr/>
        </p:nvSpPr>
        <p:spPr>
          <a:xfrm>
            <a:off x="9253728" y="1975104"/>
            <a:ext cx="2157984" cy="662940"/>
          </a:xfrm>
          <a:prstGeom prst="rect">
            <a:avLst/>
          </a:prstGeom>
          <a:noFill/>
          <a:ln/>
        </p:spPr>
        <p:txBody>
          <a:bodyPr wrap="square" lIns="0" tIns="0" rIns="0" bIns="0" rtlCol="0" anchor="ctr"/>
          <a:lstStyle/>
          <a:p>
            <a:pPr marL="0" indent="0" algn="l">
              <a:buNone/>
            </a:pPr>
            <a:r>
              <a:rPr lang="en-US" sz="3000" b="1">
                <a:solidFill>
                  <a:srgbClr val="4E79A7"/>
                </a:solidFill>
                <a:latin typeface="Consolas" pitchFamily="34" charset="0"/>
                <a:ea typeface="Consolas" pitchFamily="34" charset="-122"/>
                <a:cs typeface="Consolas" pitchFamily="34" charset="-120"/>
              </a:rPr>
              <a:t>74.1%</a:t>
            </a:r>
            <a:endParaRPr lang="en-US" sz="3000" dirty="0"/>
          </a:p>
        </p:txBody>
      </p:sp>
      <p:sp>
        <p:nvSpPr>
          <p:cNvPr id="24" name="Text 22">
            <a:extLst>
              <a:ext uri="{C183D7F6-B498-43B3-948B-1728B52AA6E4}">
                <adec:decorative xmlns:adec="http://schemas.microsoft.com/office/drawing/2017/decorative" val="1"/>
              </a:ext>
            </a:extLst>
          </p:cNvPr>
          <p:cNvSpPr/>
          <p:nvPr/>
        </p:nvSpPr>
        <p:spPr>
          <a:xfrm>
            <a:off x="9272016" y="2624328"/>
            <a:ext cx="2112264" cy="292608"/>
          </a:xfrm>
          <a:prstGeom prst="rect">
            <a:avLst/>
          </a:prstGeom>
          <a:noFill/>
          <a:ln/>
        </p:spPr>
        <p:txBody>
          <a:bodyPr wrap="square" lIns="0" tIns="0" rIns="0" bIns="0" rtlCol="0" anchor="ctr"/>
          <a:lstStyle/>
          <a:p>
            <a:pPr marL="0" indent="0" algn="l">
              <a:buNone/>
            </a:pPr>
            <a:r>
              <a:rPr lang="en-US" sz="1100" b="1" kern="0" spc="150">
                <a:solidFill>
                  <a:srgbClr val="2B2A45"/>
                </a:solidFill>
                <a:latin typeface="Trebuchet MS" pitchFamily="34" charset="0"/>
                <a:ea typeface="Trebuchet MS" pitchFamily="34" charset="-122"/>
                <a:cs typeface="Trebuchet MS" pitchFamily="34" charset="-120"/>
              </a:rPr>
              <a:t>PAYMENT RATE</a:t>
            </a:r>
            <a:endParaRPr lang="en-US" sz="1100" dirty="0"/>
          </a:p>
        </p:txBody>
      </p:sp>
      <p:sp>
        <p:nvSpPr>
          <p:cNvPr id="25" name="Text 23"/>
          <p:cNvSpPr/>
          <p:nvPr/>
        </p:nvSpPr>
        <p:spPr>
          <a:xfrm>
            <a:off x="9272016" y="2898648"/>
            <a:ext cx="2112264" cy="274320"/>
          </a:xfrm>
          <a:prstGeom prst="rect">
            <a:avLst/>
          </a:prstGeom>
          <a:noFill/>
          <a:ln/>
        </p:spPr>
        <p:txBody>
          <a:bodyPr wrap="square" lIns="0" tIns="0" rIns="0" bIns="0" rtlCol="0" anchor="ctr"/>
          <a:lstStyle/>
          <a:p>
            <a:pPr marL="0" indent="0" algn="l">
              <a:buNone/>
            </a:pPr>
            <a:r>
              <a:rPr lang="en-US" sz="1050">
                <a:solidFill>
                  <a:srgbClr val="7C7E96"/>
                </a:solidFill>
                <a:latin typeface="Calibri" pitchFamily="34" charset="0"/>
                <a:ea typeface="Calibri" pitchFamily="34" charset="-122"/>
                <a:cs typeface="Calibri" pitchFamily="34" charset="-120"/>
              </a:rPr>
              <a:t>Just below the ~77% norm</a:t>
            </a:r>
            <a:endParaRPr lang="en-US" sz="1050" dirty="0"/>
          </a:p>
        </p:txBody>
      </p:sp>
      <p:sp>
        <p:nvSpPr>
          <p:cNvPr id="26" name="narrative panel">
            <a:extLst>
              <a:ext uri="{C183D7F6-B498-43B3-948B-1728B52AA6E4}">
                <adec:decorative xmlns:adec="http://schemas.microsoft.com/office/drawing/2017/decorative" val="1"/>
              </a:ext>
            </a:extLst>
          </p:cNvPr>
          <p:cNvSpPr/>
          <p:nvPr/>
        </p:nvSpPr>
        <p:spPr>
          <a:xfrm>
            <a:off x="640080" y="3429000"/>
            <a:ext cx="5989320" cy="2834640"/>
          </a:xfrm>
          <a:prstGeom prst="rect">
            <a:avLst/>
          </a:prstGeom>
          <a:solidFill>
            <a:srgbClr val="43426A"/>
          </a:solidFill>
          <a:ln/>
        </p:spPr>
        <p:txBody>
          <a:bodyPr/>
          <a:lstStyle/>
          <a:p>
            <a:endParaRPr lang="en-US"/>
          </a:p>
        </p:txBody>
      </p:sp>
      <p:sp>
        <p:nvSpPr>
          <p:cNvPr id="27" name="panel accent">
            <a:extLst>
              <a:ext uri="{C183D7F6-B498-43B3-948B-1728B52AA6E4}">
                <adec:decorative xmlns:adec="http://schemas.microsoft.com/office/drawing/2017/decorative" val="1"/>
              </a:ext>
            </a:extLst>
          </p:cNvPr>
          <p:cNvSpPr/>
          <p:nvPr/>
        </p:nvSpPr>
        <p:spPr>
          <a:xfrm>
            <a:off x="640080" y="3429000"/>
            <a:ext cx="82296" cy="2834640"/>
          </a:xfrm>
          <a:prstGeom prst="rect">
            <a:avLst/>
          </a:prstGeom>
          <a:solidFill>
            <a:srgbClr val="6BA5D7"/>
          </a:solidFill>
          <a:ln/>
        </p:spPr>
        <p:txBody>
          <a:bodyPr/>
          <a:lstStyle/>
          <a:p>
            <a:endParaRPr lang="en-US"/>
          </a:p>
        </p:txBody>
      </p:sp>
      <p:sp>
        <p:nvSpPr>
          <p:cNvPr id="28" name="Text 26"/>
          <p:cNvSpPr/>
          <p:nvPr/>
        </p:nvSpPr>
        <p:spPr>
          <a:xfrm>
            <a:off x="914400" y="3666744"/>
            <a:ext cx="5440680" cy="329184"/>
          </a:xfrm>
          <a:prstGeom prst="rect">
            <a:avLst/>
          </a:prstGeom>
          <a:noFill/>
          <a:ln/>
        </p:spPr>
        <p:txBody>
          <a:bodyPr wrap="square" lIns="0" tIns="0" rIns="0" bIns="0" rtlCol="0" anchor="ctr"/>
          <a:lstStyle/>
          <a:p>
            <a:pPr marL="0" indent="0">
              <a:buNone/>
            </a:pPr>
            <a:r>
              <a:rPr lang="en-US" sz="1500" b="1">
                <a:solidFill>
                  <a:srgbClr val="6BA5D7"/>
                </a:solidFill>
                <a:latin typeface="Trebuchet MS" pitchFamily="34" charset="0"/>
                <a:ea typeface="Trebuchet MS" pitchFamily="34" charset="-122"/>
                <a:cs typeface="Trebuchet MS" pitchFamily="34" charset="-120"/>
              </a:rPr>
              <a:t>Why it tops the ranking</a:t>
            </a:r>
            <a:endParaRPr lang="en-US" sz="1500" dirty="0"/>
          </a:p>
        </p:txBody>
      </p:sp>
      <p:sp>
        <p:nvSpPr>
          <p:cNvPr id="29" name="Text 27"/>
          <p:cNvSpPr/>
          <p:nvPr/>
        </p:nvSpPr>
        <p:spPr>
          <a:xfrm>
            <a:off x="914400" y="4142232"/>
            <a:ext cx="5422392" cy="1920240"/>
          </a:xfrm>
          <a:prstGeom prst="rect">
            <a:avLst/>
          </a:prstGeom>
          <a:noFill/>
          <a:ln/>
        </p:spPr>
        <p:txBody>
          <a:bodyPr wrap="square" lIns="0" tIns="0" rIns="0" bIns="0" rtlCol="0" anchor="t"/>
          <a:lstStyle/>
          <a:p>
            <a:pPr marL="0" indent="0">
              <a:lnSpc>
                <a:spcPct val="104000"/>
              </a:lnSpc>
              <a:buNone/>
            </a:pPr>
            <a:r>
              <a:rPr lang="en-US" sz="1250">
                <a:solidFill>
                  <a:srgbClr val="CBD9E9"/>
                </a:solidFill>
                <a:latin typeface="Calibri" pitchFamily="34" charset="0"/>
                <a:ea typeface="Calibri" pitchFamily="34" charset="-122"/>
                <a:cs typeface="Calibri" pitchFamily="34" charset="-120"/>
              </a:rPr>
              <a:t>Internal Medicine bills </a:t>
            </a:r>
            <a:r>
              <a:rPr lang="en-US" sz="1250" b="1" dirty="0">
                <a:solidFill>
                  <a:srgbClr val="FFFFFF"/>
                </a:solidFill>
                <a:latin typeface="Calibri" pitchFamily="34" charset="0"/>
                <a:ea typeface="Calibri" pitchFamily="34" charset="-122"/>
                <a:cs typeface="Calibri" pitchFamily="34" charset="-120"/>
              </a:rPr>
              <a:t>175 million services</a:t>
            </a:r>
            <a:r>
              <a:rPr lang="en-US" sz="1250">
                <a:solidFill>
                  <a:srgbClr val="CBD9E9"/>
                </a:solidFill>
                <a:latin typeface="Calibri" pitchFamily="34" charset="0"/>
                <a:ea typeface="Calibri" pitchFamily="34" charset="-122"/>
                <a:cs typeface="Calibri" pitchFamily="34" charset="-120"/>
              </a:rPr>
              <a:t> a year at just </a:t>
            </a:r>
            <a:r>
              <a:rPr lang="en-US" sz="1250" b="1" dirty="0">
                <a:solidFill>
                  <a:srgbClr val="FFFFFF"/>
                </a:solidFill>
                <a:latin typeface="Calibri" pitchFamily="34" charset="0"/>
                <a:ea typeface="Calibri" pitchFamily="34" charset="-122"/>
                <a:cs typeface="Calibri" pitchFamily="34" charset="-120"/>
              </a:rPr>
              <a:t>$41.59 each</a:t>
            </a:r>
            <a:r>
              <a:rPr lang="en-US" sz="1250">
                <a:solidFill>
                  <a:srgbClr val="CBD9E9"/>
                </a:solidFill>
                <a:latin typeface="Calibri" pitchFamily="34" charset="0"/>
                <a:ea typeface="Calibri" pitchFamily="34" charset="-122"/>
                <a:cs typeface="Calibri" pitchFamily="34" charset="-120"/>
              </a:rPr>
              <a:t> — modest prices multiplied by enormous volume produce the largest payment total of any specialty.</a:t>
            </a:r>
            <a:endParaRPr lang="en-US" sz="1250" dirty="0"/>
          </a:p>
          <a:p>
            <a:pPr marL="0" indent="0">
              <a:lnSpc>
                <a:spcPct val="104000"/>
              </a:lnSpc>
              <a:buNone/>
            </a:pPr>
            <a:r>
              <a:rPr lang="en-US" sz="1250">
                <a:solidFill>
                  <a:srgbClr val="CBD9E9"/>
                </a:solidFill>
                <a:latin typeface="Calibri" pitchFamily="34" charset="0"/>
                <a:ea typeface="Calibri" pitchFamily="34" charset="-122"/>
                <a:cs typeface="Calibri" pitchFamily="34" charset="-120"/>
              </a:rPr>
              <a:t> </a:t>
            </a:r>
            <a:endParaRPr lang="en-US" sz="1250" dirty="0"/>
          </a:p>
          <a:p>
            <a:pPr marL="0" indent="0">
              <a:lnSpc>
                <a:spcPct val="104000"/>
              </a:lnSpc>
              <a:buNone/>
            </a:pPr>
            <a:r>
              <a:rPr lang="en-US" sz="1250">
                <a:solidFill>
                  <a:srgbClr val="CBD9E9"/>
                </a:solidFill>
                <a:latin typeface="Calibri" pitchFamily="34" charset="0"/>
                <a:ea typeface="Calibri" pitchFamily="34" charset="-122"/>
                <a:cs typeface="Calibri" pitchFamily="34" charset="-120"/>
              </a:rPr>
              <a:t>On </a:t>
            </a:r>
            <a:r>
              <a:rPr lang="en-US" sz="1250" b="1" dirty="0">
                <a:solidFill>
                  <a:srgbClr val="FFFFFF"/>
                </a:solidFill>
                <a:latin typeface="Calibri" pitchFamily="34" charset="0"/>
                <a:ea typeface="Calibri" pitchFamily="34" charset="-122"/>
                <a:cs typeface="Calibri" pitchFamily="34" charset="-120"/>
              </a:rPr>
              <a:t>$9.83B</a:t>
            </a:r>
            <a:r>
              <a:rPr lang="en-US" sz="1250">
                <a:solidFill>
                  <a:srgbClr val="CBD9E9"/>
                </a:solidFill>
                <a:latin typeface="Calibri" pitchFamily="34" charset="0"/>
                <a:ea typeface="Calibri" pitchFamily="34" charset="-122"/>
                <a:cs typeface="Calibri" pitchFamily="34" charset="-120"/>
              </a:rPr>
              <a:t> of allowed charges, Medicare pays 74.1% — slightly below the national norm, reflecting a routine-visit service mix. It anchors the balanced high-spend core and is the single biggest budget lever.</a:t>
            </a:r>
            <a:endParaRPr lang="en-US" sz="1250" dirty="0"/>
          </a:p>
        </p:txBody>
      </p:sp>
      <p:sp>
        <p:nvSpPr>
          <p:cNvPr id="30" name="comparison card">
            <a:extLst>
              <a:ext uri="{C183D7F6-B498-43B3-948B-1728B52AA6E4}">
                <adec:decorative xmlns:adec="http://schemas.microsoft.com/office/drawing/2017/decorative" val="1"/>
              </a:ext>
            </a:extLst>
          </p:cNvPr>
          <p:cNvSpPr/>
          <p:nvPr/>
        </p:nvSpPr>
        <p:spPr>
          <a:xfrm>
            <a:off x="6812280" y="3429000"/>
            <a:ext cx="4736592" cy="2834640"/>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31" name="Text 29"/>
          <p:cNvSpPr/>
          <p:nvPr/>
        </p:nvSpPr>
        <p:spPr>
          <a:xfrm>
            <a:off x="7086600" y="3648456"/>
            <a:ext cx="4187952" cy="310896"/>
          </a:xfrm>
          <a:prstGeom prst="rect">
            <a:avLst/>
          </a:prstGeom>
          <a:noFill/>
          <a:ln/>
        </p:spPr>
        <p:txBody>
          <a:bodyPr wrap="square" lIns="0" tIns="0" rIns="0" bIns="0" rtlCol="0" anchor="ctr"/>
          <a:lstStyle/>
          <a:p>
            <a:pPr marL="0" indent="0">
              <a:buNone/>
            </a:pPr>
            <a:r>
              <a:rPr lang="en-US" sz="1500" b="1">
                <a:solidFill>
                  <a:srgbClr val="2B2A45"/>
                </a:solidFill>
                <a:latin typeface="Trebuchet MS" pitchFamily="34" charset="0"/>
                <a:ea typeface="Trebuchet MS" pitchFamily="34" charset="-122"/>
                <a:cs typeface="Trebuchet MS" pitchFamily="34" charset="-120"/>
              </a:rPr>
              <a:t>Same spend, opposite shape</a:t>
            </a:r>
            <a:endParaRPr lang="en-US" sz="1500" dirty="0"/>
          </a:p>
        </p:txBody>
      </p:sp>
      <p:sp>
        <p:nvSpPr>
          <p:cNvPr id="32" name="Text 30"/>
          <p:cNvSpPr/>
          <p:nvPr/>
        </p:nvSpPr>
        <p:spPr>
          <a:xfrm>
            <a:off x="7086600" y="3995928"/>
            <a:ext cx="4187952" cy="457200"/>
          </a:xfrm>
          <a:prstGeom prst="rect">
            <a:avLst/>
          </a:prstGeom>
          <a:noFill/>
          <a:ln/>
        </p:spPr>
        <p:txBody>
          <a:bodyPr wrap="square" lIns="0" tIns="0" rIns="0" bIns="0" rtlCol="0" anchor="ctr"/>
          <a:lstStyle/>
          <a:p>
            <a:pPr marL="0" indent="0">
              <a:lnSpc>
                <a:spcPct val="98000"/>
              </a:lnSpc>
              <a:buNone/>
            </a:pPr>
            <a:r>
              <a:rPr lang="en-US" sz="1100" i="1">
                <a:solidFill>
                  <a:srgbClr val="7C7E96"/>
                </a:solidFill>
                <a:latin typeface="Calibri" pitchFamily="34" charset="0"/>
                <a:ea typeface="Calibri" pitchFamily="34" charset="-122"/>
                <a:cs typeface="Calibri" pitchFamily="34" charset="-120"/>
              </a:rPr>
              <a:t>Internal Medicine and Ophthalmology each paid ≈ $7.3B in 2022 — by completely different mechanics.</a:t>
            </a:r>
            <a:endParaRPr lang="en-US" sz="1100" dirty="0"/>
          </a:p>
        </p:txBody>
      </p:sp>
      <p:sp>
        <p:nvSpPr>
          <p:cNvPr id="33" name="Text 31"/>
          <p:cNvSpPr/>
          <p:nvPr/>
        </p:nvSpPr>
        <p:spPr>
          <a:xfrm>
            <a:off x="9144000" y="4562856"/>
            <a:ext cx="1143000" cy="457200"/>
          </a:xfrm>
          <a:prstGeom prst="rect">
            <a:avLst/>
          </a:prstGeom>
          <a:noFill/>
          <a:ln/>
        </p:spPr>
        <p:txBody>
          <a:bodyPr wrap="square" lIns="0" tIns="0" rIns="0" bIns="0" rtlCol="0" anchor="ctr"/>
          <a:lstStyle/>
          <a:p>
            <a:pPr marL="0" indent="0" algn="ctr">
              <a:buNone/>
            </a:pPr>
            <a:r>
              <a:rPr lang="en-US" sz="950" b="1">
                <a:solidFill>
                  <a:srgbClr val="4E79A7"/>
                </a:solidFill>
                <a:latin typeface="Trebuchet MS" pitchFamily="34" charset="0"/>
                <a:ea typeface="Trebuchet MS" pitchFamily="34" charset="-122"/>
                <a:cs typeface="Trebuchet MS" pitchFamily="34" charset="-120"/>
              </a:rPr>
              <a:t>Internal Medicine</a:t>
            </a:r>
            <a:endParaRPr lang="en-US" sz="950" dirty="0"/>
          </a:p>
        </p:txBody>
      </p:sp>
      <p:sp>
        <p:nvSpPr>
          <p:cNvPr id="34" name="Text 32"/>
          <p:cNvSpPr/>
          <p:nvPr/>
        </p:nvSpPr>
        <p:spPr>
          <a:xfrm>
            <a:off x="10332720" y="4562856"/>
            <a:ext cx="1051560" cy="457200"/>
          </a:xfrm>
          <a:prstGeom prst="rect">
            <a:avLst/>
          </a:prstGeom>
          <a:noFill/>
          <a:ln/>
        </p:spPr>
        <p:txBody>
          <a:bodyPr wrap="square" lIns="0" tIns="0" rIns="0" bIns="0" rtlCol="0" anchor="ctr"/>
          <a:lstStyle/>
          <a:p>
            <a:pPr marL="0" indent="0" algn="ctr">
              <a:buNone/>
            </a:pPr>
            <a:r>
              <a:rPr lang="en-US" sz="950" b="1">
                <a:solidFill>
                  <a:srgbClr val="7C7E96"/>
                </a:solidFill>
                <a:latin typeface="Trebuchet MS" pitchFamily="34" charset="0"/>
                <a:ea typeface="Trebuchet MS" pitchFamily="34" charset="-122"/>
                <a:cs typeface="Trebuchet MS" pitchFamily="34" charset="-120"/>
              </a:rPr>
              <a:t>Ophthalmology</a:t>
            </a:r>
            <a:endParaRPr lang="en-US" sz="950" dirty="0"/>
          </a:p>
        </p:txBody>
      </p:sp>
      <p:sp>
        <p:nvSpPr>
          <p:cNvPr id="35" name="row band">
            <a:extLst>
              <a:ext uri="{C183D7F6-B498-43B3-948B-1728B52AA6E4}">
                <adec:decorative xmlns:adec="http://schemas.microsoft.com/office/drawing/2017/decorative" val="1"/>
              </a:ext>
            </a:extLst>
          </p:cNvPr>
          <p:cNvSpPr/>
          <p:nvPr/>
        </p:nvSpPr>
        <p:spPr>
          <a:xfrm>
            <a:off x="6995160" y="5020056"/>
            <a:ext cx="4370832" cy="384048"/>
          </a:xfrm>
          <a:prstGeom prst="rect">
            <a:avLst/>
          </a:prstGeom>
          <a:solidFill>
            <a:srgbClr val="EEF2F6"/>
          </a:solidFill>
          <a:ln/>
        </p:spPr>
        <p:txBody>
          <a:bodyPr/>
          <a:lstStyle/>
          <a:p>
            <a:endParaRPr lang="en-US"/>
          </a:p>
        </p:txBody>
      </p:sp>
      <p:sp>
        <p:nvSpPr>
          <p:cNvPr id="36" name="Text 34"/>
          <p:cNvSpPr/>
          <p:nvPr/>
        </p:nvSpPr>
        <p:spPr>
          <a:xfrm>
            <a:off x="7104888" y="5056632"/>
            <a:ext cx="2011680" cy="310896"/>
          </a:xfrm>
          <a:prstGeom prst="rect">
            <a:avLst/>
          </a:prstGeom>
          <a:noFill/>
          <a:ln/>
        </p:spPr>
        <p:txBody>
          <a:bodyPr wrap="square" lIns="0" tIns="0" rIns="0" bIns="0" rtlCol="0" anchor="ctr"/>
          <a:lstStyle/>
          <a:p>
            <a:pPr marL="0" indent="0">
              <a:buNone/>
            </a:pPr>
            <a:r>
              <a:rPr lang="en-US" sz="1100">
                <a:solidFill>
                  <a:srgbClr val="2B2A45"/>
                </a:solidFill>
                <a:latin typeface="Calibri" pitchFamily="34" charset="0"/>
                <a:ea typeface="Calibri" pitchFamily="34" charset="-122"/>
                <a:cs typeface="Calibri" pitchFamily="34" charset="-120"/>
              </a:rPr>
              <a:t>Allowed services</a:t>
            </a:r>
            <a:endParaRPr lang="en-US" sz="1100" dirty="0"/>
          </a:p>
        </p:txBody>
      </p:sp>
      <p:sp>
        <p:nvSpPr>
          <p:cNvPr id="37" name="Text 35"/>
          <p:cNvSpPr/>
          <p:nvPr/>
        </p:nvSpPr>
        <p:spPr>
          <a:xfrm>
            <a:off x="9144000" y="5056632"/>
            <a:ext cx="1143000" cy="310896"/>
          </a:xfrm>
          <a:prstGeom prst="rect">
            <a:avLst/>
          </a:prstGeom>
          <a:noFill/>
          <a:ln/>
        </p:spPr>
        <p:txBody>
          <a:bodyPr wrap="square" lIns="0" tIns="0" rIns="0" bIns="0" rtlCol="0" anchor="ctr"/>
          <a:lstStyle/>
          <a:p>
            <a:pPr marL="0" indent="0" algn="ctr">
              <a:buNone/>
            </a:pPr>
            <a:r>
              <a:rPr lang="en-US" sz="1150" b="1">
                <a:solidFill>
                  <a:srgbClr val="4E79A7"/>
                </a:solidFill>
                <a:latin typeface="Consolas" pitchFamily="34" charset="0"/>
                <a:ea typeface="Consolas" pitchFamily="34" charset="-122"/>
                <a:cs typeface="Consolas" pitchFamily="34" charset="-120"/>
              </a:rPr>
              <a:t>175.2M</a:t>
            </a:r>
            <a:endParaRPr lang="en-US" sz="1150" dirty="0"/>
          </a:p>
        </p:txBody>
      </p:sp>
      <p:sp>
        <p:nvSpPr>
          <p:cNvPr id="38" name="Text 36"/>
          <p:cNvSpPr/>
          <p:nvPr/>
        </p:nvSpPr>
        <p:spPr>
          <a:xfrm>
            <a:off x="10332720" y="5056632"/>
            <a:ext cx="1051560" cy="310896"/>
          </a:xfrm>
          <a:prstGeom prst="rect">
            <a:avLst/>
          </a:prstGeom>
          <a:noFill/>
          <a:ln/>
        </p:spPr>
        <p:txBody>
          <a:bodyPr wrap="square" lIns="0" tIns="0" rIns="0" bIns="0" rtlCol="0" anchor="ctr"/>
          <a:lstStyle/>
          <a:p>
            <a:pPr marL="0" indent="0" algn="ctr">
              <a:buNone/>
            </a:pPr>
            <a:r>
              <a:rPr lang="en-US" sz="1150" b="1">
                <a:solidFill>
                  <a:srgbClr val="7C7E96"/>
                </a:solidFill>
                <a:latin typeface="Consolas" pitchFamily="34" charset="0"/>
                <a:ea typeface="Consolas" pitchFamily="34" charset="-122"/>
                <a:cs typeface="Consolas" pitchFamily="34" charset="-120"/>
              </a:rPr>
              <a:t>58.5M</a:t>
            </a:r>
            <a:endParaRPr lang="en-US" sz="1150" dirty="0"/>
          </a:p>
        </p:txBody>
      </p:sp>
      <p:sp>
        <p:nvSpPr>
          <p:cNvPr id="39" name="Text 37"/>
          <p:cNvSpPr/>
          <p:nvPr/>
        </p:nvSpPr>
        <p:spPr>
          <a:xfrm>
            <a:off x="7104888" y="5440680"/>
            <a:ext cx="2011680" cy="310896"/>
          </a:xfrm>
          <a:prstGeom prst="rect">
            <a:avLst/>
          </a:prstGeom>
          <a:noFill/>
          <a:ln/>
        </p:spPr>
        <p:txBody>
          <a:bodyPr wrap="square" lIns="0" tIns="0" rIns="0" bIns="0" rtlCol="0" anchor="ctr"/>
          <a:lstStyle/>
          <a:p>
            <a:pPr marL="0" indent="0">
              <a:buNone/>
            </a:pPr>
            <a:r>
              <a:rPr lang="en-US" sz="1100">
                <a:solidFill>
                  <a:srgbClr val="2B2A45"/>
                </a:solidFill>
                <a:latin typeface="Calibri" pitchFamily="34" charset="0"/>
                <a:ea typeface="Calibri" pitchFamily="34" charset="-122"/>
                <a:cs typeface="Calibri" pitchFamily="34" charset="-120"/>
              </a:rPr>
              <a:t>Payment / service</a:t>
            </a:r>
            <a:endParaRPr lang="en-US" sz="1100" dirty="0"/>
          </a:p>
        </p:txBody>
      </p:sp>
      <p:sp>
        <p:nvSpPr>
          <p:cNvPr id="40" name="Text 38"/>
          <p:cNvSpPr/>
          <p:nvPr/>
        </p:nvSpPr>
        <p:spPr>
          <a:xfrm>
            <a:off x="9144000" y="5440680"/>
            <a:ext cx="1143000" cy="310896"/>
          </a:xfrm>
          <a:prstGeom prst="rect">
            <a:avLst/>
          </a:prstGeom>
          <a:noFill/>
          <a:ln/>
        </p:spPr>
        <p:txBody>
          <a:bodyPr wrap="square" lIns="0" tIns="0" rIns="0" bIns="0" rtlCol="0" anchor="ctr"/>
          <a:lstStyle/>
          <a:p>
            <a:pPr marL="0" indent="0" algn="ctr">
              <a:buNone/>
            </a:pPr>
            <a:r>
              <a:rPr lang="en-US" sz="1150" b="1">
                <a:solidFill>
                  <a:srgbClr val="4E79A7"/>
                </a:solidFill>
                <a:latin typeface="Consolas" pitchFamily="34" charset="0"/>
                <a:ea typeface="Consolas" pitchFamily="34" charset="-122"/>
                <a:cs typeface="Consolas" pitchFamily="34" charset="-120"/>
              </a:rPr>
              <a:t>$41.59</a:t>
            </a:r>
            <a:endParaRPr lang="en-US" sz="1150" dirty="0"/>
          </a:p>
        </p:txBody>
      </p:sp>
      <p:sp>
        <p:nvSpPr>
          <p:cNvPr id="41" name="Text 39"/>
          <p:cNvSpPr/>
          <p:nvPr/>
        </p:nvSpPr>
        <p:spPr>
          <a:xfrm>
            <a:off x="10332720" y="5440680"/>
            <a:ext cx="1051560" cy="310896"/>
          </a:xfrm>
          <a:prstGeom prst="rect">
            <a:avLst/>
          </a:prstGeom>
          <a:noFill/>
          <a:ln/>
        </p:spPr>
        <p:txBody>
          <a:bodyPr wrap="square" lIns="0" tIns="0" rIns="0" bIns="0" rtlCol="0" anchor="ctr"/>
          <a:lstStyle/>
          <a:p>
            <a:pPr marL="0" indent="0" algn="ctr">
              <a:buNone/>
            </a:pPr>
            <a:r>
              <a:rPr lang="en-US" sz="1150" b="1">
                <a:solidFill>
                  <a:srgbClr val="7C7E96"/>
                </a:solidFill>
                <a:latin typeface="Consolas" pitchFamily="34" charset="0"/>
                <a:ea typeface="Consolas" pitchFamily="34" charset="-122"/>
                <a:cs typeface="Consolas" pitchFamily="34" charset="-120"/>
              </a:rPr>
              <a:t>$123.92</a:t>
            </a:r>
            <a:endParaRPr lang="en-US" sz="1150" dirty="0"/>
          </a:p>
        </p:txBody>
      </p:sp>
      <p:sp>
        <p:nvSpPr>
          <p:cNvPr id="42" name="row band">
            <a:extLst>
              <a:ext uri="{C183D7F6-B498-43B3-948B-1728B52AA6E4}">
                <adec:decorative xmlns:adec="http://schemas.microsoft.com/office/drawing/2017/decorative" val="1"/>
              </a:ext>
            </a:extLst>
          </p:cNvPr>
          <p:cNvSpPr/>
          <p:nvPr/>
        </p:nvSpPr>
        <p:spPr>
          <a:xfrm>
            <a:off x="6995160" y="5788152"/>
            <a:ext cx="4370832" cy="384048"/>
          </a:xfrm>
          <a:prstGeom prst="rect">
            <a:avLst/>
          </a:prstGeom>
          <a:solidFill>
            <a:srgbClr val="EEF2F6"/>
          </a:solidFill>
          <a:ln/>
        </p:spPr>
        <p:txBody>
          <a:bodyPr/>
          <a:lstStyle/>
          <a:p>
            <a:endParaRPr lang="en-US"/>
          </a:p>
        </p:txBody>
      </p:sp>
      <p:sp>
        <p:nvSpPr>
          <p:cNvPr id="43" name="Text 41"/>
          <p:cNvSpPr/>
          <p:nvPr/>
        </p:nvSpPr>
        <p:spPr>
          <a:xfrm>
            <a:off x="7104888" y="5824728"/>
            <a:ext cx="2011680" cy="310896"/>
          </a:xfrm>
          <a:prstGeom prst="rect">
            <a:avLst/>
          </a:prstGeom>
          <a:noFill/>
          <a:ln/>
        </p:spPr>
        <p:txBody>
          <a:bodyPr wrap="square" lIns="0" tIns="0" rIns="0" bIns="0" rtlCol="0" anchor="ctr"/>
          <a:lstStyle/>
          <a:p>
            <a:pPr marL="0" indent="0">
              <a:buNone/>
            </a:pPr>
            <a:r>
              <a:rPr lang="en-US" sz="1100">
                <a:solidFill>
                  <a:srgbClr val="2B2A45"/>
                </a:solidFill>
                <a:latin typeface="Calibri" pitchFamily="34" charset="0"/>
                <a:ea typeface="Calibri" pitchFamily="34" charset="-122"/>
                <a:cs typeface="Calibri" pitchFamily="34" charset="-120"/>
              </a:rPr>
              <a:t>Archetype</a:t>
            </a:r>
            <a:endParaRPr lang="en-US" sz="1100" dirty="0"/>
          </a:p>
        </p:txBody>
      </p:sp>
      <p:sp>
        <p:nvSpPr>
          <p:cNvPr id="44" name="Text 42"/>
          <p:cNvSpPr/>
          <p:nvPr/>
        </p:nvSpPr>
        <p:spPr>
          <a:xfrm>
            <a:off x="9144000" y="5824728"/>
            <a:ext cx="1143000" cy="310896"/>
          </a:xfrm>
          <a:prstGeom prst="rect">
            <a:avLst/>
          </a:prstGeom>
          <a:noFill/>
          <a:ln/>
        </p:spPr>
        <p:txBody>
          <a:bodyPr wrap="square" lIns="0" tIns="0" rIns="0" bIns="0" rtlCol="0" anchor="ctr"/>
          <a:lstStyle/>
          <a:p>
            <a:pPr marL="0" indent="0" algn="ctr">
              <a:buNone/>
            </a:pPr>
            <a:r>
              <a:rPr lang="en-US" sz="1150" b="1">
                <a:solidFill>
                  <a:srgbClr val="4E79A7"/>
                </a:solidFill>
                <a:latin typeface="Consolas" pitchFamily="34" charset="0"/>
                <a:ea typeface="Consolas" pitchFamily="34" charset="-122"/>
                <a:cs typeface="Consolas" pitchFamily="34" charset="-120"/>
              </a:rPr>
              <a:t>Volume</a:t>
            </a:r>
            <a:endParaRPr lang="en-US" sz="1150" dirty="0"/>
          </a:p>
        </p:txBody>
      </p:sp>
      <p:sp>
        <p:nvSpPr>
          <p:cNvPr id="45" name="Text 43"/>
          <p:cNvSpPr/>
          <p:nvPr/>
        </p:nvSpPr>
        <p:spPr>
          <a:xfrm>
            <a:off x="10332720" y="5824728"/>
            <a:ext cx="1051560" cy="310896"/>
          </a:xfrm>
          <a:prstGeom prst="rect">
            <a:avLst/>
          </a:prstGeom>
          <a:noFill/>
          <a:ln/>
        </p:spPr>
        <p:txBody>
          <a:bodyPr wrap="square" lIns="0" tIns="0" rIns="0" bIns="0" rtlCol="0" anchor="ctr"/>
          <a:lstStyle/>
          <a:p>
            <a:pPr marL="0" indent="0" algn="ctr">
              <a:buNone/>
            </a:pPr>
            <a:r>
              <a:rPr lang="en-US" sz="1150" b="1">
                <a:solidFill>
                  <a:srgbClr val="7C7E96"/>
                </a:solidFill>
                <a:latin typeface="Consolas" pitchFamily="34" charset="0"/>
                <a:ea typeface="Consolas" pitchFamily="34" charset="-122"/>
                <a:cs typeface="Consolas" pitchFamily="34" charset="-120"/>
              </a:rPr>
              <a:t>Intensity</a:t>
            </a:r>
            <a:endParaRPr lang="en-US" sz="1150" dirty="0"/>
          </a:p>
        </p:txBody>
      </p:sp>
      <p:sp>
        <p:nvSpPr>
          <p:cNvPr id="46" name="Text 44"/>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a:solidFill>
                  <a:srgbClr val="7C7E96"/>
                </a:solidFill>
                <a:latin typeface="Trebuchet MS" pitchFamily="34" charset="0"/>
                <a:ea typeface="Trebuchet MS" pitchFamily="34" charset="-122"/>
                <a:cs typeface="Trebuchet MS" pitchFamily="34" charset="-120"/>
              </a:rPr>
              <a:t>CMS MEDICARE PART B  ·  CY 2022–2024</a:t>
            </a:r>
            <a:endParaRPr lang="en-US" sz="900" dirty="0"/>
          </a:p>
        </p:txBody>
      </p:sp>
      <p:sp>
        <p:nvSpPr>
          <p:cNvPr id="47" name="Text 45"/>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a:solidFill>
                  <a:srgbClr val="4E79A7"/>
                </a:solidFill>
                <a:latin typeface="Consolas" pitchFamily="34" charset="0"/>
                <a:ea typeface="Consolas" pitchFamily="34" charset="-122"/>
                <a:cs typeface="Consolas"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40080" y="406908"/>
            <a:ext cx="201168" cy="128016"/>
          </a:xfrm>
          <a:prstGeom prst="rect">
            <a:avLst/>
          </a:prstGeom>
          <a:solidFill>
            <a:srgbClr val="6BA5D7"/>
          </a:solidFill>
          <a:ln/>
        </p:spPr>
        <p:txBody>
          <a:bodyPr/>
          <a:lstStyle/>
          <a:p>
            <a:endParaRPr lang="en-US"/>
          </a:p>
        </p:txBody>
      </p:sp>
      <p:sp>
        <p:nvSpPr>
          <p:cNvPr id="3" name="Text 1"/>
          <p:cNvSpPr/>
          <p:nvPr/>
        </p:nvSpPr>
        <p:spPr>
          <a:xfrm>
            <a:off x="932688" y="310896"/>
            <a:ext cx="8229600" cy="310896"/>
          </a:xfrm>
          <a:prstGeom prst="rect">
            <a:avLst/>
          </a:prstGeom>
          <a:noFill/>
          <a:ln/>
        </p:spPr>
        <p:txBody>
          <a:bodyPr wrap="square" lIns="0" tIns="0" rIns="0" bIns="0" rtlCol="0" anchor="ctr"/>
          <a:lstStyle/>
          <a:p>
            <a:pPr marL="0" indent="0" algn="l">
              <a:buNone/>
            </a:pPr>
            <a:r>
              <a:rPr lang="en-US" sz="1250" b="1" kern="0" spc="300">
                <a:solidFill>
                  <a:srgbClr val="4E79A7"/>
                </a:solidFill>
                <a:latin typeface="Trebuchet MS" pitchFamily="34" charset="0"/>
                <a:ea typeface="Trebuchet MS" pitchFamily="34" charset="-122"/>
                <a:cs typeface="Trebuchet MS" pitchFamily="34" charset="-120"/>
              </a:rPr>
              <a:t>INTERPRETATION · COST DRIVERS</a:t>
            </a:r>
            <a:endParaRPr lang="en-US" sz="1250" dirty="0"/>
          </a:p>
        </p:txBody>
      </p:sp>
      <p:sp>
        <p:nvSpPr>
          <p:cNvPr id="4" name="Text 0"/>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2700" b="1">
                <a:solidFill>
                  <a:srgbClr val="2B2A45"/>
                </a:solidFill>
                <a:latin typeface="Trebuchet MS" pitchFamily="34" charset="0"/>
                <a:ea typeface="Trebuchet MS" pitchFamily="34" charset="-122"/>
                <a:cs typeface="Trebuchet MS" pitchFamily="34" charset="-120"/>
              </a:rPr>
              <a:t>What Drives the Top of the Ranking</a:t>
            </a:r>
            <a:endParaRPr lang="en-US" sz="2700" dirty="0"/>
          </a:p>
        </p:txBody>
      </p:sp>
      <p:sp>
        <p:nvSpPr>
          <p:cNvPr id="5" name="card">
            <a:extLst>
              <a:ext uri="{C183D7F6-B498-43B3-948B-1728B52AA6E4}">
                <adec:decorative xmlns:adec="http://schemas.microsoft.com/office/drawing/2017/decorative" val="1"/>
              </a:ext>
            </a:extLst>
          </p:cNvPr>
          <p:cNvSpPr/>
          <p:nvPr/>
        </p:nvSpPr>
        <p:spPr>
          <a:xfrm>
            <a:off x="640080" y="1554480"/>
            <a:ext cx="5486400" cy="2212848"/>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6" name="Text 4">
            <a:extLst>
              <a:ext uri="{C183D7F6-B498-43B3-948B-1728B52AA6E4}">
                <adec:decorative xmlns:adec="http://schemas.microsoft.com/office/drawing/2017/decorative" val="1"/>
              </a:ext>
            </a:extLst>
          </p:cNvPr>
          <p:cNvSpPr/>
          <p:nvPr/>
        </p:nvSpPr>
        <p:spPr>
          <a:xfrm>
            <a:off x="896112" y="1755648"/>
            <a:ext cx="5047488" cy="457200"/>
          </a:xfrm>
          <a:prstGeom prst="rect">
            <a:avLst/>
          </a:prstGeom>
          <a:noFill/>
          <a:ln/>
        </p:spPr>
        <p:txBody>
          <a:bodyPr wrap="square" lIns="0" tIns="0" rIns="0" bIns="0" rtlCol="0" anchor="ctr"/>
          <a:lstStyle/>
          <a:p>
            <a:pPr marL="0" indent="0" algn="l">
              <a:buNone/>
            </a:pPr>
            <a:r>
              <a:rPr lang="en-US" sz="1500" b="1">
                <a:solidFill>
                  <a:srgbClr val="2B2A45"/>
                </a:solidFill>
                <a:latin typeface="Trebuchet MS" pitchFamily="34" charset="0"/>
                <a:ea typeface="Trebuchet MS" pitchFamily="34" charset="-122"/>
                <a:cs typeface="Trebuchet MS" pitchFamily="34" charset="-120"/>
              </a:rPr>
              <a:t>Primary care volume</a:t>
            </a:r>
            <a:endParaRPr lang="en-US" sz="1500" dirty="0"/>
          </a:p>
        </p:txBody>
      </p:sp>
      <p:sp>
        <p:nvSpPr>
          <p:cNvPr id="7" name="Text 5"/>
          <p:cNvSpPr/>
          <p:nvPr/>
        </p:nvSpPr>
        <p:spPr>
          <a:xfrm>
            <a:off x="896112" y="2267712"/>
            <a:ext cx="4983480" cy="1316736"/>
          </a:xfrm>
          <a:prstGeom prst="rect">
            <a:avLst/>
          </a:prstGeom>
          <a:noFill/>
          <a:ln/>
        </p:spPr>
        <p:txBody>
          <a:bodyPr wrap="square" lIns="0" tIns="0" rIns="0" bIns="0" rtlCol="0" anchor="t"/>
          <a:lstStyle/>
          <a:p>
            <a:pPr marL="0" indent="0" algn="l">
              <a:lnSpc>
                <a:spcPct val="102000"/>
              </a:lnSpc>
              <a:buNone/>
            </a:pPr>
            <a:r>
              <a:rPr lang="en-US" sz="1250">
                <a:solidFill>
                  <a:srgbClr val="7C7E96"/>
                </a:solidFill>
                <a:latin typeface="Calibri" pitchFamily="34" charset="0"/>
                <a:ea typeface="Calibri" pitchFamily="34" charset="-122"/>
                <a:cs typeface="Calibri" pitchFamily="34" charset="-120"/>
              </a:rPr>
              <a:t>Internal Medicine, Family Practice, and Nurse Practitioners bill enormous service counts. Modest unit prices × huge volume = billions in aggregate spend.</a:t>
            </a:r>
            <a:endParaRPr lang="en-US" sz="1250" dirty="0"/>
          </a:p>
        </p:txBody>
      </p:sp>
      <p:sp>
        <p:nvSpPr>
          <p:cNvPr id="8" name="card">
            <a:extLst>
              <a:ext uri="{C183D7F6-B498-43B3-948B-1728B52AA6E4}">
                <adec:decorative xmlns:adec="http://schemas.microsoft.com/office/drawing/2017/decorative" val="1"/>
              </a:ext>
            </a:extLst>
          </p:cNvPr>
          <p:cNvSpPr/>
          <p:nvPr/>
        </p:nvSpPr>
        <p:spPr>
          <a:xfrm>
            <a:off x="6455664" y="1554480"/>
            <a:ext cx="5486400" cy="2212848"/>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9" name="Text 7">
            <a:extLst>
              <a:ext uri="{C183D7F6-B498-43B3-948B-1728B52AA6E4}">
                <adec:decorative xmlns:adec="http://schemas.microsoft.com/office/drawing/2017/decorative" val="1"/>
              </a:ext>
            </a:extLst>
          </p:cNvPr>
          <p:cNvSpPr/>
          <p:nvPr/>
        </p:nvSpPr>
        <p:spPr>
          <a:xfrm>
            <a:off x="6711696" y="1755648"/>
            <a:ext cx="5047488" cy="457200"/>
          </a:xfrm>
          <a:prstGeom prst="rect">
            <a:avLst/>
          </a:prstGeom>
          <a:noFill/>
          <a:ln/>
        </p:spPr>
        <p:txBody>
          <a:bodyPr wrap="square" lIns="0" tIns="0" rIns="0" bIns="0" rtlCol="0" anchor="ctr"/>
          <a:lstStyle/>
          <a:p>
            <a:pPr marL="0" indent="0" algn="l">
              <a:buNone/>
            </a:pPr>
            <a:r>
              <a:rPr lang="en-US" sz="1500" b="1">
                <a:solidFill>
                  <a:srgbClr val="2B2A45"/>
                </a:solidFill>
                <a:latin typeface="Trebuchet MS" pitchFamily="34" charset="0"/>
                <a:ea typeface="Trebuchet MS" pitchFamily="34" charset="-122"/>
                <a:cs typeface="Trebuchet MS" pitchFamily="34" charset="-120"/>
              </a:rPr>
              <a:t>Drug-heavy specialties</a:t>
            </a:r>
            <a:endParaRPr lang="en-US" sz="1500" dirty="0"/>
          </a:p>
        </p:txBody>
      </p:sp>
      <p:sp>
        <p:nvSpPr>
          <p:cNvPr id="10" name="Text 8"/>
          <p:cNvSpPr/>
          <p:nvPr/>
        </p:nvSpPr>
        <p:spPr>
          <a:xfrm>
            <a:off x="6711696" y="2267712"/>
            <a:ext cx="4983480" cy="1316736"/>
          </a:xfrm>
          <a:prstGeom prst="rect">
            <a:avLst/>
          </a:prstGeom>
          <a:noFill/>
          <a:ln/>
        </p:spPr>
        <p:txBody>
          <a:bodyPr wrap="square" lIns="0" tIns="0" rIns="0" bIns="0" rtlCol="0" anchor="t"/>
          <a:lstStyle/>
          <a:p>
            <a:pPr marL="0" indent="0" algn="l">
              <a:lnSpc>
                <a:spcPct val="102000"/>
              </a:lnSpc>
              <a:buNone/>
            </a:pPr>
            <a:r>
              <a:rPr lang="en-US" sz="1250">
                <a:solidFill>
                  <a:srgbClr val="7C7E96"/>
                </a:solidFill>
                <a:latin typeface="Calibri" pitchFamily="34" charset="0"/>
                <a:ea typeface="Calibri" pitchFamily="34" charset="-122"/>
                <a:cs typeface="Calibri" pitchFamily="34" charset="-120"/>
              </a:rPr>
              <a:t>Hematology/Oncology and Ophthalmology pair procedures with high-cost drugs and injectables, lifting allowed charges well beyond a typical visit.</a:t>
            </a:r>
            <a:endParaRPr lang="en-US" sz="1250" dirty="0"/>
          </a:p>
        </p:txBody>
      </p:sp>
      <p:sp>
        <p:nvSpPr>
          <p:cNvPr id="11" name="card">
            <a:extLst>
              <a:ext uri="{C183D7F6-B498-43B3-948B-1728B52AA6E4}">
                <adec:decorative xmlns:adec="http://schemas.microsoft.com/office/drawing/2017/decorative" val="1"/>
              </a:ext>
            </a:extLst>
          </p:cNvPr>
          <p:cNvSpPr/>
          <p:nvPr/>
        </p:nvSpPr>
        <p:spPr>
          <a:xfrm>
            <a:off x="640080" y="4041648"/>
            <a:ext cx="5486400" cy="2212848"/>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12" name="Text 10"/>
          <p:cNvSpPr/>
          <p:nvPr/>
        </p:nvSpPr>
        <p:spPr>
          <a:xfrm>
            <a:off x="896112" y="4242816"/>
            <a:ext cx="5047488" cy="457200"/>
          </a:xfrm>
          <a:prstGeom prst="rect">
            <a:avLst/>
          </a:prstGeom>
          <a:noFill/>
          <a:ln/>
        </p:spPr>
        <p:txBody>
          <a:bodyPr wrap="square" lIns="0" tIns="0" rIns="0" bIns="0" rtlCol="0" anchor="ctr"/>
          <a:lstStyle/>
          <a:p>
            <a:pPr marL="0" indent="0" algn="l">
              <a:buNone/>
            </a:pPr>
            <a:r>
              <a:rPr lang="en-US" sz="1500" b="1">
                <a:solidFill>
                  <a:srgbClr val="2B2A45"/>
                </a:solidFill>
                <a:latin typeface="Trebuchet MS" pitchFamily="34" charset="0"/>
                <a:ea typeface="Trebuchet MS" pitchFamily="34" charset="-122"/>
                <a:cs typeface="Trebuchet MS" pitchFamily="34" charset="-120"/>
              </a:rPr>
              <a:t>Diagnostic infrastructure</a:t>
            </a:r>
            <a:endParaRPr lang="en-US" sz="1500" dirty="0"/>
          </a:p>
        </p:txBody>
      </p:sp>
      <p:sp>
        <p:nvSpPr>
          <p:cNvPr id="13" name="Text 11">
            <a:extLst>
              <a:ext uri="{C183D7F6-B498-43B3-948B-1728B52AA6E4}">
                <adec:decorative xmlns:adec="http://schemas.microsoft.com/office/drawing/2017/decorative" val="1"/>
              </a:ext>
            </a:extLst>
          </p:cNvPr>
          <p:cNvSpPr/>
          <p:nvPr/>
        </p:nvSpPr>
        <p:spPr>
          <a:xfrm>
            <a:off x="896112" y="4754880"/>
            <a:ext cx="4983480" cy="1316736"/>
          </a:xfrm>
          <a:prstGeom prst="rect">
            <a:avLst/>
          </a:prstGeom>
          <a:noFill/>
          <a:ln/>
        </p:spPr>
        <p:txBody>
          <a:bodyPr wrap="square" lIns="0" tIns="0" rIns="0" bIns="0" rtlCol="0" anchor="t"/>
          <a:lstStyle/>
          <a:p>
            <a:pPr marL="0" indent="0" algn="l">
              <a:lnSpc>
                <a:spcPct val="102000"/>
              </a:lnSpc>
              <a:buNone/>
            </a:pPr>
            <a:r>
              <a:rPr lang="en-US" sz="1250">
                <a:solidFill>
                  <a:srgbClr val="7C7E96"/>
                </a:solidFill>
                <a:latin typeface="Calibri" pitchFamily="34" charset="0"/>
                <a:ea typeface="Calibri" pitchFamily="34" charset="-122"/>
                <a:cs typeface="Calibri" pitchFamily="34" charset="-120"/>
              </a:rPr>
              <a:t>Clinical Laboratory and Diagnostic Radiology process massive test and imaging volumes — commodity pricing, but relentless throughput.</a:t>
            </a:r>
            <a:endParaRPr lang="en-US" sz="1250" dirty="0"/>
          </a:p>
        </p:txBody>
      </p:sp>
      <p:sp>
        <p:nvSpPr>
          <p:cNvPr id="14" name="card">
            <a:extLst>
              <a:ext uri="{C183D7F6-B498-43B3-948B-1728B52AA6E4}">
                <adec:decorative xmlns:adec="http://schemas.microsoft.com/office/drawing/2017/decorative" val="1"/>
              </a:ext>
            </a:extLst>
          </p:cNvPr>
          <p:cNvSpPr/>
          <p:nvPr/>
        </p:nvSpPr>
        <p:spPr>
          <a:xfrm>
            <a:off x="6455664" y="4041648"/>
            <a:ext cx="5486400" cy="2212848"/>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15" name="Text 13"/>
          <p:cNvSpPr/>
          <p:nvPr/>
        </p:nvSpPr>
        <p:spPr>
          <a:xfrm>
            <a:off x="6711696" y="4242816"/>
            <a:ext cx="5047488" cy="457200"/>
          </a:xfrm>
          <a:prstGeom prst="rect">
            <a:avLst/>
          </a:prstGeom>
          <a:noFill/>
          <a:ln/>
        </p:spPr>
        <p:txBody>
          <a:bodyPr wrap="square" lIns="0" tIns="0" rIns="0" bIns="0" rtlCol="0" anchor="ctr"/>
          <a:lstStyle/>
          <a:p>
            <a:pPr marL="0" indent="0" algn="l">
              <a:buNone/>
            </a:pPr>
            <a:r>
              <a:rPr lang="en-US" sz="1500" b="1">
                <a:solidFill>
                  <a:srgbClr val="2B2A45"/>
                </a:solidFill>
                <a:latin typeface="Trebuchet MS" pitchFamily="34" charset="0"/>
                <a:ea typeface="Trebuchet MS" pitchFamily="34" charset="-122"/>
                <a:cs typeface="Trebuchet MS" pitchFamily="34" charset="-120"/>
              </a:rPr>
              <a:t>Access &amp; supplier channels</a:t>
            </a:r>
            <a:endParaRPr lang="en-US" sz="1500" dirty="0"/>
          </a:p>
        </p:txBody>
      </p:sp>
      <p:sp>
        <p:nvSpPr>
          <p:cNvPr id="16" name="Text 14"/>
          <p:cNvSpPr/>
          <p:nvPr/>
        </p:nvSpPr>
        <p:spPr>
          <a:xfrm>
            <a:off x="6711696" y="4754880"/>
            <a:ext cx="4983480" cy="1316736"/>
          </a:xfrm>
          <a:prstGeom prst="rect">
            <a:avLst/>
          </a:prstGeom>
          <a:noFill/>
          <a:ln/>
        </p:spPr>
        <p:txBody>
          <a:bodyPr wrap="square" lIns="0" tIns="0" rIns="0" bIns="0" rtlCol="0" anchor="t"/>
          <a:lstStyle/>
          <a:p>
            <a:pPr marL="0" indent="0" algn="l">
              <a:lnSpc>
                <a:spcPct val="102000"/>
              </a:lnSpc>
              <a:buNone/>
            </a:pPr>
            <a:r>
              <a:rPr lang="en-US" sz="1250">
                <a:solidFill>
                  <a:srgbClr val="7C7E96"/>
                </a:solidFill>
                <a:latin typeface="Calibri" pitchFamily="34" charset="0"/>
                <a:ea typeface="Calibri" pitchFamily="34" charset="-122"/>
                <a:cs typeface="Calibri" pitchFamily="34" charset="-120"/>
              </a:rPr>
              <a:t>Ambulatory Surgical Centers, ambulance services, and medical-supply companies convert facility and equipment demand into large payment totals.</a:t>
            </a:r>
            <a:endParaRPr lang="en-US" sz="1250" dirty="0"/>
          </a:p>
        </p:txBody>
      </p:sp>
      <p:sp>
        <p:nvSpPr>
          <p:cNvPr id="17" name="Text 15"/>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a:solidFill>
                  <a:srgbClr val="7C7E96"/>
                </a:solidFill>
                <a:latin typeface="Trebuchet MS" pitchFamily="34" charset="0"/>
                <a:ea typeface="Trebuchet MS" pitchFamily="34" charset="-122"/>
                <a:cs typeface="Trebuchet MS" pitchFamily="34" charset="-120"/>
              </a:rPr>
              <a:t>CMS MEDICARE PART B  ·  CY 2022–2024</a:t>
            </a:r>
            <a:endParaRPr lang="en-US" sz="900" dirty="0"/>
          </a:p>
        </p:txBody>
      </p:sp>
      <p:sp>
        <p:nvSpPr>
          <p:cNvPr id="18" name="Text 16"/>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a:solidFill>
                  <a:srgbClr val="4E79A7"/>
                </a:solidFill>
                <a:latin typeface="Consolas" pitchFamily="34" charset="0"/>
                <a:ea typeface="Consolas" pitchFamily="34" charset="-122"/>
                <a:cs typeface="Consolas"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40080" y="406908"/>
            <a:ext cx="201168" cy="128016"/>
          </a:xfrm>
          <a:prstGeom prst="rect">
            <a:avLst/>
          </a:prstGeom>
          <a:solidFill>
            <a:srgbClr val="6BA5D7"/>
          </a:solidFill>
          <a:ln/>
        </p:spPr>
        <p:txBody>
          <a:bodyPr/>
          <a:lstStyle/>
          <a:p>
            <a:endParaRPr lang="en-US"/>
          </a:p>
        </p:txBody>
      </p:sp>
      <p:sp>
        <p:nvSpPr>
          <p:cNvPr id="3" name="Text 1"/>
          <p:cNvSpPr/>
          <p:nvPr/>
        </p:nvSpPr>
        <p:spPr>
          <a:xfrm>
            <a:off x="932688" y="310896"/>
            <a:ext cx="8229600" cy="310896"/>
          </a:xfrm>
          <a:prstGeom prst="rect">
            <a:avLst/>
          </a:prstGeom>
          <a:noFill/>
          <a:ln/>
        </p:spPr>
        <p:txBody>
          <a:bodyPr wrap="square" lIns="0" tIns="0" rIns="0" bIns="0" rtlCol="0" anchor="ctr"/>
          <a:lstStyle/>
          <a:p>
            <a:pPr marL="0" indent="0" algn="l">
              <a:buNone/>
            </a:pPr>
            <a:r>
              <a:rPr lang="en-US" sz="1250" b="1" kern="0" spc="300">
                <a:solidFill>
                  <a:srgbClr val="4E79A7"/>
                </a:solidFill>
                <a:latin typeface="Trebuchet MS" pitchFamily="34" charset="0"/>
                <a:ea typeface="Trebuchet MS" pitchFamily="34" charset="-122"/>
                <a:cs typeface="Trebuchet MS" pitchFamily="34" charset="-120"/>
              </a:rPr>
              <a:t>INTERPRETATION · TWO FACES OF SPEND</a:t>
            </a:r>
            <a:endParaRPr lang="en-US" sz="1250" dirty="0"/>
          </a:p>
        </p:txBody>
      </p:sp>
      <p:sp>
        <p:nvSpPr>
          <p:cNvPr id="4" name="Text 0"/>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2700" b="1">
                <a:solidFill>
                  <a:srgbClr val="2B2A45"/>
                </a:solidFill>
                <a:latin typeface="Trebuchet MS" pitchFamily="34" charset="0"/>
                <a:ea typeface="Trebuchet MS" pitchFamily="34" charset="-122"/>
                <a:cs typeface="Trebuchet MS" pitchFamily="34" charset="-120"/>
              </a:rPr>
              <a:t>High Volume vs. High Intensity</a:t>
            </a:r>
            <a:endParaRPr lang="en-US" sz="2700" dirty="0"/>
          </a:p>
        </p:txBody>
      </p:sp>
      <p:sp>
        <p:nvSpPr>
          <p:cNvPr id="5" name="panel">
            <a:extLst>
              <a:ext uri="{C183D7F6-B498-43B3-948B-1728B52AA6E4}">
                <adec:decorative xmlns:adec="http://schemas.microsoft.com/office/drawing/2017/decorative" val="1"/>
              </a:ext>
            </a:extLst>
          </p:cNvPr>
          <p:cNvSpPr/>
          <p:nvPr/>
        </p:nvSpPr>
        <p:spPr>
          <a:xfrm>
            <a:off x="640080" y="1600200"/>
            <a:ext cx="5440680" cy="4526280"/>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6" name="panel head">
            <a:extLst>
              <a:ext uri="{C183D7F6-B498-43B3-948B-1728B52AA6E4}">
                <adec:decorative xmlns:adec="http://schemas.microsoft.com/office/drawing/2017/decorative" val="1"/>
              </a:ext>
            </a:extLst>
          </p:cNvPr>
          <p:cNvSpPr/>
          <p:nvPr/>
        </p:nvSpPr>
        <p:spPr>
          <a:xfrm>
            <a:off x="640080" y="1600200"/>
            <a:ext cx="5440680" cy="566928"/>
          </a:xfrm>
          <a:prstGeom prst="rect">
            <a:avLst/>
          </a:prstGeom>
          <a:solidFill>
            <a:srgbClr val="5B87B8"/>
          </a:solidFill>
          <a:ln/>
        </p:spPr>
        <p:txBody>
          <a:bodyPr/>
          <a:lstStyle/>
          <a:p>
            <a:endParaRPr lang="en-US"/>
          </a:p>
        </p:txBody>
      </p:sp>
      <p:sp>
        <p:nvSpPr>
          <p:cNvPr id="7" name="Text 5">
            <a:extLst>
              <a:ext uri="{C183D7F6-B498-43B3-948B-1728B52AA6E4}">
                <adec:decorative xmlns:adec="http://schemas.microsoft.com/office/drawing/2017/decorative" val="1"/>
              </a:ext>
            </a:extLst>
          </p:cNvPr>
          <p:cNvSpPr/>
          <p:nvPr/>
        </p:nvSpPr>
        <p:spPr>
          <a:xfrm>
            <a:off x="868680" y="1600200"/>
            <a:ext cx="4983480" cy="566928"/>
          </a:xfrm>
          <a:prstGeom prst="rect">
            <a:avLst/>
          </a:prstGeom>
          <a:noFill/>
          <a:ln/>
        </p:spPr>
        <p:txBody>
          <a:bodyPr wrap="square" lIns="0" tIns="0" rIns="0" bIns="0" rtlCol="0" anchor="ctr"/>
          <a:lstStyle/>
          <a:p>
            <a:pPr marL="0" indent="0">
              <a:buNone/>
            </a:pPr>
            <a:r>
              <a:rPr lang="en-US" sz="1250" b="1" kern="0" spc="100" dirty="0">
                <a:solidFill>
                  <a:srgbClr val="FFFFFF"/>
                </a:solidFill>
                <a:latin typeface="Trebuchet MS" pitchFamily="34" charset="0"/>
                <a:ea typeface="Trebuchet MS" pitchFamily="34" charset="-122"/>
                <a:cs typeface="Trebuchet MS" pitchFamily="34" charset="-120"/>
              </a:rPr>
              <a:t>VOLUME LEADERS  ·  2022 Allowed Services</a:t>
            </a:r>
            <a:endParaRPr lang="en-US" sz="1250" dirty="0"/>
          </a:p>
        </p:txBody>
      </p:sp>
      <p:sp>
        <p:nvSpPr>
          <p:cNvPr id="8" name="Text 6"/>
          <p:cNvSpPr/>
          <p:nvPr/>
        </p:nvSpPr>
        <p:spPr>
          <a:xfrm>
            <a:off x="868680" y="2377440"/>
            <a:ext cx="2743200" cy="640080"/>
          </a:xfrm>
          <a:prstGeom prst="rect">
            <a:avLst/>
          </a:prstGeom>
          <a:noFill/>
          <a:ln/>
        </p:spPr>
        <p:txBody>
          <a:bodyPr wrap="square" lIns="0" tIns="0" rIns="0" bIns="0" rtlCol="0" anchor="ctr"/>
          <a:lstStyle/>
          <a:p>
            <a:pPr marL="0" indent="0">
              <a:buNone/>
            </a:pPr>
            <a:r>
              <a:rPr lang="en-US" sz="1300" b="1">
                <a:solidFill>
                  <a:srgbClr val="2B2A45"/>
                </a:solidFill>
                <a:latin typeface="Calibri" pitchFamily="34" charset="0"/>
                <a:ea typeface="Calibri" pitchFamily="34" charset="-122"/>
                <a:cs typeface="Calibri" pitchFamily="34" charset="-120"/>
              </a:rPr>
              <a:t>Pharmacy</a:t>
            </a:r>
            <a:endParaRPr lang="en-US" sz="1300" dirty="0"/>
          </a:p>
        </p:txBody>
      </p:sp>
      <p:sp>
        <p:nvSpPr>
          <p:cNvPr id="9" name="Text 7"/>
          <p:cNvSpPr/>
          <p:nvPr/>
        </p:nvSpPr>
        <p:spPr>
          <a:xfrm>
            <a:off x="3520440" y="2377440"/>
            <a:ext cx="1234440" cy="640080"/>
          </a:xfrm>
          <a:prstGeom prst="rect">
            <a:avLst/>
          </a:prstGeom>
          <a:noFill/>
          <a:ln/>
        </p:spPr>
        <p:txBody>
          <a:bodyPr wrap="square" lIns="0" tIns="0" rIns="0" bIns="0" rtlCol="0" anchor="ctr"/>
          <a:lstStyle/>
          <a:p>
            <a:pPr marL="0" indent="0" algn="r">
              <a:buNone/>
            </a:pPr>
            <a:r>
              <a:rPr lang="en-US" sz="1600" b="1">
                <a:solidFill>
                  <a:srgbClr val="5B87B8"/>
                </a:solidFill>
                <a:latin typeface="Consolas" pitchFamily="34" charset="0"/>
                <a:ea typeface="Consolas" pitchFamily="34" charset="-122"/>
                <a:cs typeface="Consolas" pitchFamily="34" charset="-120"/>
              </a:rPr>
              <a:t>1.90B</a:t>
            </a:r>
            <a:endParaRPr lang="en-US" sz="1600" dirty="0"/>
          </a:p>
        </p:txBody>
      </p:sp>
      <p:sp>
        <p:nvSpPr>
          <p:cNvPr id="10" name="Text 8"/>
          <p:cNvSpPr/>
          <p:nvPr/>
        </p:nvSpPr>
        <p:spPr>
          <a:xfrm>
            <a:off x="4754880" y="2377440"/>
            <a:ext cx="1097280" cy="640080"/>
          </a:xfrm>
          <a:prstGeom prst="rect">
            <a:avLst/>
          </a:prstGeom>
          <a:noFill/>
          <a:ln/>
        </p:spPr>
        <p:txBody>
          <a:bodyPr wrap="square" lIns="0" tIns="0" rIns="0" bIns="0" rtlCol="0" anchor="ctr"/>
          <a:lstStyle/>
          <a:p>
            <a:pPr marL="0" indent="0" algn="r">
              <a:buNone/>
            </a:pPr>
            <a:r>
              <a:rPr lang="en-US" sz="1050">
                <a:solidFill>
                  <a:srgbClr val="7C7E96"/>
                </a:solidFill>
                <a:latin typeface="Calibri" pitchFamily="34" charset="0"/>
                <a:ea typeface="Calibri" pitchFamily="34" charset="-122"/>
                <a:cs typeface="Calibri" pitchFamily="34" charset="-120"/>
              </a:rPr>
              <a:t>$1.71 / svc</a:t>
            </a:r>
            <a:endParaRPr lang="en-US" sz="1050" dirty="0"/>
          </a:p>
        </p:txBody>
      </p:sp>
      <p:sp>
        <p:nvSpPr>
          <p:cNvPr id="11" name="Text 9"/>
          <p:cNvSpPr/>
          <p:nvPr/>
        </p:nvSpPr>
        <p:spPr>
          <a:xfrm>
            <a:off x="868680" y="3099816"/>
            <a:ext cx="2743200" cy="640080"/>
          </a:xfrm>
          <a:prstGeom prst="rect">
            <a:avLst/>
          </a:prstGeom>
          <a:noFill/>
          <a:ln/>
        </p:spPr>
        <p:txBody>
          <a:bodyPr wrap="square" lIns="0" tIns="0" rIns="0" bIns="0" rtlCol="0" anchor="ctr"/>
          <a:lstStyle/>
          <a:p>
            <a:pPr marL="0" indent="0">
              <a:buNone/>
            </a:pPr>
            <a:r>
              <a:rPr lang="en-US" sz="1300" b="1">
                <a:solidFill>
                  <a:srgbClr val="2B2A45"/>
                </a:solidFill>
                <a:latin typeface="Calibri" pitchFamily="34" charset="0"/>
                <a:ea typeface="Calibri" pitchFamily="34" charset="-122"/>
                <a:cs typeface="Calibri" pitchFamily="34" charset="-120"/>
              </a:rPr>
              <a:t>Medical Supply Co.</a:t>
            </a:r>
            <a:endParaRPr lang="en-US" sz="1300" dirty="0"/>
          </a:p>
        </p:txBody>
      </p:sp>
      <p:sp>
        <p:nvSpPr>
          <p:cNvPr id="12" name="Text 10">
            <a:extLst>
              <a:ext uri="{C183D7F6-B498-43B3-948B-1728B52AA6E4}">
                <adec:decorative xmlns:adec="http://schemas.microsoft.com/office/drawing/2017/decorative" val="1"/>
              </a:ext>
            </a:extLst>
          </p:cNvPr>
          <p:cNvSpPr/>
          <p:nvPr/>
        </p:nvSpPr>
        <p:spPr>
          <a:xfrm>
            <a:off x="3520440" y="3099816"/>
            <a:ext cx="1234440" cy="640080"/>
          </a:xfrm>
          <a:prstGeom prst="rect">
            <a:avLst/>
          </a:prstGeom>
          <a:noFill/>
          <a:ln/>
        </p:spPr>
        <p:txBody>
          <a:bodyPr wrap="square" lIns="0" tIns="0" rIns="0" bIns="0" rtlCol="0" anchor="ctr"/>
          <a:lstStyle/>
          <a:p>
            <a:pPr marL="0" indent="0" algn="r">
              <a:buNone/>
            </a:pPr>
            <a:r>
              <a:rPr lang="en-US" sz="1600" b="1">
                <a:solidFill>
                  <a:srgbClr val="5B87B8"/>
                </a:solidFill>
                <a:latin typeface="Consolas" pitchFamily="34" charset="0"/>
                <a:ea typeface="Consolas" pitchFamily="34" charset="-122"/>
                <a:cs typeface="Consolas" pitchFamily="34" charset="-120"/>
              </a:rPr>
              <a:t>443M</a:t>
            </a:r>
            <a:endParaRPr lang="en-US" sz="1600" dirty="0"/>
          </a:p>
        </p:txBody>
      </p:sp>
      <p:sp>
        <p:nvSpPr>
          <p:cNvPr id="13" name="Text 11">
            <a:extLst>
              <a:ext uri="{C183D7F6-B498-43B3-948B-1728B52AA6E4}">
                <adec:decorative xmlns:adec="http://schemas.microsoft.com/office/drawing/2017/decorative" val="1"/>
              </a:ext>
            </a:extLst>
          </p:cNvPr>
          <p:cNvSpPr/>
          <p:nvPr/>
        </p:nvSpPr>
        <p:spPr>
          <a:xfrm>
            <a:off x="4754880" y="3099816"/>
            <a:ext cx="1097280" cy="640080"/>
          </a:xfrm>
          <a:prstGeom prst="rect">
            <a:avLst/>
          </a:prstGeom>
          <a:noFill/>
          <a:ln/>
        </p:spPr>
        <p:txBody>
          <a:bodyPr wrap="square" lIns="0" tIns="0" rIns="0" bIns="0" rtlCol="0" anchor="ctr"/>
          <a:lstStyle/>
          <a:p>
            <a:pPr marL="0" indent="0" algn="r">
              <a:buNone/>
            </a:pPr>
            <a:r>
              <a:rPr lang="en-US" sz="1050">
                <a:solidFill>
                  <a:srgbClr val="7C7E96"/>
                </a:solidFill>
                <a:latin typeface="Calibri" pitchFamily="34" charset="0"/>
                <a:ea typeface="Calibri" pitchFamily="34" charset="-122"/>
                <a:cs typeface="Calibri" pitchFamily="34" charset="-120"/>
              </a:rPr>
              <a:t>$9.81 / svc</a:t>
            </a:r>
            <a:endParaRPr lang="en-US" sz="1050" dirty="0"/>
          </a:p>
        </p:txBody>
      </p:sp>
      <p:sp>
        <p:nvSpPr>
          <p:cNvPr id="14" name="Text 12"/>
          <p:cNvSpPr/>
          <p:nvPr/>
        </p:nvSpPr>
        <p:spPr>
          <a:xfrm>
            <a:off x="868680" y="3822192"/>
            <a:ext cx="2743200" cy="640080"/>
          </a:xfrm>
          <a:prstGeom prst="rect">
            <a:avLst/>
          </a:prstGeom>
          <a:noFill/>
          <a:ln/>
        </p:spPr>
        <p:txBody>
          <a:bodyPr wrap="square" lIns="0" tIns="0" rIns="0" bIns="0" rtlCol="0" anchor="ctr"/>
          <a:lstStyle/>
          <a:p>
            <a:pPr marL="0" indent="0">
              <a:buNone/>
            </a:pPr>
            <a:r>
              <a:rPr lang="en-US" sz="1300" b="1">
                <a:solidFill>
                  <a:srgbClr val="2B2A45"/>
                </a:solidFill>
                <a:latin typeface="Calibri" pitchFamily="34" charset="0"/>
                <a:ea typeface="Calibri" pitchFamily="34" charset="-122"/>
                <a:cs typeface="Calibri" pitchFamily="34" charset="-120"/>
              </a:rPr>
              <a:t>Hematology/Oncology</a:t>
            </a:r>
            <a:endParaRPr lang="en-US" sz="1300" dirty="0"/>
          </a:p>
        </p:txBody>
      </p:sp>
      <p:sp>
        <p:nvSpPr>
          <p:cNvPr id="15" name="Text 13"/>
          <p:cNvSpPr/>
          <p:nvPr/>
        </p:nvSpPr>
        <p:spPr>
          <a:xfrm>
            <a:off x="3520440" y="3822192"/>
            <a:ext cx="1234440" cy="640080"/>
          </a:xfrm>
          <a:prstGeom prst="rect">
            <a:avLst/>
          </a:prstGeom>
          <a:noFill/>
          <a:ln/>
        </p:spPr>
        <p:txBody>
          <a:bodyPr wrap="square" lIns="0" tIns="0" rIns="0" bIns="0" rtlCol="0" anchor="ctr"/>
          <a:lstStyle/>
          <a:p>
            <a:pPr marL="0" indent="0" algn="r">
              <a:buNone/>
            </a:pPr>
            <a:r>
              <a:rPr lang="en-US" sz="1600" b="1">
                <a:solidFill>
                  <a:srgbClr val="5B87B8"/>
                </a:solidFill>
                <a:latin typeface="Consolas" pitchFamily="34" charset="0"/>
                <a:ea typeface="Consolas" pitchFamily="34" charset="-122"/>
                <a:cs typeface="Consolas" pitchFamily="34" charset="-120"/>
              </a:rPr>
              <a:t>421M</a:t>
            </a:r>
            <a:endParaRPr lang="en-US" sz="1600" dirty="0"/>
          </a:p>
        </p:txBody>
      </p:sp>
      <p:sp>
        <p:nvSpPr>
          <p:cNvPr id="16" name="Text 14"/>
          <p:cNvSpPr/>
          <p:nvPr/>
        </p:nvSpPr>
        <p:spPr>
          <a:xfrm>
            <a:off x="4754880" y="3822192"/>
            <a:ext cx="1097280" cy="640080"/>
          </a:xfrm>
          <a:prstGeom prst="rect">
            <a:avLst/>
          </a:prstGeom>
          <a:noFill/>
          <a:ln/>
        </p:spPr>
        <p:txBody>
          <a:bodyPr wrap="square" lIns="0" tIns="0" rIns="0" bIns="0" rtlCol="0" anchor="ctr"/>
          <a:lstStyle/>
          <a:p>
            <a:pPr marL="0" indent="0" algn="r">
              <a:buNone/>
            </a:pPr>
            <a:r>
              <a:rPr lang="en-US" sz="1050">
                <a:solidFill>
                  <a:srgbClr val="7C7E96"/>
                </a:solidFill>
                <a:latin typeface="Calibri" pitchFamily="34" charset="0"/>
                <a:ea typeface="Calibri" pitchFamily="34" charset="-122"/>
                <a:cs typeface="Calibri" pitchFamily="34" charset="-120"/>
              </a:rPr>
              <a:t>$14.98 / svc</a:t>
            </a:r>
            <a:endParaRPr lang="en-US" sz="1050" dirty="0"/>
          </a:p>
        </p:txBody>
      </p:sp>
      <p:sp>
        <p:nvSpPr>
          <p:cNvPr id="17" name="Text 15"/>
          <p:cNvSpPr/>
          <p:nvPr/>
        </p:nvSpPr>
        <p:spPr>
          <a:xfrm>
            <a:off x="868680" y="4544568"/>
            <a:ext cx="2743200" cy="640080"/>
          </a:xfrm>
          <a:prstGeom prst="rect">
            <a:avLst/>
          </a:prstGeom>
          <a:noFill/>
          <a:ln/>
        </p:spPr>
        <p:txBody>
          <a:bodyPr wrap="square" lIns="0" tIns="0" rIns="0" bIns="0" rtlCol="0" anchor="ctr"/>
          <a:lstStyle/>
          <a:p>
            <a:pPr marL="0" indent="0">
              <a:buNone/>
            </a:pPr>
            <a:r>
              <a:rPr lang="en-US" sz="1300" b="1">
                <a:solidFill>
                  <a:srgbClr val="2B2A45"/>
                </a:solidFill>
                <a:latin typeface="Calibri" pitchFamily="34" charset="0"/>
                <a:ea typeface="Calibri" pitchFamily="34" charset="-122"/>
                <a:cs typeface="Calibri" pitchFamily="34" charset="-120"/>
              </a:rPr>
              <a:t>Clinical Laboratory</a:t>
            </a:r>
            <a:endParaRPr lang="en-US" sz="1300" dirty="0"/>
          </a:p>
        </p:txBody>
      </p:sp>
      <p:sp>
        <p:nvSpPr>
          <p:cNvPr id="18" name="Text 16">
            <a:extLst>
              <a:ext uri="{C183D7F6-B498-43B3-948B-1728B52AA6E4}">
                <adec:decorative xmlns:adec="http://schemas.microsoft.com/office/drawing/2017/decorative" val="1"/>
              </a:ext>
            </a:extLst>
          </p:cNvPr>
          <p:cNvSpPr/>
          <p:nvPr/>
        </p:nvSpPr>
        <p:spPr>
          <a:xfrm>
            <a:off x="3520440" y="4544568"/>
            <a:ext cx="1234440" cy="640080"/>
          </a:xfrm>
          <a:prstGeom prst="rect">
            <a:avLst/>
          </a:prstGeom>
          <a:noFill/>
          <a:ln/>
        </p:spPr>
        <p:txBody>
          <a:bodyPr wrap="square" lIns="0" tIns="0" rIns="0" bIns="0" rtlCol="0" anchor="ctr"/>
          <a:lstStyle/>
          <a:p>
            <a:pPr marL="0" indent="0" algn="r">
              <a:buNone/>
            </a:pPr>
            <a:r>
              <a:rPr lang="en-US" sz="1600" b="1">
                <a:solidFill>
                  <a:srgbClr val="5B87B8"/>
                </a:solidFill>
                <a:latin typeface="Consolas" pitchFamily="34" charset="0"/>
                <a:ea typeface="Consolas" pitchFamily="34" charset="-122"/>
                <a:cs typeface="Consolas" pitchFamily="34" charset="-120"/>
              </a:rPr>
              <a:t>315M</a:t>
            </a:r>
            <a:endParaRPr lang="en-US" sz="1600" dirty="0"/>
          </a:p>
        </p:txBody>
      </p:sp>
      <p:sp>
        <p:nvSpPr>
          <p:cNvPr id="19" name="Text 17">
            <a:extLst>
              <a:ext uri="{C183D7F6-B498-43B3-948B-1728B52AA6E4}">
                <adec:decorative xmlns:adec="http://schemas.microsoft.com/office/drawing/2017/decorative" val="1"/>
              </a:ext>
            </a:extLst>
          </p:cNvPr>
          <p:cNvSpPr/>
          <p:nvPr/>
        </p:nvSpPr>
        <p:spPr>
          <a:xfrm>
            <a:off x="4754880" y="4544568"/>
            <a:ext cx="1097280" cy="640080"/>
          </a:xfrm>
          <a:prstGeom prst="rect">
            <a:avLst/>
          </a:prstGeom>
          <a:noFill/>
          <a:ln/>
        </p:spPr>
        <p:txBody>
          <a:bodyPr wrap="square" lIns="0" tIns="0" rIns="0" bIns="0" rtlCol="0" anchor="ctr"/>
          <a:lstStyle/>
          <a:p>
            <a:pPr marL="0" indent="0" algn="r">
              <a:buNone/>
            </a:pPr>
            <a:r>
              <a:rPr lang="en-US" sz="1050">
                <a:solidFill>
                  <a:srgbClr val="7C7E96"/>
                </a:solidFill>
                <a:latin typeface="Calibri" pitchFamily="34" charset="0"/>
                <a:ea typeface="Calibri" pitchFamily="34" charset="-122"/>
                <a:cs typeface="Calibri" pitchFamily="34" charset="-120"/>
              </a:rPr>
              <a:t>$20.44 / svc</a:t>
            </a:r>
            <a:endParaRPr lang="en-US" sz="1050" dirty="0"/>
          </a:p>
        </p:txBody>
      </p:sp>
      <p:sp>
        <p:nvSpPr>
          <p:cNvPr id="20" name="Text 18"/>
          <p:cNvSpPr/>
          <p:nvPr/>
        </p:nvSpPr>
        <p:spPr>
          <a:xfrm>
            <a:off x="868680" y="5266944"/>
            <a:ext cx="2743200" cy="640080"/>
          </a:xfrm>
          <a:prstGeom prst="rect">
            <a:avLst/>
          </a:prstGeom>
          <a:noFill/>
          <a:ln/>
        </p:spPr>
        <p:txBody>
          <a:bodyPr wrap="square" lIns="0" tIns="0" rIns="0" bIns="0" rtlCol="0" anchor="ctr"/>
          <a:lstStyle/>
          <a:p>
            <a:pPr marL="0" indent="0">
              <a:buNone/>
            </a:pPr>
            <a:r>
              <a:rPr lang="en-US" sz="1300" b="1">
                <a:solidFill>
                  <a:srgbClr val="2B2A45"/>
                </a:solidFill>
                <a:latin typeface="Calibri" pitchFamily="34" charset="0"/>
                <a:ea typeface="Calibri" pitchFamily="34" charset="-122"/>
                <a:cs typeface="Calibri" pitchFamily="34" charset="-120"/>
              </a:rPr>
              <a:t>Diagnostic Radiology</a:t>
            </a:r>
            <a:endParaRPr lang="en-US" sz="1300" dirty="0"/>
          </a:p>
        </p:txBody>
      </p:sp>
      <p:sp>
        <p:nvSpPr>
          <p:cNvPr id="21" name="Text 19"/>
          <p:cNvSpPr/>
          <p:nvPr/>
        </p:nvSpPr>
        <p:spPr>
          <a:xfrm>
            <a:off x="3520440" y="5266944"/>
            <a:ext cx="1234440" cy="640080"/>
          </a:xfrm>
          <a:prstGeom prst="rect">
            <a:avLst/>
          </a:prstGeom>
          <a:noFill/>
          <a:ln/>
        </p:spPr>
        <p:txBody>
          <a:bodyPr wrap="square" lIns="0" tIns="0" rIns="0" bIns="0" rtlCol="0" anchor="ctr"/>
          <a:lstStyle/>
          <a:p>
            <a:pPr marL="0" indent="0" algn="r">
              <a:buNone/>
            </a:pPr>
            <a:r>
              <a:rPr lang="en-US" sz="1600" b="1">
                <a:solidFill>
                  <a:srgbClr val="5B87B8"/>
                </a:solidFill>
                <a:latin typeface="Consolas" pitchFamily="34" charset="0"/>
                <a:ea typeface="Consolas" pitchFamily="34" charset="-122"/>
                <a:cs typeface="Consolas" pitchFamily="34" charset="-120"/>
              </a:rPr>
              <a:t>203M</a:t>
            </a:r>
            <a:endParaRPr lang="en-US" sz="1600" dirty="0"/>
          </a:p>
        </p:txBody>
      </p:sp>
      <p:sp>
        <p:nvSpPr>
          <p:cNvPr id="22" name="Text 20"/>
          <p:cNvSpPr/>
          <p:nvPr/>
        </p:nvSpPr>
        <p:spPr>
          <a:xfrm>
            <a:off x="4754880" y="5266944"/>
            <a:ext cx="1097280" cy="640080"/>
          </a:xfrm>
          <a:prstGeom prst="rect">
            <a:avLst/>
          </a:prstGeom>
          <a:noFill/>
          <a:ln/>
        </p:spPr>
        <p:txBody>
          <a:bodyPr wrap="square" lIns="0" tIns="0" rIns="0" bIns="0" rtlCol="0" anchor="ctr"/>
          <a:lstStyle/>
          <a:p>
            <a:pPr marL="0" indent="0" algn="r">
              <a:buNone/>
            </a:pPr>
            <a:r>
              <a:rPr lang="en-US" sz="1050">
                <a:solidFill>
                  <a:srgbClr val="7C7E96"/>
                </a:solidFill>
                <a:latin typeface="Calibri" pitchFamily="34" charset="0"/>
                <a:ea typeface="Calibri" pitchFamily="34" charset="-122"/>
                <a:cs typeface="Calibri" pitchFamily="34" charset="-120"/>
              </a:rPr>
              <a:t>$19.83 / svc</a:t>
            </a:r>
            <a:endParaRPr lang="en-US" sz="1050" dirty="0"/>
          </a:p>
        </p:txBody>
      </p:sp>
      <p:sp>
        <p:nvSpPr>
          <p:cNvPr id="23" name="panel">
            <a:extLst>
              <a:ext uri="{C183D7F6-B498-43B3-948B-1728B52AA6E4}">
                <adec:decorative xmlns:adec="http://schemas.microsoft.com/office/drawing/2017/decorative" val="1"/>
              </a:ext>
            </a:extLst>
          </p:cNvPr>
          <p:cNvSpPr/>
          <p:nvPr/>
        </p:nvSpPr>
        <p:spPr>
          <a:xfrm>
            <a:off x="6400800" y="1600200"/>
            <a:ext cx="5440680" cy="4526280"/>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24" name="panel head">
            <a:extLst>
              <a:ext uri="{C183D7F6-B498-43B3-948B-1728B52AA6E4}">
                <adec:decorative xmlns:adec="http://schemas.microsoft.com/office/drawing/2017/decorative" val="1"/>
              </a:ext>
            </a:extLst>
          </p:cNvPr>
          <p:cNvSpPr/>
          <p:nvPr/>
        </p:nvSpPr>
        <p:spPr>
          <a:xfrm>
            <a:off x="6400800" y="1600200"/>
            <a:ext cx="5440680" cy="566928"/>
          </a:xfrm>
          <a:prstGeom prst="rect">
            <a:avLst/>
          </a:prstGeom>
          <a:solidFill>
            <a:srgbClr val="4E79A7"/>
          </a:solidFill>
          <a:ln/>
        </p:spPr>
        <p:txBody>
          <a:bodyPr/>
          <a:lstStyle/>
          <a:p>
            <a:endParaRPr lang="en-US"/>
          </a:p>
        </p:txBody>
      </p:sp>
      <p:sp>
        <p:nvSpPr>
          <p:cNvPr id="25" name="Text 23"/>
          <p:cNvSpPr/>
          <p:nvPr/>
        </p:nvSpPr>
        <p:spPr>
          <a:xfrm>
            <a:off x="6629400" y="1600200"/>
            <a:ext cx="4983480" cy="566928"/>
          </a:xfrm>
          <a:prstGeom prst="rect">
            <a:avLst/>
          </a:prstGeom>
          <a:noFill/>
          <a:ln/>
        </p:spPr>
        <p:txBody>
          <a:bodyPr wrap="square" lIns="0" tIns="0" rIns="0" bIns="0" rtlCol="0" anchor="ctr"/>
          <a:lstStyle/>
          <a:p>
            <a:pPr marL="0" indent="0">
              <a:buNone/>
            </a:pPr>
            <a:r>
              <a:rPr lang="en-US" sz="1250" b="1" kern="0" spc="100" dirty="0">
                <a:solidFill>
                  <a:srgbClr val="FFFFFF"/>
                </a:solidFill>
                <a:latin typeface="Trebuchet MS" pitchFamily="34" charset="0"/>
                <a:ea typeface="Trebuchet MS" pitchFamily="34" charset="-122"/>
                <a:cs typeface="Trebuchet MS" pitchFamily="34" charset="-120"/>
              </a:rPr>
              <a:t>INTENSITY LEADERS  ·  2022 Payment / Service</a:t>
            </a:r>
            <a:endParaRPr lang="en-US" sz="1250" dirty="0"/>
          </a:p>
        </p:txBody>
      </p:sp>
      <p:sp>
        <p:nvSpPr>
          <p:cNvPr id="26" name="Text 24"/>
          <p:cNvSpPr/>
          <p:nvPr/>
        </p:nvSpPr>
        <p:spPr>
          <a:xfrm>
            <a:off x="6629400" y="2377440"/>
            <a:ext cx="2743200" cy="640080"/>
          </a:xfrm>
          <a:prstGeom prst="rect">
            <a:avLst/>
          </a:prstGeom>
          <a:noFill/>
          <a:ln/>
        </p:spPr>
        <p:txBody>
          <a:bodyPr wrap="square" lIns="0" tIns="0" rIns="0" bIns="0" rtlCol="0" anchor="ctr"/>
          <a:lstStyle/>
          <a:p>
            <a:pPr marL="0" indent="0">
              <a:buNone/>
            </a:pPr>
            <a:r>
              <a:rPr lang="en-US" sz="1300" b="1">
                <a:solidFill>
                  <a:srgbClr val="2B2A45"/>
                </a:solidFill>
                <a:latin typeface="Calibri" pitchFamily="34" charset="0"/>
                <a:ea typeface="Calibri" pitchFamily="34" charset="-122"/>
                <a:cs typeface="Calibri" pitchFamily="34" charset="-120"/>
              </a:rPr>
              <a:t>Thoracic Surgery</a:t>
            </a:r>
            <a:endParaRPr lang="en-US" sz="1300" dirty="0"/>
          </a:p>
        </p:txBody>
      </p:sp>
      <p:sp>
        <p:nvSpPr>
          <p:cNvPr id="27" name="Text 25"/>
          <p:cNvSpPr/>
          <p:nvPr/>
        </p:nvSpPr>
        <p:spPr>
          <a:xfrm>
            <a:off x="9281160" y="2377440"/>
            <a:ext cx="1234440" cy="640080"/>
          </a:xfrm>
          <a:prstGeom prst="rect">
            <a:avLst/>
          </a:prstGeom>
          <a:noFill/>
          <a:ln/>
        </p:spPr>
        <p:txBody>
          <a:bodyPr wrap="square" lIns="0" tIns="0" rIns="0" bIns="0" rtlCol="0" anchor="ctr"/>
          <a:lstStyle/>
          <a:p>
            <a:pPr marL="0" indent="0" algn="r">
              <a:buNone/>
            </a:pPr>
            <a:r>
              <a:rPr lang="en-US" sz="1600" b="1">
                <a:solidFill>
                  <a:srgbClr val="4E79A7"/>
                </a:solidFill>
                <a:latin typeface="Consolas" pitchFamily="34" charset="0"/>
                <a:ea typeface="Consolas" pitchFamily="34" charset="-122"/>
                <a:cs typeface="Consolas" pitchFamily="34" charset="-120"/>
              </a:rPr>
              <a:t>$276.37</a:t>
            </a:r>
            <a:endParaRPr lang="en-US" sz="1600" dirty="0"/>
          </a:p>
        </p:txBody>
      </p:sp>
      <p:sp>
        <p:nvSpPr>
          <p:cNvPr id="28" name="Text 26"/>
          <p:cNvSpPr/>
          <p:nvPr/>
        </p:nvSpPr>
        <p:spPr>
          <a:xfrm>
            <a:off x="10515600" y="2377440"/>
            <a:ext cx="1097280" cy="640080"/>
          </a:xfrm>
          <a:prstGeom prst="rect">
            <a:avLst/>
          </a:prstGeom>
          <a:noFill/>
          <a:ln/>
        </p:spPr>
        <p:txBody>
          <a:bodyPr wrap="square" lIns="0" tIns="0" rIns="0" bIns="0" rtlCol="0" anchor="ctr"/>
          <a:lstStyle/>
          <a:p>
            <a:pPr marL="0" indent="0" algn="r">
              <a:buNone/>
            </a:pPr>
            <a:r>
              <a:rPr lang="en-US" sz="1050">
                <a:solidFill>
                  <a:srgbClr val="7C7E96"/>
                </a:solidFill>
                <a:latin typeface="Calibri" pitchFamily="34" charset="0"/>
                <a:ea typeface="Calibri" pitchFamily="34" charset="-122"/>
                <a:cs typeface="Calibri" pitchFamily="34" charset="-120"/>
              </a:rPr>
              <a:t>0.9M svc</a:t>
            </a:r>
            <a:endParaRPr lang="en-US" sz="1050" dirty="0"/>
          </a:p>
        </p:txBody>
      </p:sp>
      <p:sp>
        <p:nvSpPr>
          <p:cNvPr id="29" name="Text 27"/>
          <p:cNvSpPr/>
          <p:nvPr/>
        </p:nvSpPr>
        <p:spPr>
          <a:xfrm>
            <a:off x="6629400" y="3099816"/>
            <a:ext cx="2743200" cy="640080"/>
          </a:xfrm>
          <a:prstGeom prst="rect">
            <a:avLst/>
          </a:prstGeom>
          <a:noFill/>
          <a:ln/>
        </p:spPr>
        <p:txBody>
          <a:bodyPr wrap="square" lIns="0" tIns="0" rIns="0" bIns="0" rtlCol="0" anchor="ctr"/>
          <a:lstStyle/>
          <a:p>
            <a:pPr marL="0" indent="0">
              <a:buNone/>
            </a:pPr>
            <a:r>
              <a:rPr lang="en-US" sz="1300" b="1">
                <a:solidFill>
                  <a:srgbClr val="2B2A45"/>
                </a:solidFill>
                <a:latin typeface="Calibri" pitchFamily="34" charset="0"/>
                <a:ea typeface="Calibri" pitchFamily="34" charset="-122"/>
                <a:cs typeface="Calibri" pitchFamily="34" charset="-120"/>
              </a:rPr>
              <a:t>Cardiac Surgery</a:t>
            </a:r>
            <a:endParaRPr lang="en-US" sz="1300" dirty="0"/>
          </a:p>
        </p:txBody>
      </p:sp>
      <p:sp>
        <p:nvSpPr>
          <p:cNvPr id="30" name="Text 28"/>
          <p:cNvSpPr/>
          <p:nvPr/>
        </p:nvSpPr>
        <p:spPr>
          <a:xfrm>
            <a:off x="9281160" y="3099816"/>
            <a:ext cx="1234440" cy="640080"/>
          </a:xfrm>
          <a:prstGeom prst="rect">
            <a:avLst/>
          </a:prstGeom>
          <a:noFill/>
          <a:ln/>
        </p:spPr>
        <p:txBody>
          <a:bodyPr wrap="square" lIns="0" tIns="0" rIns="0" bIns="0" rtlCol="0" anchor="ctr"/>
          <a:lstStyle/>
          <a:p>
            <a:pPr marL="0" indent="0" algn="r">
              <a:buNone/>
            </a:pPr>
            <a:r>
              <a:rPr lang="en-US" sz="1600" b="1">
                <a:solidFill>
                  <a:srgbClr val="4E79A7"/>
                </a:solidFill>
                <a:latin typeface="Consolas" pitchFamily="34" charset="0"/>
                <a:ea typeface="Consolas" pitchFamily="34" charset="-122"/>
                <a:cs typeface="Consolas" pitchFamily="34" charset="-120"/>
              </a:rPr>
              <a:t>$271.68</a:t>
            </a:r>
            <a:endParaRPr lang="en-US" sz="1600" dirty="0"/>
          </a:p>
        </p:txBody>
      </p:sp>
      <p:sp>
        <p:nvSpPr>
          <p:cNvPr id="31" name="Text 29"/>
          <p:cNvSpPr/>
          <p:nvPr/>
        </p:nvSpPr>
        <p:spPr>
          <a:xfrm>
            <a:off x="10515600" y="3099816"/>
            <a:ext cx="1097280" cy="640080"/>
          </a:xfrm>
          <a:prstGeom prst="rect">
            <a:avLst/>
          </a:prstGeom>
          <a:noFill/>
          <a:ln/>
        </p:spPr>
        <p:txBody>
          <a:bodyPr wrap="square" lIns="0" tIns="0" rIns="0" bIns="0" rtlCol="0" anchor="ctr"/>
          <a:lstStyle/>
          <a:p>
            <a:pPr marL="0" indent="0" algn="r">
              <a:buNone/>
            </a:pPr>
            <a:r>
              <a:rPr lang="en-US" sz="1050">
                <a:solidFill>
                  <a:srgbClr val="7C7E96"/>
                </a:solidFill>
                <a:latin typeface="Calibri" pitchFamily="34" charset="0"/>
                <a:ea typeface="Calibri" pitchFamily="34" charset="-122"/>
                <a:cs typeface="Calibri" pitchFamily="34" charset="-120"/>
              </a:rPr>
              <a:t>0.5M svc</a:t>
            </a:r>
            <a:endParaRPr lang="en-US" sz="1050" dirty="0"/>
          </a:p>
        </p:txBody>
      </p:sp>
      <p:sp>
        <p:nvSpPr>
          <p:cNvPr id="32" name="Text 30"/>
          <p:cNvSpPr/>
          <p:nvPr/>
        </p:nvSpPr>
        <p:spPr>
          <a:xfrm>
            <a:off x="6629400" y="3822192"/>
            <a:ext cx="2743200" cy="640080"/>
          </a:xfrm>
          <a:prstGeom prst="rect">
            <a:avLst/>
          </a:prstGeom>
          <a:noFill/>
          <a:ln/>
        </p:spPr>
        <p:txBody>
          <a:bodyPr wrap="square" lIns="0" tIns="0" rIns="0" bIns="0" rtlCol="0" anchor="ctr"/>
          <a:lstStyle/>
          <a:p>
            <a:pPr marL="0" indent="0">
              <a:buNone/>
            </a:pPr>
            <a:r>
              <a:rPr lang="en-US" sz="1300" b="1">
                <a:solidFill>
                  <a:srgbClr val="2B2A45"/>
                </a:solidFill>
                <a:latin typeface="Calibri" pitchFamily="34" charset="0"/>
                <a:ea typeface="Calibri" pitchFamily="34" charset="-122"/>
                <a:cs typeface="Calibri" pitchFamily="34" charset="-120"/>
              </a:rPr>
              <a:t>Neurosurgery</a:t>
            </a:r>
            <a:endParaRPr lang="en-US" sz="1300" dirty="0"/>
          </a:p>
        </p:txBody>
      </p:sp>
      <p:sp>
        <p:nvSpPr>
          <p:cNvPr id="33" name="Text 31"/>
          <p:cNvSpPr/>
          <p:nvPr/>
        </p:nvSpPr>
        <p:spPr>
          <a:xfrm>
            <a:off x="9281160" y="3822192"/>
            <a:ext cx="1234440" cy="640080"/>
          </a:xfrm>
          <a:prstGeom prst="rect">
            <a:avLst/>
          </a:prstGeom>
          <a:noFill/>
          <a:ln/>
        </p:spPr>
        <p:txBody>
          <a:bodyPr wrap="square" lIns="0" tIns="0" rIns="0" bIns="0" rtlCol="0" anchor="ctr"/>
          <a:lstStyle/>
          <a:p>
            <a:pPr marL="0" indent="0" algn="r">
              <a:buNone/>
            </a:pPr>
            <a:r>
              <a:rPr lang="en-US" sz="1600" b="1">
                <a:solidFill>
                  <a:srgbClr val="4E79A7"/>
                </a:solidFill>
                <a:latin typeface="Consolas" pitchFamily="34" charset="0"/>
                <a:ea typeface="Consolas" pitchFamily="34" charset="-122"/>
                <a:cs typeface="Consolas" pitchFamily="34" charset="-120"/>
              </a:rPr>
              <a:t>$208.51</a:t>
            </a:r>
            <a:endParaRPr lang="en-US" sz="1600" dirty="0"/>
          </a:p>
        </p:txBody>
      </p:sp>
      <p:sp>
        <p:nvSpPr>
          <p:cNvPr id="34" name="Text 32"/>
          <p:cNvSpPr/>
          <p:nvPr/>
        </p:nvSpPr>
        <p:spPr>
          <a:xfrm>
            <a:off x="10515600" y="3822192"/>
            <a:ext cx="1097280" cy="640080"/>
          </a:xfrm>
          <a:prstGeom prst="rect">
            <a:avLst/>
          </a:prstGeom>
          <a:noFill/>
          <a:ln/>
        </p:spPr>
        <p:txBody>
          <a:bodyPr wrap="square" lIns="0" tIns="0" rIns="0" bIns="0" rtlCol="0" anchor="ctr"/>
          <a:lstStyle/>
          <a:p>
            <a:pPr marL="0" indent="0" algn="r">
              <a:buNone/>
            </a:pPr>
            <a:r>
              <a:rPr lang="en-US" sz="1050">
                <a:solidFill>
                  <a:srgbClr val="7C7E96"/>
                </a:solidFill>
                <a:latin typeface="Calibri" pitchFamily="34" charset="0"/>
                <a:ea typeface="Calibri" pitchFamily="34" charset="-122"/>
                <a:cs typeface="Calibri" pitchFamily="34" charset="-120"/>
              </a:rPr>
              <a:t>2.7M svc</a:t>
            </a:r>
            <a:endParaRPr lang="en-US" sz="1050" dirty="0"/>
          </a:p>
        </p:txBody>
      </p:sp>
      <p:sp>
        <p:nvSpPr>
          <p:cNvPr id="35" name="Text 33"/>
          <p:cNvSpPr/>
          <p:nvPr/>
        </p:nvSpPr>
        <p:spPr>
          <a:xfrm>
            <a:off x="6629400" y="4544568"/>
            <a:ext cx="2743200" cy="640080"/>
          </a:xfrm>
          <a:prstGeom prst="rect">
            <a:avLst/>
          </a:prstGeom>
          <a:noFill/>
          <a:ln/>
        </p:spPr>
        <p:txBody>
          <a:bodyPr wrap="square" lIns="0" tIns="0" rIns="0" bIns="0" rtlCol="0" anchor="ctr"/>
          <a:lstStyle/>
          <a:p>
            <a:pPr marL="0" indent="0">
              <a:buNone/>
            </a:pPr>
            <a:r>
              <a:rPr lang="en-US" sz="1300" b="1">
                <a:solidFill>
                  <a:srgbClr val="2B2A45"/>
                </a:solidFill>
                <a:latin typeface="Calibri" pitchFamily="34" charset="0"/>
                <a:ea typeface="Calibri" pitchFamily="34" charset="-122"/>
                <a:cs typeface="Calibri" pitchFamily="34" charset="-120"/>
              </a:rPr>
              <a:t>Ambulatory Surgical Ctr</a:t>
            </a:r>
            <a:endParaRPr lang="en-US" sz="1300" dirty="0"/>
          </a:p>
        </p:txBody>
      </p:sp>
      <p:sp>
        <p:nvSpPr>
          <p:cNvPr id="36" name="Text 34"/>
          <p:cNvSpPr/>
          <p:nvPr/>
        </p:nvSpPr>
        <p:spPr>
          <a:xfrm>
            <a:off x="9281160" y="4544568"/>
            <a:ext cx="1234440" cy="640080"/>
          </a:xfrm>
          <a:prstGeom prst="rect">
            <a:avLst/>
          </a:prstGeom>
          <a:noFill/>
          <a:ln/>
        </p:spPr>
        <p:txBody>
          <a:bodyPr wrap="square" lIns="0" tIns="0" rIns="0" bIns="0" rtlCol="0" anchor="ctr"/>
          <a:lstStyle/>
          <a:p>
            <a:pPr marL="0" indent="0" algn="r">
              <a:buNone/>
            </a:pPr>
            <a:r>
              <a:rPr lang="en-US" sz="1600" b="1">
                <a:solidFill>
                  <a:srgbClr val="4E79A7"/>
                </a:solidFill>
                <a:latin typeface="Consolas" pitchFamily="34" charset="0"/>
                <a:ea typeface="Consolas" pitchFamily="34" charset="-122"/>
                <a:cs typeface="Consolas" pitchFamily="34" charset="-120"/>
              </a:rPr>
              <a:t>$177.31</a:t>
            </a:r>
            <a:endParaRPr lang="en-US" sz="1600" dirty="0"/>
          </a:p>
        </p:txBody>
      </p:sp>
      <p:sp>
        <p:nvSpPr>
          <p:cNvPr id="37" name="Text 35"/>
          <p:cNvSpPr/>
          <p:nvPr/>
        </p:nvSpPr>
        <p:spPr>
          <a:xfrm>
            <a:off x="10515600" y="4544568"/>
            <a:ext cx="1097280" cy="640080"/>
          </a:xfrm>
          <a:prstGeom prst="rect">
            <a:avLst/>
          </a:prstGeom>
          <a:noFill/>
          <a:ln/>
        </p:spPr>
        <p:txBody>
          <a:bodyPr wrap="square" lIns="0" tIns="0" rIns="0" bIns="0" rtlCol="0" anchor="ctr"/>
          <a:lstStyle/>
          <a:p>
            <a:pPr marL="0" indent="0" algn="r">
              <a:buNone/>
            </a:pPr>
            <a:r>
              <a:rPr lang="en-US" sz="1050">
                <a:solidFill>
                  <a:srgbClr val="7C7E96"/>
                </a:solidFill>
                <a:latin typeface="Calibri" pitchFamily="34" charset="0"/>
                <a:ea typeface="Calibri" pitchFamily="34" charset="-122"/>
                <a:cs typeface="Calibri" pitchFamily="34" charset="-120"/>
              </a:rPr>
              <a:t>27.0M svc</a:t>
            </a:r>
            <a:endParaRPr lang="en-US" sz="1050" dirty="0"/>
          </a:p>
        </p:txBody>
      </p:sp>
      <p:sp>
        <p:nvSpPr>
          <p:cNvPr id="38" name="Text 36"/>
          <p:cNvSpPr/>
          <p:nvPr/>
        </p:nvSpPr>
        <p:spPr>
          <a:xfrm>
            <a:off x="6629400" y="5266944"/>
            <a:ext cx="2743200" cy="640080"/>
          </a:xfrm>
          <a:prstGeom prst="rect">
            <a:avLst/>
          </a:prstGeom>
          <a:noFill/>
          <a:ln/>
        </p:spPr>
        <p:txBody>
          <a:bodyPr wrap="square" lIns="0" tIns="0" rIns="0" bIns="0" rtlCol="0" anchor="ctr"/>
          <a:lstStyle/>
          <a:p>
            <a:pPr marL="0" indent="0">
              <a:buNone/>
            </a:pPr>
            <a:r>
              <a:rPr lang="en-US" sz="1300" b="1">
                <a:solidFill>
                  <a:srgbClr val="2B2A45"/>
                </a:solidFill>
                <a:latin typeface="Calibri" pitchFamily="34" charset="0"/>
                <a:ea typeface="Calibri" pitchFamily="34" charset="-122"/>
                <a:cs typeface="Calibri" pitchFamily="34" charset="-120"/>
              </a:rPr>
              <a:t>Radiation Oncology</a:t>
            </a:r>
            <a:endParaRPr lang="en-US" sz="1300" dirty="0"/>
          </a:p>
        </p:txBody>
      </p:sp>
      <p:sp>
        <p:nvSpPr>
          <p:cNvPr id="39" name="Text 37"/>
          <p:cNvSpPr/>
          <p:nvPr/>
        </p:nvSpPr>
        <p:spPr>
          <a:xfrm>
            <a:off x="9281160" y="5266944"/>
            <a:ext cx="1234440" cy="640080"/>
          </a:xfrm>
          <a:prstGeom prst="rect">
            <a:avLst/>
          </a:prstGeom>
          <a:noFill/>
          <a:ln/>
        </p:spPr>
        <p:txBody>
          <a:bodyPr wrap="square" lIns="0" tIns="0" rIns="0" bIns="0" rtlCol="0" anchor="ctr"/>
          <a:lstStyle/>
          <a:p>
            <a:pPr marL="0" indent="0" algn="r">
              <a:buNone/>
            </a:pPr>
            <a:r>
              <a:rPr lang="en-US" sz="1600" b="1">
                <a:solidFill>
                  <a:srgbClr val="4E79A7"/>
                </a:solidFill>
                <a:latin typeface="Consolas" pitchFamily="34" charset="0"/>
                <a:ea typeface="Consolas" pitchFamily="34" charset="-122"/>
                <a:cs typeface="Consolas" pitchFamily="34" charset="-120"/>
              </a:rPr>
              <a:t>$98.71</a:t>
            </a:r>
            <a:endParaRPr lang="en-US" sz="1600" dirty="0"/>
          </a:p>
        </p:txBody>
      </p:sp>
      <p:sp>
        <p:nvSpPr>
          <p:cNvPr id="40" name="Text 38"/>
          <p:cNvSpPr/>
          <p:nvPr/>
        </p:nvSpPr>
        <p:spPr>
          <a:xfrm>
            <a:off x="10515600" y="5266944"/>
            <a:ext cx="1097280" cy="640080"/>
          </a:xfrm>
          <a:prstGeom prst="rect">
            <a:avLst/>
          </a:prstGeom>
          <a:noFill/>
          <a:ln/>
        </p:spPr>
        <p:txBody>
          <a:bodyPr wrap="square" lIns="0" tIns="0" rIns="0" bIns="0" rtlCol="0" anchor="ctr"/>
          <a:lstStyle/>
          <a:p>
            <a:pPr marL="0" indent="0" algn="r">
              <a:buNone/>
            </a:pPr>
            <a:r>
              <a:rPr lang="en-US" sz="1050">
                <a:solidFill>
                  <a:srgbClr val="7C7E96"/>
                </a:solidFill>
                <a:latin typeface="Calibri" pitchFamily="34" charset="0"/>
                <a:ea typeface="Calibri" pitchFamily="34" charset="-122"/>
                <a:cs typeface="Calibri" pitchFamily="34" charset="-120"/>
              </a:rPr>
              <a:t>14.8M svc</a:t>
            </a:r>
            <a:endParaRPr lang="en-US" sz="1050" dirty="0"/>
          </a:p>
        </p:txBody>
      </p:sp>
      <p:sp>
        <p:nvSpPr>
          <p:cNvPr id="41" name="Text 39"/>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a:solidFill>
                  <a:srgbClr val="7C7E96"/>
                </a:solidFill>
                <a:latin typeface="Trebuchet MS" pitchFamily="34" charset="0"/>
                <a:ea typeface="Trebuchet MS" pitchFamily="34" charset="-122"/>
                <a:cs typeface="Trebuchet MS" pitchFamily="34" charset="-120"/>
              </a:rPr>
              <a:t>CMS MEDICARE PART B  ·  CY 2022–2024</a:t>
            </a:r>
            <a:endParaRPr lang="en-US" sz="900" dirty="0"/>
          </a:p>
        </p:txBody>
      </p:sp>
      <p:sp>
        <p:nvSpPr>
          <p:cNvPr id="42" name="Text 40"/>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a:solidFill>
                  <a:srgbClr val="4E79A7"/>
                </a:solidFill>
                <a:latin typeface="Consolas" pitchFamily="34" charset="0"/>
                <a:ea typeface="Consolas" pitchFamily="34" charset="-122"/>
                <a:cs typeface="Consolas" pitchFamily="34" charset="-120"/>
              </a:rPr>
              <a:t>11</a:t>
            </a:r>
            <a:endParaRPr lang="en-US" sz="1000" dirty="0"/>
          </a:p>
        </p:txBody>
      </p:sp>
      <p:sp>
        <p:nvSpPr>
          <p:cNvPr id="43" name="cy2022 note">
            <a:extLst>
              <a:ext uri="{C183D7F6-B498-43B3-948B-1728B52AA6E4}">
                <adec:decorative xmlns:adec="http://schemas.microsoft.com/office/drawing/2017/decorative" val="1"/>
              </a:ext>
            </a:extLst>
          </p:cNvPr>
          <p:cNvSpPr/>
          <p:nvPr/>
        </p:nvSpPr>
        <p:spPr>
          <a:xfrm>
            <a:off x="6400800" y="6181344"/>
            <a:ext cx="5440680" cy="250000"/>
          </a:xfrm>
          <a:prstGeom prst="rect">
            <a:avLst/>
          </a:prstGeom>
          <a:noFill/>
          <a:ln/>
        </p:spPr>
        <p:txBody>
          <a:bodyPr wrap="square" lIns="0" tIns="0" rIns="0" bIns="0" rtlCol="0" anchor="ctr"/>
          <a:lstStyle/>
          <a:p>
            <a:pPr marL="0" indent="0" algn="l">
              <a:buNone/>
            </a:pPr>
            <a:r>
              <a:rPr lang="en-US" sz="1000" i="1">
                <a:solidFill>
                  <a:srgbClr val="7C7E96"/>
                </a:solidFill>
                <a:latin typeface="Calibri" pitchFamily="34" charset="0"/>
                <a:ea typeface="Calibri" pitchFamily="34" charset="-122"/>
                <a:cs typeface="Calibri" pitchFamily="34" charset="-120"/>
              </a:rPr>
              <a:t>Specialty-level ranking shown for CY 2022 due to available complete extract.</a:t>
            </a:r>
            <a:endParaRPr lang="en-US" sz="1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40080" y="406908"/>
            <a:ext cx="201168" cy="128016"/>
          </a:xfrm>
          <a:prstGeom prst="rect">
            <a:avLst/>
          </a:prstGeom>
          <a:solidFill>
            <a:srgbClr val="6BA5D7"/>
          </a:solidFill>
          <a:ln/>
        </p:spPr>
        <p:txBody>
          <a:bodyPr/>
          <a:lstStyle/>
          <a:p>
            <a:endParaRPr lang="en-US"/>
          </a:p>
        </p:txBody>
      </p:sp>
      <p:sp>
        <p:nvSpPr>
          <p:cNvPr id="3" name="Text 1"/>
          <p:cNvSpPr/>
          <p:nvPr/>
        </p:nvSpPr>
        <p:spPr>
          <a:xfrm>
            <a:off x="932688" y="310896"/>
            <a:ext cx="8229600" cy="310896"/>
          </a:xfrm>
          <a:prstGeom prst="rect">
            <a:avLst/>
          </a:prstGeom>
          <a:noFill/>
          <a:ln/>
        </p:spPr>
        <p:txBody>
          <a:bodyPr wrap="square" lIns="0" tIns="0" rIns="0" bIns="0" rtlCol="0" anchor="ctr"/>
          <a:lstStyle/>
          <a:p>
            <a:pPr marL="0" indent="0" algn="l">
              <a:buNone/>
            </a:pPr>
            <a:r>
              <a:rPr lang="en-US" sz="1250" b="1" kern="0" spc="300">
                <a:solidFill>
                  <a:srgbClr val="4E79A7"/>
                </a:solidFill>
                <a:latin typeface="Trebuchet MS" pitchFamily="34" charset="0"/>
                <a:ea typeface="Trebuchet MS" pitchFamily="34" charset="-122"/>
                <a:cs typeface="Trebuchet MS" pitchFamily="34" charset="-120"/>
              </a:rPr>
              <a:t>DESCRIPTIVE · COST INTENSITY</a:t>
            </a:r>
            <a:endParaRPr lang="en-US" sz="1250" dirty="0"/>
          </a:p>
        </p:txBody>
      </p:sp>
      <p:sp>
        <p:nvSpPr>
          <p:cNvPr id="4" name="Text 0"/>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2700" b="1">
                <a:solidFill>
                  <a:srgbClr val="2B2A45"/>
                </a:solidFill>
                <a:latin typeface="Trebuchet MS" pitchFamily="34" charset="0"/>
                <a:ea typeface="Trebuchet MS" pitchFamily="34" charset="-122"/>
                <a:cs typeface="Trebuchet MS" pitchFamily="34" charset="-120"/>
              </a:rPr>
              <a:t>A 160× Spread in Payment per Service</a:t>
            </a:r>
            <a:endParaRPr lang="en-US" sz="2700" dirty="0"/>
          </a:p>
        </p:txBody>
      </p:sp>
      <p:sp>
        <p:nvSpPr>
          <p:cNvPr id="5" name="Text 3">
            <a:extLst>
              <a:ext uri="{C183D7F6-B498-43B3-948B-1728B52AA6E4}">
                <adec:decorative xmlns:adec="http://schemas.microsoft.com/office/drawing/2017/decorative" val="1"/>
              </a:ext>
            </a:extLst>
          </p:cNvPr>
          <p:cNvSpPr/>
          <p:nvPr/>
        </p:nvSpPr>
        <p:spPr>
          <a:xfrm>
            <a:off x="640080" y="1325880"/>
            <a:ext cx="10972800" cy="329184"/>
          </a:xfrm>
          <a:prstGeom prst="rect">
            <a:avLst/>
          </a:prstGeom>
          <a:noFill/>
          <a:ln/>
        </p:spPr>
        <p:txBody>
          <a:bodyPr wrap="square" lIns="0" tIns="0" rIns="0" bIns="0" rtlCol="0" anchor="ctr"/>
          <a:lstStyle/>
          <a:p>
            <a:pPr marL="0" indent="0">
              <a:buNone/>
            </a:pPr>
            <a:r>
              <a:rPr lang="en-US" sz="1300" i="1">
                <a:solidFill>
                  <a:srgbClr val="7C7E96"/>
                </a:solidFill>
                <a:latin typeface="Calibri" pitchFamily="34" charset="0"/>
                <a:ea typeface="Calibri" pitchFamily="34" charset="-122"/>
                <a:cs typeface="Calibri" pitchFamily="34" charset="-120"/>
              </a:rPr>
              <a:t>Selected specialties, 2022 payment per service ($) — commodity dispensing to complex surgery.</a:t>
            </a:r>
            <a:endParaRPr lang="en-US" sz="1300" dirty="0"/>
          </a:p>
        </p:txBody>
      </p:sp>
      <p:sp>
        <p:nvSpPr>
          <p:cNvPr id="6" name="chart card">
            <a:extLst>
              <a:ext uri="{C183D7F6-B498-43B3-948B-1728B52AA6E4}">
                <adec:decorative xmlns:adec="http://schemas.microsoft.com/office/drawing/2017/decorative" val="1"/>
              </a:ext>
            </a:extLst>
          </p:cNvPr>
          <p:cNvSpPr/>
          <p:nvPr/>
        </p:nvSpPr>
        <p:spPr>
          <a:xfrm>
            <a:off x="640080" y="1737360"/>
            <a:ext cx="7498080" cy="4434840"/>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graphicFrame>
        <p:nvGraphicFramePr>
          <p:cNvPr id="7" name="Payment per service spectrum" descr="Horizontal bar chart of payment per service ranging from $1.71 for Pharmacy to $276.37 for Thoracic Surgery"/>
          <p:cNvGraphicFramePr/>
          <p:nvPr>
            <p:extLst>
              <p:ext uri="{D42A27DB-BD31-4B8C-83A1-F6EECF244321}">
                <p14:modId xmlns:p14="http://schemas.microsoft.com/office/powerpoint/2010/main" val="3841105723"/>
              </p:ext>
            </p:extLst>
          </p:nvPr>
        </p:nvGraphicFramePr>
        <p:xfrm>
          <a:off x="822960" y="1874520"/>
          <a:ext cx="717804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8" name="kpi card">
            <a:extLst>
              <a:ext uri="{C183D7F6-B498-43B3-948B-1728B52AA6E4}">
                <adec:decorative xmlns:adec="http://schemas.microsoft.com/office/drawing/2017/decorative" val="1"/>
              </a:ext>
            </a:extLst>
          </p:cNvPr>
          <p:cNvSpPr/>
          <p:nvPr/>
        </p:nvSpPr>
        <p:spPr>
          <a:xfrm>
            <a:off x="8275320" y="1737360"/>
            <a:ext cx="3246120" cy="1371600"/>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9" name="kpi accent">
            <a:extLst>
              <a:ext uri="{C183D7F6-B498-43B3-948B-1728B52AA6E4}">
                <adec:decorative xmlns:adec="http://schemas.microsoft.com/office/drawing/2017/decorative" val="1"/>
              </a:ext>
            </a:extLst>
          </p:cNvPr>
          <p:cNvSpPr/>
          <p:nvPr/>
        </p:nvSpPr>
        <p:spPr>
          <a:xfrm>
            <a:off x="8275320" y="1737360"/>
            <a:ext cx="82296" cy="1371600"/>
          </a:xfrm>
          <a:prstGeom prst="rect">
            <a:avLst/>
          </a:prstGeom>
          <a:solidFill>
            <a:srgbClr val="6BA5D7"/>
          </a:solidFill>
          <a:ln/>
        </p:spPr>
        <p:txBody>
          <a:bodyPr/>
          <a:lstStyle/>
          <a:p>
            <a:endParaRPr lang="en-US"/>
          </a:p>
        </p:txBody>
      </p:sp>
      <p:sp>
        <p:nvSpPr>
          <p:cNvPr id="10" name="Text 7">
            <a:extLst>
              <a:ext uri="{C183D7F6-B498-43B3-948B-1728B52AA6E4}">
                <adec:decorative xmlns:adec="http://schemas.microsoft.com/office/drawing/2017/decorative" val="1"/>
              </a:ext>
            </a:extLst>
          </p:cNvPr>
          <p:cNvSpPr/>
          <p:nvPr/>
        </p:nvSpPr>
        <p:spPr>
          <a:xfrm>
            <a:off x="8494776" y="1883664"/>
            <a:ext cx="2880360" cy="685800"/>
          </a:xfrm>
          <a:prstGeom prst="rect">
            <a:avLst/>
          </a:prstGeom>
          <a:noFill/>
          <a:ln/>
        </p:spPr>
        <p:txBody>
          <a:bodyPr wrap="square" lIns="0" tIns="0" rIns="0" bIns="0" rtlCol="0" anchor="ctr"/>
          <a:lstStyle/>
          <a:p>
            <a:pPr marL="0" indent="0" algn="l">
              <a:buNone/>
            </a:pPr>
            <a:r>
              <a:rPr lang="en-US" sz="3000" b="1">
                <a:solidFill>
                  <a:srgbClr val="4E79A7"/>
                </a:solidFill>
                <a:latin typeface="Consolas" pitchFamily="34" charset="0"/>
                <a:ea typeface="Consolas" pitchFamily="34" charset="-122"/>
                <a:cs typeface="Consolas" pitchFamily="34" charset="-120"/>
              </a:rPr>
              <a:t>160×</a:t>
            </a:r>
            <a:endParaRPr lang="en-US" sz="3000" dirty="0"/>
          </a:p>
        </p:txBody>
      </p:sp>
      <p:sp>
        <p:nvSpPr>
          <p:cNvPr id="11" name="Text 8">
            <a:extLst>
              <a:ext uri="{C183D7F6-B498-43B3-948B-1728B52AA6E4}">
                <adec:decorative xmlns:adec="http://schemas.microsoft.com/office/drawing/2017/decorative" val="1"/>
              </a:ext>
            </a:extLst>
          </p:cNvPr>
          <p:cNvSpPr/>
          <p:nvPr/>
        </p:nvSpPr>
        <p:spPr>
          <a:xfrm>
            <a:off x="8513064" y="2560320"/>
            <a:ext cx="2834640" cy="292608"/>
          </a:xfrm>
          <a:prstGeom prst="rect">
            <a:avLst/>
          </a:prstGeom>
          <a:noFill/>
          <a:ln/>
        </p:spPr>
        <p:txBody>
          <a:bodyPr wrap="square" lIns="0" tIns="0" rIns="0" bIns="0" rtlCol="0" anchor="ctr"/>
          <a:lstStyle/>
          <a:p>
            <a:pPr marL="0" indent="0" algn="l">
              <a:buNone/>
            </a:pPr>
            <a:r>
              <a:rPr lang="en-US" sz="1100" b="1" kern="0" spc="150">
                <a:solidFill>
                  <a:srgbClr val="2B2A45"/>
                </a:solidFill>
                <a:latin typeface="Trebuchet MS" pitchFamily="34" charset="0"/>
                <a:ea typeface="Trebuchet MS" pitchFamily="34" charset="-122"/>
                <a:cs typeface="Trebuchet MS" pitchFamily="34" charset="-120"/>
              </a:rPr>
              <a:t>COST INTENSITY SPREAD</a:t>
            </a:r>
            <a:endParaRPr lang="en-US" sz="1100" dirty="0"/>
          </a:p>
        </p:txBody>
      </p:sp>
      <p:sp>
        <p:nvSpPr>
          <p:cNvPr id="12" name="Text 9"/>
          <p:cNvSpPr/>
          <p:nvPr/>
        </p:nvSpPr>
        <p:spPr>
          <a:xfrm>
            <a:off x="8513064" y="2834640"/>
            <a:ext cx="2834640" cy="274320"/>
          </a:xfrm>
          <a:prstGeom prst="rect">
            <a:avLst/>
          </a:prstGeom>
          <a:noFill/>
          <a:ln/>
        </p:spPr>
        <p:txBody>
          <a:bodyPr wrap="square" lIns="0" tIns="0" rIns="0" bIns="0" rtlCol="0" anchor="ctr"/>
          <a:lstStyle/>
          <a:p>
            <a:pPr marL="0" indent="0" algn="l">
              <a:buNone/>
            </a:pPr>
            <a:r>
              <a:rPr lang="en-US" sz="1050">
                <a:solidFill>
                  <a:srgbClr val="7C7E96"/>
                </a:solidFill>
                <a:latin typeface="Calibri" pitchFamily="34" charset="0"/>
                <a:ea typeface="Calibri" pitchFamily="34" charset="-122"/>
                <a:cs typeface="Calibri" pitchFamily="34" charset="-120"/>
              </a:rPr>
              <a:t>$1.71 → $276 / service</a:t>
            </a:r>
            <a:endParaRPr lang="en-US" sz="1050" dirty="0"/>
          </a:p>
        </p:txBody>
      </p:sp>
      <p:sp>
        <p:nvSpPr>
          <p:cNvPr id="13" name="insight card">
            <a:extLst>
              <a:ext uri="{C183D7F6-B498-43B3-948B-1728B52AA6E4}">
                <adec:decorative xmlns:adec="http://schemas.microsoft.com/office/drawing/2017/decorative" val="1"/>
              </a:ext>
            </a:extLst>
          </p:cNvPr>
          <p:cNvSpPr/>
          <p:nvPr/>
        </p:nvSpPr>
        <p:spPr>
          <a:xfrm>
            <a:off x="8275320" y="3246120"/>
            <a:ext cx="3246120" cy="2926080"/>
          </a:xfrm>
          <a:prstGeom prst="rect">
            <a:avLst/>
          </a:prstGeom>
          <a:solidFill>
            <a:srgbClr val="43426A"/>
          </a:solidFill>
          <a:ln/>
        </p:spPr>
        <p:txBody>
          <a:bodyPr/>
          <a:lstStyle/>
          <a:p>
            <a:endParaRPr lang="en-US"/>
          </a:p>
        </p:txBody>
      </p:sp>
      <p:sp>
        <p:nvSpPr>
          <p:cNvPr id="14" name="Text 11">
            <a:extLst>
              <a:ext uri="{C183D7F6-B498-43B3-948B-1728B52AA6E4}">
                <adec:decorative xmlns:adec="http://schemas.microsoft.com/office/drawing/2017/decorative" val="1"/>
              </a:ext>
            </a:extLst>
          </p:cNvPr>
          <p:cNvSpPr/>
          <p:nvPr/>
        </p:nvSpPr>
        <p:spPr>
          <a:xfrm>
            <a:off x="8513064" y="3401568"/>
            <a:ext cx="2788920" cy="365760"/>
          </a:xfrm>
          <a:prstGeom prst="rect">
            <a:avLst/>
          </a:prstGeom>
          <a:noFill/>
          <a:ln/>
        </p:spPr>
        <p:txBody>
          <a:bodyPr wrap="square" lIns="0" tIns="0" rIns="0" bIns="0" rtlCol="0" anchor="ctr"/>
          <a:lstStyle/>
          <a:p>
            <a:pPr marL="0" indent="0">
              <a:buNone/>
            </a:pPr>
            <a:r>
              <a:rPr lang="en-US" sz="1300" b="1">
                <a:solidFill>
                  <a:srgbClr val="6BA5D7"/>
                </a:solidFill>
                <a:latin typeface="Trebuchet MS" pitchFamily="34" charset="0"/>
                <a:ea typeface="Trebuchet MS" pitchFamily="34" charset="-122"/>
                <a:cs typeface="Trebuchet MS" pitchFamily="34" charset="-120"/>
              </a:rPr>
              <a:t>Implication</a:t>
            </a:r>
            <a:endParaRPr lang="en-US" sz="1300" dirty="0"/>
          </a:p>
        </p:txBody>
      </p:sp>
      <p:sp>
        <p:nvSpPr>
          <p:cNvPr id="15" name="Text 12"/>
          <p:cNvSpPr/>
          <p:nvPr/>
        </p:nvSpPr>
        <p:spPr>
          <a:xfrm>
            <a:off x="8513064" y="3767328"/>
            <a:ext cx="2788920" cy="2286000"/>
          </a:xfrm>
          <a:prstGeom prst="rect">
            <a:avLst/>
          </a:prstGeom>
          <a:noFill/>
          <a:ln/>
        </p:spPr>
        <p:txBody>
          <a:bodyPr wrap="square" lIns="0" tIns="0" rIns="0" bIns="0" rtlCol="0" anchor="t"/>
          <a:lstStyle/>
          <a:p>
            <a:pPr marL="0" indent="0">
              <a:lnSpc>
                <a:spcPct val="104000"/>
              </a:lnSpc>
              <a:buNone/>
            </a:pPr>
            <a:r>
              <a:rPr lang="en-US" sz="1250" b="1" dirty="0">
                <a:solidFill>
                  <a:srgbClr val="FFFFFF"/>
                </a:solidFill>
                <a:latin typeface="Calibri" pitchFamily="34" charset="0"/>
                <a:ea typeface="Calibri" pitchFamily="34" charset="-122"/>
                <a:cs typeface="Calibri" pitchFamily="34" charset="-120"/>
              </a:rPr>
              <a:t>Total spend and unit cost tell different stories.</a:t>
            </a:r>
            <a:endParaRPr lang="en-US" sz="1250" dirty="0"/>
          </a:p>
          <a:p>
            <a:pPr marL="0" indent="0">
              <a:lnSpc>
                <a:spcPct val="104000"/>
              </a:lnSpc>
              <a:buNone/>
            </a:pPr>
            <a:r>
              <a:rPr lang="en-US" sz="1250">
                <a:solidFill>
                  <a:srgbClr val="CBD9E9"/>
                </a:solidFill>
                <a:latin typeface="Calibri" pitchFamily="34" charset="0"/>
                <a:ea typeface="Calibri" pitchFamily="34" charset="-122"/>
                <a:cs typeface="Calibri" pitchFamily="34" charset="-120"/>
              </a:rPr>
              <a:t> </a:t>
            </a:r>
            <a:endParaRPr lang="en-US" sz="1250" dirty="0"/>
          </a:p>
          <a:p>
            <a:pPr marL="0" indent="0">
              <a:lnSpc>
                <a:spcPct val="104000"/>
              </a:lnSpc>
              <a:buNone/>
            </a:pPr>
            <a:r>
              <a:rPr lang="en-US" sz="1250">
                <a:solidFill>
                  <a:srgbClr val="CBD9E9"/>
                </a:solidFill>
                <a:latin typeface="Calibri" pitchFamily="34" charset="0"/>
                <a:ea typeface="Calibri" pitchFamily="34" charset="-122"/>
                <a:cs typeface="Calibri" pitchFamily="34" charset="-120"/>
              </a:rPr>
              <a:t>Commodity fields win on volume; surgical fields win on intensity. Any cost-management lever must be matched to the right group.</a:t>
            </a:r>
            <a:endParaRPr lang="en-US" sz="1250" dirty="0"/>
          </a:p>
        </p:txBody>
      </p:sp>
      <p:sp>
        <p:nvSpPr>
          <p:cNvPr id="16" name="Text 13">
            <a:extLst>
              <a:ext uri="{C183D7F6-B498-43B3-948B-1728B52AA6E4}">
                <adec:decorative xmlns:adec="http://schemas.microsoft.com/office/drawing/2017/decorative" val="1"/>
              </a:ext>
            </a:extLst>
          </p:cNvPr>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a:solidFill>
                  <a:srgbClr val="7C7E96"/>
                </a:solidFill>
                <a:latin typeface="Trebuchet MS" pitchFamily="34" charset="0"/>
                <a:ea typeface="Trebuchet MS" pitchFamily="34" charset="-122"/>
                <a:cs typeface="Trebuchet MS" pitchFamily="34" charset="-120"/>
              </a:rPr>
              <a:t>CMS MEDICARE PART B  ·  CY 2022–2024</a:t>
            </a:r>
            <a:endParaRPr lang="en-US" sz="900" dirty="0"/>
          </a:p>
        </p:txBody>
      </p:sp>
      <p:sp>
        <p:nvSpPr>
          <p:cNvPr id="17" name="Text 14">
            <a:extLst>
              <a:ext uri="{C183D7F6-B498-43B3-948B-1728B52AA6E4}">
                <adec:decorative xmlns:adec="http://schemas.microsoft.com/office/drawing/2017/decorative" val="1"/>
              </a:ext>
            </a:extLst>
          </p:cNvPr>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a:solidFill>
                  <a:srgbClr val="4E79A7"/>
                </a:solidFill>
                <a:latin typeface="Consolas" pitchFamily="34" charset="0"/>
                <a:ea typeface="Consolas" pitchFamily="34" charset="-122"/>
                <a:cs typeface="Consolas" pitchFamily="34" charset="-120"/>
              </a:rPr>
              <a:t>12</a:t>
            </a:r>
            <a:endParaRPr lang="en-US" sz="1000" dirty="0"/>
          </a:p>
        </p:txBody>
      </p:sp>
      <p:sp>
        <p:nvSpPr>
          <p:cNvPr id="18" name="cy2022 note">
            <a:extLst>
              <a:ext uri="{C183D7F6-B498-43B3-948B-1728B52AA6E4}">
                <adec:decorative xmlns:adec="http://schemas.microsoft.com/office/drawing/2017/decorative" val="1"/>
              </a:ext>
            </a:extLst>
          </p:cNvPr>
          <p:cNvSpPr/>
          <p:nvPr/>
        </p:nvSpPr>
        <p:spPr>
          <a:xfrm>
            <a:off x="640080" y="6181344"/>
            <a:ext cx="7498080" cy="250000"/>
          </a:xfrm>
          <a:prstGeom prst="rect">
            <a:avLst/>
          </a:prstGeom>
          <a:noFill/>
          <a:ln/>
        </p:spPr>
        <p:txBody>
          <a:bodyPr wrap="square" lIns="0" tIns="0" rIns="0" bIns="0" rtlCol="0" anchor="ctr"/>
          <a:lstStyle/>
          <a:p>
            <a:pPr marL="0" indent="0" algn="l">
              <a:buNone/>
            </a:pPr>
            <a:r>
              <a:rPr lang="en-US" sz="1000" i="1">
                <a:solidFill>
                  <a:srgbClr val="7C7E96"/>
                </a:solidFill>
                <a:latin typeface="Calibri" pitchFamily="34" charset="0"/>
                <a:ea typeface="Calibri" pitchFamily="34" charset="-122"/>
                <a:cs typeface="Calibri" pitchFamily="34" charset="-120"/>
              </a:rPr>
              <a:t>Specialty-level ranking shown for CY 2022 due to available complete extract.</a:t>
            </a:r>
            <a:endParaRPr lang="en-US" sz="1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40080" y="406908"/>
            <a:ext cx="201168" cy="128016"/>
          </a:xfrm>
          <a:prstGeom prst="rect">
            <a:avLst/>
          </a:prstGeom>
          <a:solidFill>
            <a:srgbClr val="6BA5D7"/>
          </a:solidFill>
          <a:ln/>
        </p:spPr>
        <p:txBody>
          <a:bodyPr/>
          <a:lstStyle/>
          <a:p>
            <a:endParaRPr lang="en-US"/>
          </a:p>
        </p:txBody>
      </p:sp>
      <p:sp>
        <p:nvSpPr>
          <p:cNvPr id="3" name="Text 1"/>
          <p:cNvSpPr/>
          <p:nvPr/>
        </p:nvSpPr>
        <p:spPr>
          <a:xfrm>
            <a:off x="932688" y="310896"/>
            <a:ext cx="8229600" cy="310896"/>
          </a:xfrm>
          <a:prstGeom prst="rect">
            <a:avLst/>
          </a:prstGeom>
          <a:noFill/>
          <a:ln/>
        </p:spPr>
        <p:txBody>
          <a:bodyPr wrap="square" lIns="0" tIns="0" rIns="0" bIns="0" rtlCol="0" anchor="ctr"/>
          <a:lstStyle/>
          <a:p>
            <a:pPr marL="0" indent="0" algn="l">
              <a:buNone/>
            </a:pPr>
            <a:r>
              <a:rPr lang="en-US" sz="1250" b="1" kern="0" spc="300">
                <a:solidFill>
                  <a:srgbClr val="4E79A7"/>
                </a:solidFill>
                <a:latin typeface="Trebuchet MS" pitchFamily="34" charset="0"/>
                <a:ea typeface="Trebuchet MS" pitchFamily="34" charset="-122"/>
                <a:cs typeface="Trebuchet MS" pitchFamily="34" charset="-120"/>
              </a:rPr>
              <a:t>SEGMENTATION · CLUSTERING</a:t>
            </a:r>
            <a:endParaRPr lang="en-US" sz="1250" dirty="0"/>
          </a:p>
        </p:txBody>
      </p:sp>
      <p:sp>
        <p:nvSpPr>
          <p:cNvPr id="4" name="Text 0"/>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2700" b="1">
                <a:solidFill>
                  <a:srgbClr val="2B2A45"/>
                </a:solidFill>
                <a:latin typeface="Trebuchet MS" pitchFamily="34" charset="0"/>
                <a:ea typeface="Trebuchet MS" pitchFamily="34" charset="-122"/>
                <a:cs typeface="Trebuchet MS" pitchFamily="34" charset="-120"/>
              </a:rPr>
              <a:t>Three Natural Specialty Segments</a:t>
            </a:r>
            <a:endParaRPr lang="en-US" sz="2700" dirty="0"/>
          </a:p>
        </p:txBody>
      </p:sp>
      <p:sp>
        <p:nvSpPr>
          <p:cNvPr id="5" name="Text 3">
            <a:extLst>
              <a:ext uri="{C183D7F6-B498-43B3-948B-1728B52AA6E4}">
                <adec:decorative xmlns:adec="http://schemas.microsoft.com/office/drawing/2017/decorative" val="1"/>
              </a:ext>
            </a:extLst>
          </p:cNvPr>
          <p:cNvSpPr/>
          <p:nvPr/>
        </p:nvSpPr>
        <p:spPr>
          <a:xfrm>
            <a:off x="640080" y="1325880"/>
            <a:ext cx="10972800" cy="329184"/>
          </a:xfrm>
          <a:prstGeom prst="rect">
            <a:avLst/>
          </a:prstGeom>
          <a:noFill/>
          <a:ln/>
        </p:spPr>
        <p:txBody>
          <a:bodyPr wrap="square" lIns="0" tIns="0" rIns="0" bIns="0" rtlCol="0" anchor="ctr"/>
          <a:lstStyle/>
          <a:p>
            <a:pPr marL="0" indent="0">
              <a:buNone/>
            </a:pPr>
            <a:r>
              <a:rPr lang="en-US" sz="1300" i="1">
                <a:solidFill>
                  <a:srgbClr val="7C7E96"/>
                </a:solidFill>
                <a:latin typeface="Calibri" pitchFamily="34" charset="0"/>
                <a:ea typeface="Calibri" pitchFamily="34" charset="-122"/>
                <a:cs typeface="Calibri" pitchFamily="34" charset="-120"/>
              </a:rPr>
              <a:t>K-means on volume, payment, payment-per-service, and payment rate surfaces three archetypes.</a:t>
            </a:r>
            <a:endParaRPr lang="en-US" sz="1300" dirty="0"/>
          </a:p>
        </p:txBody>
      </p:sp>
      <p:sp>
        <p:nvSpPr>
          <p:cNvPr id="6" name="seg card">
            <a:extLst>
              <a:ext uri="{C183D7F6-B498-43B3-948B-1728B52AA6E4}">
                <adec:decorative xmlns:adec="http://schemas.microsoft.com/office/drawing/2017/decorative" val="1"/>
              </a:ext>
            </a:extLst>
          </p:cNvPr>
          <p:cNvSpPr/>
          <p:nvPr/>
        </p:nvSpPr>
        <p:spPr>
          <a:xfrm>
            <a:off x="640080" y="1828800"/>
            <a:ext cx="3529584" cy="4160520"/>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7" name="seg head">
            <a:extLst>
              <a:ext uri="{C183D7F6-B498-43B3-948B-1728B52AA6E4}">
                <adec:decorative xmlns:adec="http://schemas.microsoft.com/office/drawing/2017/decorative" val="1"/>
              </a:ext>
            </a:extLst>
          </p:cNvPr>
          <p:cNvSpPr/>
          <p:nvPr/>
        </p:nvSpPr>
        <p:spPr>
          <a:xfrm>
            <a:off x="640080" y="1828800"/>
            <a:ext cx="3529584" cy="822960"/>
          </a:xfrm>
          <a:prstGeom prst="rect">
            <a:avLst/>
          </a:prstGeom>
          <a:solidFill>
            <a:srgbClr val="43426A"/>
          </a:solidFill>
          <a:ln/>
        </p:spPr>
        <p:txBody>
          <a:bodyPr/>
          <a:lstStyle/>
          <a:p>
            <a:endParaRPr lang="en-US"/>
          </a:p>
        </p:txBody>
      </p:sp>
      <p:sp>
        <p:nvSpPr>
          <p:cNvPr id="8" name="Text 6"/>
          <p:cNvSpPr/>
          <p:nvPr/>
        </p:nvSpPr>
        <p:spPr>
          <a:xfrm>
            <a:off x="877824" y="1938528"/>
            <a:ext cx="1097280" cy="603504"/>
          </a:xfrm>
          <a:prstGeom prst="rect">
            <a:avLst/>
          </a:prstGeom>
          <a:noFill/>
          <a:ln/>
        </p:spPr>
        <p:txBody>
          <a:bodyPr wrap="square" lIns="0" tIns="0" rIns="0" bIns="0" rtlCol="0" anchor="ctr"/>
          <a:lstStyle/>
          <a:p>
            <a:pPr marL="0" indent="0">
              <a:buNone/>
            </a:pPr>
            <a:r>
              <a:rPr lang="en-US" sz="3000" b="1">
                <a:solidFill>
                  <a:srgbClr val="6BA5D7"/>
                </a:solidFill>
                <a:latin typeface="Consolas" pitchFamily="34" charset="0"/>
                <a:ea typeface="Consolas" pitchFamily="34" charset="-122"/>
                <a:cs typeface="Consolas" pitchFamily="34" charset="-120"/>
              </a:rPr>
              <a:t>01</a:t>
            </a:r>
            <a:endParaRPr lang="en-US" sz="3000" dirty="0"/>
          </a:p>
        </p:txBody>
      </p:sp>
      <p:sp>
        <p:nvSpPr>
          <p:cNvPr id="9" name="Text 7">
            <a:extLst>
              <a:ext uri="{C183D7F6-B498-43B3-948B-1728B52AA6E4}">
                <adec:decorative xmlns:adec="http://schemas.microsoft.com/office/drawing/2017/decorative" val="1"/>
              </a:ext>
            </a:extLst>
          </p:cNvPr>
          <p:cNvSpPr/>
          <p:nvPr/>
        </p:nvSpPr>
        <p:spPr>
          <a:xfrm>
            <a:off x="1691640" y="1938528"/>
            <a:ext cx="2295144" cy="603504"/>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High-Volume Commodity</a:t>
            </a:r>
            <a:endParaRPr lang="en-US" sz="1400" dirty="0"/>
          </a:p>
        </p:txBody>
      </p:sp>
      <p:sp>
        <p:nvSpPr>
          <p:cNvPr id="10" name="Text 8"/>
          <p:cNvSpPr/>
          <p:nvPr/>
        </p:nvSpPr>
        <p:spPr>
          <a:xfrm>
            <a:off x="877824" y="2834640"/>
            <a:ext cx="3072384" cy="777240"/>
          </a:xfrm>
          <a:prstGeom prst="rect">
            <a:avLst/>
          </a:prstGeom>
          <a:noFill/>
          <a:ln/>
        </p:spPr>
        <p:txBody>
          <a:bodyPr wrap="square" lIns="0" tIns="0" rIns="0" bIns="0" rtlCol="0" anchor="t"/>
          <a:lstStyle/>
          <a:p>
            <a:pPr marL="0" indent="0">
              <a:lnSpc>
                <a:spcPct val="105000"/>
              </a:lnSpc>
              <a:buNone/>
            </a:pPr>
            <a:r>
              <a:rPr lang="en-US" sz="1100" b="1" kern="0" spc="50">
                <a:solidFill>
                  <a:srgbClr val="4E79A7"/>
                </a:solidFill>
                <a:latin typeface="Trebuchet MS" pitchFamily="34" charset="0"/>
                <a:ea typeface="Trebuchet MS" pitchFamily="34" charset="-122"/>
                <a:cs typeface="Trebuchet MS" pitchFamily="34" charset="-120"/>
              </a:rPr>
              <a:t>LABS, PHARMACY, IMAGING, SUPPLIES</a:t>
            </a:r>
            <a:endParaRPr lang="en-US" sz="1100" dirty="0"/>
          </a:p>
        </p:txBody>
      </p:sp>
      <p:sp>
        <p:nvSpPr>
          <p:cNvPr id="11" name="Text 9"/>
          <p:cNvSpPr/>
          <p:nvPr/>
        </p:nvSpPr>
        <p:spPr>
          <a:xfrm>
            <a:off x="877824" y="3703320"/>
            <a:ext cx="3072384" cy="2103120"/>
          </a:xfrm>
          <a:prstGeom prst="rect">
            <a:avLst/>
          </a:prstGeom>
          <a:noFill/>
          <a:ln/>
        </p:spPr>
        <p:txBody>
          <a:bodyPr wrap="square" lIns="0" tIns="0" rIns="0" bIns="0" rtlCol="0" anchor="t"/>
          <a:lstStyle/>
          <a:p>
            <a:pPr marL="0" indent="0">
              <a:lnSpc>
                <a:spcPct val="105000"/>
              </a:lnSpc>
              <a:buNone/>
            </a:pPr>
            <a:r>
              <a:rPr lang="en-US" sz="1250">
                <a:solidFill>
                  <a:srgbClr val="7C7E96"/>
                </a:solidFill>
                <a:latin typeface="Calibri" pitchFamily="34" charset="0"/>
                <a:ea typeface="Calibri" pitchFamily="34" charset="-122"/>
                <a:cs typeface="Calibri" pitchFamily="34" charset="-120"/>
              </a:rPr>
              <a:t>Low unit cost, immense throughput, high payment rate. Managed through pricing and volume controls.</a:t>
            </a:r>
            <a:endParaRPr lang="en-US" sz="1250" dirty="0"/>
          </a:p>
        </p:txBody>
      </p:sp>
      <p:sp>
        <p:nvSpPr>
          <p:cNvPr id="12" name="seg card">
            <a:extLst>
              <a:ext uri="{C183D7F6-B498-43B3-948B-1728B52AA6E4}">
                <adec:decorative xmlns:adec="http://schemas.microsoft.com/office/drawing/2017/decorative" val="1"/>
              </a:ext>
            </a:extLst>
          </p:cNvPr>
          <p:cNvSpPr/>
          <p:nvPr/>
        </p:nvSpPr>
        <p:spPr>
          <a:xfrm>
            <a:off x="4498848" y="1828800"/>
            <a:ext cx="3529584" cy="4160520"/>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13" name="seg head">
            <a:extLst>
              <a:ext uri="{C183D7F6-B498-43B3-948B-1728B52AA6E4}">
                <adec:decorative xmlns:adec="http://schemas.microsoft.com/office/drawing/2017/decorative" val="1"/>
              </a:ext>
            </a:extLst>
          </p:cNvPr>
          <p:cNvSpPr/>
          <p:nvPr/>
        </p:nvSpPr>
        <p:spPr>
          <a:xfrm>
            <a:off x="4498848" y="1828800"/>
            <a:ext cx="3529584" cy="822960"/>
          </a:xfrm>
          <a:prstGeom prst="rect">
            <a:avLst/>
          </a:prstGeom>
          <a:solidFill>
            <a:srgbClr val="43426A"/>
          </a:solidFill>
          <a:ln/>
        </p:spPr>
        <p:txBody>
          <a:bodyPr/>
          <a:lstStyle/>
          <a:p>
            <a:endParaRPr lang="en-US"/>
          </a:p>
        </p:txBody>
      </p:sp>
      <p:sp>
        <p:nvSpPr>
          <p:cNvPr id="14" name="Text 12"/>
          <p:cNvSpPr/>
          <p:nvPr/>
        </p:nvSpPr>
        <p:spPr>
          <a:xfrm>
            <a:off x="4736592" y="1938528"/>
            <a:ext cx="1097280" cy="603504"/>
          </a:xfrm>
          <a:prstGeom prst="rect">
            <a:avLst/>
          </a:prstGeom>
          <a:noFill/>
          <a:ln/>
        </p:spPr>
        <p:txBody>
          <a:bodyPr wrap="square" lIns="0" tIns="0" rIns="0" bIns="0" rtlCol="0" anchor="ctr"/>
          <a:lstStyle/>
          <a:p>
            <a:pPr marL="0" indent="0">
              <a:buNone/>
            </a:pPr>
            <a:r>
              <a:rPr lang="en-US" sz="3000" b="1">
                <a:solidFill>
                  <a:srgbClr val="6BA5D7"/>
                </a:solidFill>
                <a:latin typeface="Consolas" pitchFamily="34" charset="0"/>
                <a:ea typeface="Consolas" pitchFamily="34" charset="-122"/>
                <a:cs typeface="Consolas" pitchFamily="34" charset="-120"/>
              </a:rPr>
              <a:t>02</a:t>
            </a:r>
            <a:endParaRPr lang="en-US" sz="3000" dirty="0"/>
          </a:p>
        </p:txBody>
      </p:sp>
      <p:sp>
        <p:nvSpPr>
          <p:cNvPr id="15" name="Text 13"/>
          <p:cNvSpPr/>
          <p:nvPr/>
        </p:nvSpPr>
        <p:spPr>
          <a:xfrm>
            <a:off x="5550408" y="1938528"/>
            <a:ext cx="2295144" cy="603504"/>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Balanced High-Spend</a:t>
            </a:r>
            <a:endParaRPr lang="en-US" sz="1400" dirty="0"/>
          </a:p>
        </p:txBody>
      </p:sp>
      <p:sp>
        <p:nvSpPr>
          <p:cNvPr id="16" name="Text 14"/>
          <p:cNvSpPr/>
          <p:nvPr/>
        </p:nvSpPr>
        <p:spPr>
          <a:xfrm>
            <a:off x="4736592" y="2834640"/>
            <a:ext cx="3072384" cy="777240"/>
          </a:xfrm>
          <a:prstGeom prst="rect">
            <a:avLst/>
          </a:prstGeom>
          <a:noFill/>
          <a:ln/>
        </p:spPr>
        <p:txBody>
          <a:bodyPr wrap="square" lIns="0" tIns="0" rIns="0" bIns="0" rtlCol="0" anchor="t"/>
          <a:lstStyle/>
          <a:p>
            <a:pPr marL="0" indent="0">
              <a:lnSpc>
                <a:spcPct val="105000"/>
              </a:lnSpc>
              <a:buNone/>
            </a:pPr>
            <a:r>
              <a:rPr lang="en-US" sz="1100" b="1" kern="0" spc="50">
                <a:solidFill>
                  <a:srgbClr val="4E79A7"/>
                </a:solidFill>
                <a:latin typeface="Trebuchet MS" pitchFamily="34" charset="0"/>
                <a:ea typeface="Trebuchet MS" pitchFamily="34" charset="-122"/>
                <a:cs typeface="Trebuchet MS" pitchFamily="34" charset="-120"/>
              </a:rPr>
              <a:t>INTERNAL MEDICINE, FAMILY PRACTICE, NP, OPHTHALMOLOGY</a:t>
            </a:r>
            <a:endParaRPr lang="en-US" sz="1100" dirty="0"/>
          </a:p>
        </p:txBody>
      </p:sp>
      <p:sp>
        <p:nvSpPr>
          <p:cNvPr id="17" name="Text 15">
            <a:extLst>
              <a:ext uri="{C183D7F6-B498-43B3-948B-1728B52AA6E4}">
                <adec:decorative xmlns:adec="http://schemas.microsoft.com/office/drawing/2017/decorative" val="1"/>
              </a:ext>
            </a:extLst>
          </p:cNvPr>
          <p:cNvSpPr/>
          <p:nvPr/>
        </p:nvSpPr>
        <p:spPr>
          <a:xfrm>
            <a:off x="4736592" y="3703320"/>
            <a:ext cx="3072384" cy="2103120"/>
          </a:xfrm>
          <a:prstGeom prst="rect">
            <a:avLst/>
          </a:prstGeom>
          <a:noFill/>
          <a:ln/>
        </p:spPr>
        <p:txBody>
          <a:bodyPr wrap="square" lIns="0" tIns="0" rIns="0" bIns="0" rtlCol="0" anchor="t"/>
          <a:lstStyle/>
          <a:p>
            <a:pPr marL="0" indent="0">
              <a:lnSpc>
                <a:spcPct val="105000"/>
              </a:lnSpc>
              <a:buNone/>
            </a:pPr>
            <a:r>
              <a:rPr lang="en-US" sz="1250">
                <a:solidFill>
                  <a:srgbClr val="7C7E96"/>
                </a:solidFill>
                <a:latin typeface="Calibri" pitchFamily="34" charset="0"/>
                <a:ea typeface="Calibri" pitchFamily="34" charset="-122"/>
                <a:cs typeface="Calibri" pitchFamily="34" charset="-120"/>
              </a:rPr>
              <a:t>Moderate unit cost at large scale — the core of aggregate spending and the biggest budget levers.</a:t>
            </a:r>
            <a:endParaRPr lang="en-US" sz="1250" dirty="0"/>
          </a:p>
        </p:txBody>
      </p:sp>
      <p:sp>
        <p:nvSpPr>
          <p:cNvPr id="18" name="seg card">
            <a:extLst>
              <a:ext uri="{C183D7F6-B498-43B3-948B-1728B52AA6E4}">
                <adec:decorative xmlns:adec="http://schemas.microsoft.com/office/drawing/2017/decorative" val="1"/>
              </a:ext>
            </a:extLst>
          </p:cNvPr>
          <p:cNvSpPr/>
          <p:nvPr/>
        </p:nvSpPr>
        <p:spPr>
          <a:xfrm>
            <a:off x="8357616" y="1828800"/>
            <a:ext cx="3529584" cy="4160520"/>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19" name="seg head">
            <a:extLst>
              <a:ext uri="{C183D7F6-B498-43B3-948B-1728B52AA6E4}">
                <adec:decorative xmlns:adec="http://schemas.microsoft.com/office/drawing/2017/decorative" val="1"/>
              </a:ext>
            </a:extLst>
          </p:cNvPr>
          <p:cNvSpPr/>
          <p:nvPr/>
        </p:nvSpPr>
        <p:spPr>
          <a:xfrm>
            <a:off x="8357616" y="1828800"/>
            <a:ext cx="3529584" cy="822960"/>
          </a:xfrm>
          <a:prstGeom prst="rect">
            <a:avLst/>
          </a:prstGeom>
          <a:solidFill>
            <a:srgbClr val="43426A"/>
          </a:solidFill>
          <a:ln/>
        </p:spPr>
        <p:txBody>
          <a:bodyPr/>
          <a:lstStyle/>
          <a:p>
            <a:endParaRPr lang="en-US"/>
          </a:p>
        </p:txBody>
      </p:sp>
      <p:sp>
        <p:nvSpPr>
          <p:cNvPr id="20" name="Text 18"/>
          <p:cNvSpPr/>
          <p:nvPr/>
        </p:nvSpPr>
        <p:spPr>
          <a:xfrm>
            <a:off x="8595360" y="1938528"/>
            <a:ext cx="1097280" cy="603504"/>
          </a:xfrm>
          <a:prstGeom prst="rect">
            <a:avLst/>
          </a:prstGeom>
          <a:noFill/>
          <a:ln/>
        </p:spPr>
        <p:txBody>
          <a:bodyPr wrap="square" lIns="0" tIns="0" rIns="0" bIns="0" rtlCol="0" anchor="ctr"/>
          <a:lstStyle/>
          <a:p>
            <a:pPr marL="0" indent="0">
              <a:buNone/>
            </a:pPr>
            <a:r>
              <a:rPr lang="en-US" sz="3000" b="1">
                <a:solidFill>
                  <a:srgbClr val="6BA5D7"/>
                </a:solidFill>
                <a:latin typeface="Consolas" pitchFamily="34" charset="0"/>
                <a:ea typeface="Consolas" pitchFamily="34" charset="-122"/>
                <a:cs typeface="Consolas" pitchFamily="34" charset="-120"/>
              </a:rPr>
              <a:t>03</a:t>
            </a:r>
            <a:endParaRPr lang="en-US" sz="3000" dirty="0"/>
          </a:p>
        </p:txBody>
      </p:sp>
      <p:sp>
        <p:nvSpPr>
          <p:cNvPr id="21" name="Text 19"/>
          <p:cNvSpPr/>
          <p:nvPr/>
        </p:nvSpPr>
        <p:spPr>
          <a:xfrm>
            <a:off x="9409176" y="1938528"/>
            <a:ext cx="2295144" cy="603504"/>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Specialized High-Intensity</a:t>
            </a:r>
            <a:endParaRPr lang="en-US" sz="1400" dirty="0"/>
          </a:p>
        </p:txBody>
      </p:sp>
      <p:sp>
        <p:nvSpPr>
          <p:cNvPr id="22" name="Text 20"/>
          <p:cNvSpPr/>
          <p:nvPr/>
        </p:nvSpPr>
        <p:spPr>
          <a:xfrm>
            <a:off x="8595360" y="2834640"/>
            <a:ext cx="3072384" cy="777240"/>
          </a:xfrm>
          <a:prstGeom prst="rect">
            <a:avLst/>
          </a:prstGeom>
          <a:noFill/>
          <a:ln/>
        </p:spPr>
        <p:txBody>
          <a:bodyPr wrap="square" lIns="0" tIns="0" rIns="0" bIns="0" rtlCol="0" anchor="t"/>
          <a:lstStyle/>
          <a:p>
            <a:pPr marL="0" indent="0">
              <a:lnSpc>
                <a:spcPct val="105000"/>
              </a:lnSpc>
              <a:buNone/>
            </a:pPr>
            <a:r>
              <a:rPr lang="en-US" sz="1100" b="1" kern="0" spc="50">
                <a:solidFill>
                  <a:srgbClr val="4E79A7"/>
                </a:solidFill>
                <a:latin typeface="Trebuchet MS" pitchFamily="34" charset="0"/>
                <a:ea typeface="Trebuchet MS" pitchFamily="34" charset="-122"/>
                <a:cs typeface="Trebuchet MS" pitchFamily="34" charset="-120"/>
              </a:rPr>
              <a:t>CARDIAC, THORACIC &amp; NEUROSURGERY, ONCOLOGY</a:t>
            </a:r>
            <a:endParaRPr lang="en-US" sz="1100" dirty="0"/>
          </a:p>
        </p:txBody>
      </p:sp>
      <p:sp>
        <p:nvSpPr>
          <p:cNvPr id="23" name="Text 21"/>
          <p:cNvSpPr/>
          <p:nvPr/>
        </p:nvSpPr>
        <p:spPr>
          <a:xfrm>
            <a:off x="8595360" y="3703320"/>
            <a:ext cx="3072384" cy="2103120"/>
          </a:xfrm>
          <a:prstGeom prst="rect">
            <a:avLst/>
          </a:prstGeom>
          <a:noFill/>
          <a:ln/>
        </p:spPr>
        <p:txBody>
          <a:bodyPr wrap="square" lIns="0" tIns="0" rIns="0" bIns="0" rtlCol="0" anchor="t"/>
          <a:lstStyle/>
          <a:p>
            <a:pPr marL="0" indent="0">
              <a:lnSpc>
                <a:spcPct val="105000"/>
              </a:lnSpc>
              <a:buNone/>
            </a:pPr>
            <a:r>
              <a:rPr lang="en-US" sz="1250">
                <a:solidFill>
                  <a:srgbClr val="7C7E96"/>
                </a:solidFill>
                <a:latin typeface="Calibri" pitchFamily="34" charset="0"/>
                <a:ea typeface="Calibri" pitchFamily="34" charset="-122"/>
                <a:cs typeface="Calibri" pitchFamily="34" charset="-120"/>
              </a:rPr>
              <a:t>Low volume, very high payment per service. Managed through appropriateness and clinical review.</a:t>
            </a:r>
            <a:endParaRPr lang="en-US" sz="1250" dirty="0"/>
          </a:p>
        </p:txBody>
      </p:sp>
      <p:sp>
        <p:nvSpPr>
          <p:cNvPr id="24" name="Text 22"/>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a:solidFill>
                  <a:srgbClr val="7C7E96"/>
                </a:solidFill>
                <a:latin typeface="Trebuchet MS" pitchFamily="34" charset="0"/>
                <a:ea typeface="Trebuchet MS" pitchFamily="34" charset="-122"/>
                <a:cs typeface="Trebuchet MS" pitchFamily="34" charset="-120"/>
              </a:rPr>
              <a:t>CMS MEDICARE PART B  ·  CY 2022–2024</a:t>
            </a:r>
            <a:endParaRPr lang="en-US" sz="900" dirty="0"/>
          </a:p>
        </p:txBody>
      </p:sp>
      <p:sp>
        <p:nvSpPr>
          <p:cNvPr id="25" name="Text 23"/>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a:solidFill>
                  <a:srgbClr val="4E79A7"/>
                </a:solidFill>
                <a:latin typeface="Consolas" pitchFamily="34" charset="0"/>
                <a:ea typeface="Consolas" pitchFamily="34" charset="-122"/>
                <a:cs typeface="Consolas"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40080" y="406908"/>
            <a:ext cx="201168" cy="128016"/>
          </a:xfrm>
          <a:prstGeom prst="rect">
            <a:avLst/>
          </a:prstGeom>
          <a:solidFill>
            <a:srgbClr val="6BA5D7"/>
          </a:solidFill>
          <a:ln/>
        </p:spPr>
        <p:txBody>
          <a:bodyPr/>
          <a:lstStyle/>
          <a:p>
            <a:endParaRPr lang="en-US"/>
          </a:p>
        </p:txBody>
      </p:sp>
      <p:sp>
        <p:nvSpPr>
          <p:cNvPr id="3" name="kicker text"/>
          <p:cNvSpPr/>
          <p:nvPr/>
        </p:nvSpPr>
        <p:spPr>
          <a:xfrm>
            <a:off x="932688" y="310896"/>
            <a:ext cx="8229600" cy="310896"/>
          </a:xfrm>
          <a:prstGeom prst="rect">
            <a:avLst/>
          </a:prstGeom>
          <a:noFill/>
          <a:ln/>
        </p:spPr>
        <p:txBody>
          <a:bodyPr wrap="square" lIns="0" tIns="0" rIns="0" bIns="0" rtlCol="0" anchor="ctr"/>
          <a:lstStyle/>
          <a:p>
            <a:pPr marL="0" indent="0" algn="l">
              <a:buNone/>
            </a:pPr>
            <a:r>
              <a:rPr lang="en-US" sz="1250" b="1" kern="0" spc="300">
                <a:solidFill>
                  <a:srgbClr val="4E79A7"/>
                </a:solidFill>
                <a:latin typeface="Trebuchet MS" pitchFamily="34" charset="0"/>
                <a:ea typeface="Trebuchet MS" pitchFamily="34" charset="-122"/>
                <a:cs typeface="Trebuchet MS" pitchFamily="34" charset="-120"/>
              </a:rPr>
              <a:t>SEGMENTATION · THE EVIDENCE</a:t>
            </a:r>
            <a:endParaRPr lang="en-US" sz="1250"/>
          </a:p>
        </p:txBody>
      </p:sp>
      <p:sp>
        <p:nvSpPr>
          <p:cNvPr id="4" name="Title"/>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2700" b="1">
                <a:solidFill>
                  <a:srgbClr val="2B2A45"/>
                </a:solidFill>
                <a:latin typeface="Trebuchet MS" pitchFamily="34" charset="0"/>
                <a:ea typeface="Trebuchet MS" pitchFamily="34" charset="-122"/>
                <a:cs typeface="Trebuchet MS" pitchFamily="34" charset="-120"/>
              </a:rPr>
              <a:t>The Clusters, Made Visible</a:t>
            </a:r>
            <a:endParaRPr lang="en-US" sz="2700"/>
          </a:p>
        </p:txBody>
      </p:sp>
      <p:sp>
        <p:nvSpPr>
          <p:cNvPr id="5" name="dek">
            <a:extLst>
              <a:ext uri="{C183D7F6-B498-43B3-948B-1728B52AA6E4}">
                <adec:decorative xmlns:adec="http://schemas.microsoft.com/office/drawing/2017/decorative" val="1"/>
              </a:ext>
            </a:extLst>
          </p:cNvPr>
          <p:cNvSpPr/>
          <p:nvPr/>
        </p:nvSpPr>
        <p:spPr>
          <a:xfrm>
            <a:off x="640080" y="1325880"/>
            <a:ext cx="10972800" cy="329184"/>
          </a:xfrm>
          <a:prstGeom prst="rect">
            <a:avLst/>
          </a:prstGeom>
          <a:noFill/>
          <a:ln/>
        </p:spPr>
        <p:txBody>
          <a:bodyPr wrap="square" lIns="0" tIns="0" rIns="0" bIns="0" rtlCol="0" anchor="ctr"/>
          <a:lstStyle/>
          <a:p>
            <a:pPr marL="0" indent="0">
              <a:buNone/>
            </a:pPr>
            <a:r>
              <a:rPr lang="en-US" sz="1300" i="1">
                <a:solidFill>
                  <a:srgbClr val="7C7E96"/>
                </a:solidFill>
                <a:latin typeface="Calibri" pitchFamily="34" charset="0"/>
                <a:ea typeface="Calibri" pitchFamily="34" charset="-122"/>
                <a:cs typeface="Calibri" pitchFamily="34" charset="-120"/>
              </a:rPr>
              <a:t>Allowed services vs. payment per service, colored by cluster — the three archetypes settle into visibly distinct regions.</a:t>
            </a:r>
            <a:endParaRPr lang="en-US" sz="1300"/>
          </a:p>
        </p:txBody>
      </p:sp>
      <p:graphicFrame>
        <p:nvGraphicFramePr>
          <p:cNvPr id="6" name="Cluster scatter" descr="Scatterplot of annual allowed services on a log scale versus payment per service, with specialties colored by their k-means cluster. High-volume commodity fields sit at low cost and high volume, specialized high-intensity surgery sits at low volume and high cost, and balanced high-spend specialties sit in between."/>
          <p:cNvGraphicFramePr/>
          <p:nvPr>
            <p:extLst>
              <p:ext uri="{D42A27DB-BD31-4B8C-83A1-F6EECF244321}">
                <p14:modId xmlns:p14="http://schemas.microsoft.com/office/powerpoint/2010/main" val="3887673665"/>
              </p:ext>
            </p:extLst>
          </p:nvPr>
        </p:nvGraphicFramePr>
        <p:xfrm>
          <a:off x="470000" y="1740000"/>
          <a:ext cx="7760000" cy="4560000"/>
        </p:xfrm>
        <a:graphic>
          <a:graphicData uri="http://schemas.openxmlformats.org/drawingml/2006/chart">
            <c:chart xmlns:c="http://schemas.openxmlformats.org/drawingml/2006/chart" xmlns:r="http://schemas.openxmlformats.org/officeDocument/2006/relationships" r:id="rId2"/>
          </a:graphicData>
        </a:graphic>
      </p:graphicFrame>
      <p:sp>
        <p:nvSpPr>
          <p:cNvPr id="7" name="side card">
            <a:extLst>
              <a:ext uri="{C183D7F6-B498-43B3-948B-1728B52AA6E4}">
                <adec:decorative xmlns:adec="http://schemas.microsoft.com/office/drawing/2017/decorative" val="1"/>
              </a:ext>
            </a:extLst>
          </p:cNvPr>
          <p:cNvSpPr/>
          <p:nvPr/>
        </p:nvSpPr>
        <p:spPr>
          <a:xfrm>
            <a:off x="8420000" y="1740000"/>
            <a:ext cx="3467120" cy="4560000"/>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8" name="card heading"/>
          <p:cNvSpPr/>
          <p:nvPr/>
        </p:nvSpPr>
        <p:spPr>
          <a:xfrm>
            <a:off x="8657744" y="1938528"/>
            <a:ext cx="2991632" cy="603504"/>
          </a:xfrm>
          <a:prstGeom prst="rect">
            <a:avLst/>
          </a:prstGeom>
          <a:noFill/>
          <a:ln/>
        </p:spPr>
        <p:txBody>
          <a:bodyPr wrap="square" lIns="0" tIns="0" rIns="0" bIns="0" rtlCol="0" anchor="t"/>
          <a:lstStyle/>
          <a:p>
            <a:pPr marL="0" indent="0">
              <a:lnSpc>
                <a:spcPct val="108000"/>
              </a:lnSpc>
              <a:buNone/>
            </a:pPr>
            <a:r>
              <a:rPr lang="en-US" sz="1100" b="1" kern="0" spc="100">
                <a:solidFill>
                  <a:srgbClr val="4E79A7"/>
                </a:solidFill>
                <a:latin typeface="Trebuchet MS" pitchFamily="34" charset="0"/>
                <a:ea typeface="Trebuchet MS" pitchFamily="34" charset="-122"/>
                <a:cs typeface="Trebuchet MS" pitchFamily="34" charset="-120"/>
              </a:rPr>
              <a:t>READING THE CHART</a:t>
            </a:r>
            <a:endParaRPr lang="en-US" sz="1100"/>
          </a:p>
          <a:p>
            <a:pPr marL="0" indent="0">
              <a:lnSpc>
                <a:spcPct val="106000"/>
              </a:lnSpc>
              <a:spcBef>
                <a:spcPts val="600"/>
              </a:spcBef>
              <a:buNone/>
            </a:pPr>
            <a:r>
              <a:rPr lang="en-US" sz="1150">
                <a:solidFill>
                  <a:srgbClr val="7C7E96"/>
                </a:solidFill>
                <a:latin typeface="Calibri" pitchFamily="34" charset="0"/>
                <a:ea typeface="Calibri" pitchFamily="34" charset="-122"/>
                <a:cs typeface="Calibri" pitchFamily="34" charset="-120"/>
              </a:rPr>
              <a:t>Each dot is a specialty, positioned by annual volume and unit cost.</a:t>
            </a:r>
            <a:endParaRPr lang="en-US" sz="1150"/>
          </a:p>
        </p:txBody>
      </p:sp>
      <p:sp>
        <p:nvSpPr>
          <p:cNvPr id="9" name="swatch1"/>
          <p:cNvSpPr/>
          <p:nvPr/>
        </p:nvSpPr>
        <p:spPr>
          <a:xfrm>
            <a:off x="8657744" y="2743200"/>
            <a:ext cx="192024" cy="192024"/>
          </a:xfrm>
          <a:prstGeom prst="ellipse">
            <a:avLst/>
          </a:prstGeom>
          <a:solidFill>
            <a:srgbClr val="A0CBE8"/>
          </a:solidFill>
          <a:ln/>
        </p:spPr>
        <p:txBody>
          <a:bodyPr/>
          <a:lstStyle/>
          <a:p>
            <a:endParaRPr lang="en-US"/>
          </a:p>
        </p:txBody>
      </p:sp>
      <p:sp>
        <p:nvSpPr>
          <p:cNvPr id="10" name="key1"/>
          <p:cNvSpPr/>
          <p:nvPr/>
        </p:nvSpPr>
        <p:spPr>
          <a:xfrm>
            <a:off x="8961752" y="2688336"/>
            <a:ext cx="2688624" cy="521208"/>
          </a:xfrm>
          <a:prstGeom prst="rect">
            <a:avLst/>
          </a:prstGeom>
          <a:noFill/>
          <a:ln/>
        </p:spPr>
        <p:txBody>
          <a:bodyPr wrap="square" lIns="0" tIns="0" rIns="0" bIns="0" rtlCol="0" anchor="ctr"/>
          <a:lstStyle/>
          <a:p>
            <a:pPr marL="0" indent="0">
              <a:lnSpc>
                <a:spcPct val="104000"/>
              </a:lnSpc>
              <a:buNone/>
            </a:pPr>
            <a:r>
              <a:rPr lang="en-US" sz="1150" b="1">
                <a:solidFill>
                  <a:srgbClr val="A0CBE8"/>
                </a:solidFill>
                <a:latin typeface="Trebuchet MS" pitchFamily="34" charset="0"/>
                <a:ea typeface="Trebuchet MS" pitchFamily="34" charset="-122"/>
                <a:cs typeface="Trebuchet MS" pitchFamily="34" charset="-120"/>
              </a:rPr>
              <a:t>High-Volume Commodity</a:t>
            </a:r>
            <a:br>
              <a:rPr lang="en-US" sz="1000"/>
            </a:br>
            <a:r>
              <a:rPr lang="en-US" sz="1000">
                <a:solidFill>
                  <a:srgbClr val="7C7E96"/>
                </a:solidFill>
                <a:latin typeface="Calibri" pitchFamily="34" charset="0"/>
                <a:ea typeface="Calibri" pitchFamily="34" charset="-122"/>
                <a:cs typeface="Calibri" pitchFamily="34" charset="-120"/>
              </a:rPr>
              <a:t>Low unit cost, immense volume</a:t>
            </a:r>
            <a:endParaRPr lang="en-US" sz="1000"/>
          </a:p>
        </p:txBody>
      </p:sp>
      <p:sp>
        <p:nvSpPr>
          <p:cNvPr id="11" name="swatch2"/>
          <p:cNvSpPr/>
          <p:nvPr/>
        </p:nvSpPr>
        <p:spPr>
          <a:xfrm>
            <a:off x="8657744" y="3459480"/>
            <a:ext cx="192024" cy="192024"/>
          </a:xfrm>
          <a:prstGeom prst="ellipse">
            <a:avLst/>
          </a:prstGeom>
          <a:solidFill>
            <a:srgbClr val="4E79A7"/>
          </a:solidFill>
          <a:ln/>
        </p:spPr>
        <p:txBody>
          <a:bodyPr/>
          <a:lstStyle/>
          <a:p>
            <a:endParaRPr lang="en-US"/>
          </a:p>
        </p:txBody>
      </p:sp>
      <p:sp>
        <p:nvSpPr>
          <p:cNvPr id="12" name="key2"/>
          <p:cNvSpPr/>
          <p:nvPr/>
        </p:nvSpPr>
        <p:spPr>
          <a:xfrm>
            <a:off x="8961752" y="3404616"/>
            <a:ext cx="2688624" cy="521208"/>
          </a:xfrm>
          <a:prstGeom prst="rect">
            <a:avLst/>
          </a:prstGeom>
          <a:noFill/>
          <a:ln/>
        </p:spPr>
        <p:txBody>
          <a:bodyPr wrap="square" lIns="0" tIns="0" rIns="0" bIns="0" rtlCol="0" anchor="ctr"/>
          <a:lstStyle/>
          <a:p>
            <a:pPr marL="0" indent="0">
              <a:lnSpc>
                <a:spcPct val="104000"/>
              </a:lnSpc>
              <a:buNone/>
            </a:pPr>
            <a:r>
              <a:rPr lang="en-US" sz="1150" b="1">
                <a:solidFill>
                  <a:srgbClr val="4E79A7"/>
                </a:solidFill>
                <a:latin typeface="Trebuchet MS" pitchFamily="34" charset="0"/>
                <a:ea typeface="Trebuchet MS" pitchFamily="34" charset="-122"/>
                <a:cs typeface="Trebuchet MS" pitchFamily="34" charset="-120"/>
              </a:rPr>
              <a:t>Balanced High-Spend</a:t>
            </a:r>
            <a:br>
              <a:rPr lang="en-US" sz="1000"/>
            </a:br>
            <a:r>
              <a:rPr lang="en-US" sz="1000">
                <a:solidFill>
                  <a:srgbClr val="7C7E96"/>
                </a:solidFill>
                <a:latin typeface="Calibri" pitchFamily="34" charset="0"/>
                <a:ea typeface="Calibri" pitchFamily="34" charset="-122"/>
                <a:cs typeface="Calibri" pitchFamily="34" charset="-120"/>
              </a:rPr>
              <a:t>Moderate cost at large scale</a:t>
            </a:r>
            <a:endParaRPr lang="en-US" sz="1000"/>
          </a:p>
        </p:txBody>
      </p:sp>
      <p:sp>
        <p:nvSpPr>
          <p:cNvPr id="13" name="swatch3"/>
          <p:cNvSpPr/>
          <p:nvPr/>
        </p:nvSpPr>
        <p:spPr>
          <a:xfrm>
            <a:off x="8657744" y="4175760"/>
            <a:ext cx="192024" cy="192024"/>
          </a:xfrm>
          <a:prstGeom prst="ellipse">
            <a:avLst/>
          </a:prstGeom>
          <a:solidFill>
            <a:srgbClr val="43426A"/>
          </a:solidFill>
          <a:ln/>
        </p:spPr>
        <p:txBody>
          <a:bodyPr/>
          <a:lstStyle/>
          <a:p>
            <a:endParaRPr lang="en-US"/>
          </a:p>
        </p:txBody>
      </p:sp>
      <p:sp>
        <p:nvSpPr>
          <p:cNvPr id="14" name="key3"/>
          <p:cNvSpPr/>
          <p:nvPr/>
        </p:nvSpPr>
        <p:spPr>
          <a:xfrm>
            <a:off x="8961752" y="4120896"/>
            <a:ext cx="2688624" cy="521208"/>
          </a:xfrm>
          <a:prstGeom prst="rect">
            <a:avLst/>
          </a:prstGeom>
          <a:noFill/>
          <a:ln/>
        </p:spPr>
        <p:txBody>
          <a:bodyPr wrap="square" lIns="0" tIns="0" rIns="0" bIns="0" rtlCol="0" anchor="ctr"/>
          <a:lstStyle/>
          <a:p>
            <a:pPr marL="0" indent="0">
              <a:lnSpc>
                <a:spcPct val="104000"/>
              </a:lnSpc>
              <a:buNone/>
            </a:pPr>
            <a:r>
              <a:rPr lang="en-US" sz="1150" b="1">
                <a:solidFill>
                  <a:srgbClr val="43426A"/>
                </a:solidFill>
                <a:latin typeface="Trebuchet MS" pitchFamily="34" charset="0"/>
                <a:ea typeface="Trebuchet MS" pitchFamily="34" charset="-122"/>
                <a:cs typeface="Trebuchet MS" pitchFamily="34" charset="-120"/>
              </a:rPr>
              <a:t>Specialized High-Intensity</a:t>
            </a:r>
            <a:br>
              <a:rPr lang="en-US" sz="1000"/>
            </a:br>
            <a:r>
              <a:rPr lang="en-US" sz="1000">
                <a:solidFill>
                  <a:srgbClr val="7C7E96"/>
                </a:solidFill>
                <a:latin typeface="Calibri" pitchFamily="34" charset="0"/>
                <a:ea typeface="Calibri" pitchFamily="34" charset="-122"/>
                <a:cs typeface="Calibri" pitchFamily="34" charset="-120"/>
              </a:rPr>
              <a:t>High cost, low volume</a:t>
            </a:r>
            <a:endParaRPr lang="en-US" sz="1000"/>
          </a:p>
        </p:txBody>
      </p:sp>
      <p:sp>
        <p:nvSpPr>
          <p:cNvPr id="15" name="insight bar"/>
          <p:cNvSpPr/>
          <p:nvPr/>
        </p:nvSpPr>
        <p:spPr>
          <a:xfrm>
            <a:off x="8657744" y="4937760"/>
            <a:ext cx="2991632" cy="1188720"/>
          </a:xfrm>
          <a:prstGeom prst="rect">
            <a:avLst/>
          </a:prstGeom>
          <a:solidFill>
            <a:srgbClr val="2B2A45"/>
          </a:solidFill>
          <a:ln/>
        </p:spPr>
        <p:txBody>
          <a:bodyPr wrap="square" lIns="137160" tIns="118872" rIns="137160" bIns="118872" rtlCol="0" anchor="ctr"/>
          <a:lstStyle/>
          <a:p>
            <a:pPr marL="0" indent="0">
              <a:lnSpc>
                <a:spcPct val="112000"/>
              </a:lnSpc>
              <a:buNone/>
            </a:pPr>
            <a:r>
              <a:rPr lang="en-US" sz="1150" b="1">
                <a:solidFill>
                  <a:srgbClr val="6BA5D7"/>
                </a:solidFill>
                <a:latin typeface="Trebuchet MS" pitchFamily="34" charset="0"/>
                <a:ea typeface="Trebuchet MS" pitchFamily="34" charset="-122"/>
                <a:cs typeface="Trebuchet MS" pitchFamily="34" charset="-120"/>
              </a:rPr>
              <a:t>The clusters separate cleanly. </a:t>
            </a:r>
            <a:r>
              <a:rPr lang="en-US" sz="1150">
                <a:solidFill>
                  <a:srgbClr val="FFFFFF"/>
                </a:solidFill>
                <a:latin typeface="Calibri" pitchFamily="34" charset="0"/>
                <a:ea typeface="Calibri" pitchFamily="34" charset="-122"/>
                <a:cs typeface="Calibri" pitchFamily="34" charset="-120"/>
              </a:rPr>
              <a:t>Volume and unit cost trade off along a clear diagonal — the segmentation reflects real structure, not an imposed grouping.</a:t>
            </a:r>
            <a:endParaRPr lang="en-US" sz="1150"/>
          </a:p>
        </p:txBody>
      </p:sp>
      <p:sp>
        <p:nvSpPr>
          <p:cNvPr id="16" name="footer"/>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a:solidFill>
                  <a:srgbClr val="7C7E96"/>
                </a:solidFill>
                <a:latin typeface="Trebuchet MS" pitchFamily="34" charset="0"/>
                <a:ea typeface="Trebuchet MS" pitchFamily="34" charset="-122"/>
                <a:cs typeface="Trebuchet MS" pitchFamily="34" charset="-120"/>
              </a:rPr>
              <a:t>CMS MEDICARE PART B  ·  CY 2022–2024  ·  ALLOWED SERVICES AND PAYMENT/SERVICE, CY 2022 BASELINE</a:t>
            </a:r>
            <a:endParaRPr lang="en-US" sz="900"/>
          </a:p>
        </p:txBody>
      </p:sp>
      <p:sp>
        <p:nvSpPr>
          <p:cNvPr id="17" name="page number"/>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a:solidFill>
                  <a:srgbClr val="4E79A7"/>
                </a:solidFill>
                <a:latin typeface="Consolas" pitchFamily="34" charset="0"/>
                <a:ea typeface="Consolas" pitchFamily="34" charset="-122"/>
                <a:cs typeface="Consolas" pitchFamily="34" charset="-120"/>
              </a:rPr>
              <a:t>14</a:t>
            </a:r>
            <a:endParaRPr lang="en-US" sz="1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40080" y="406908"/>
            <a:ext cx="201168" cy="128016"/>
          </a:xfrm>
          <a:prstGeom prst="rect">
            <a:avLst/>
          </a:prstGeom>
          <a:solidFill>
            <a:srgbClr val="6BA5D7"/>
          </a:solidFill>
          <a:ln/>
        </p:spPr>
        <p:txBody>
          <a:bodyPr/>
          <a:lstStyle/>
          <a:p>
            <a:endParaRPr lang="en-US"/>
          </a:p>
        </p:txBody>
      </p:sp>
      <p:sp>
        <p:nvSpPr>
          <p:cNvPr id="3" name="Text 1"/>
          <p:cNvSpPr/>
          <p:nvPr/>
        </p:nvSpPr>
        <p:spPr>
          <a:xfrm>
            <a:off x="932688" y="310896"/>
            <a:ext cx="8229600" cy="310896"/>
          </a:xfrm>
          <a:prstGeom prst="rect">
            <a:avLst/>
          </a:prstGeom>
          <a:noFill/>
          <a:ln/>
        </p:spPr>
        <p:txBody>
          <a:bodyPr wrap="square" lIns="0" tIns="0" rIns="0" bIns="0" rtlCol="0" anchor="ctr"/>
          <a:lstStyle/>
          <a:p>
            <a:pPr marL="0" indent="0" algn="l">
              <a:buNone/>
            </a:pPr>
            <a:r>
              <a:rPr lang="en-US" sz="1250" b="1" kern="0" spc="300">
                <a:solidFill>
                  <a:srgbClr val="6BA5D7"/>
                </a:solidFill>
                <a:latin typeface="Trebuchet MS" pitchFamily="34" charset="0"/>
                <a:ea typeface="Trebuchet MS" pitchFamily="34" charset="-122"/>
                <a:cs typeface="Trebuchet MS" pitchFamily="34" charset="-120"/>
              </a:rPr>
              <a:t>MODEL RESULT · REGRESSION</a:t>
            </a:r>
            <a:endParaRPr lang="en-US" sz="1250" dirty="0"/>
          </a:p>
        </p:txBody>
      </p:sp>
      <p:sp>
        <p:nvSpPr>
          <p:cNvPr id="4" name="Text 0"/>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2800" b="1">
                <a:solidFill>
                  <a:srgbClr val="FFFFFF"/>
                </a:solidFill>
                <a:latin typeface="Trebuchet MS" pitchFamily="34" charset="0"/>
                <a:ea typeface="Trebuchet MS" pitchFamily="34" charset="-122"/>
                <a:cs typeface="Trebuchet MS" pitchFamily="34" charset="-120"/>
              </a:rPr>
              <a:t>Volume and Price Explain 99.9% of Payment</a:t>
            </a:r>
            <a:endParaRPr lang="en-US" sz="2800" dirty="0"/>
          </a:p>
        </p:txBody>
      </p:sp>
      <p:sp>
        <p:nvSpPr>
          <p:cNvPr id="5" name="model card">
            <a:extLst>
              <a:ext uri="{C183D7F6-B498-43B3-948B-1728B52AA6E4}">
                <adec:decorative xmlns:adec="http://schemas.microsoft.com/office/drawing/2017/decorative" val="1"/>
              </a:ext>
            </a:extLst>
          </p:cNvPr>
          <p:cNvSpPr/>
          <p:nvPr/>
        </p:nvSpPr>
        <p:spPr>
          <a:xfrm>
            <a:off x="640080" y="1554480"/>
            <a:ext cx="7086600" cy="1874520"/>
          </a:xfrm>
          <a:prstGeom prst="rect">
            <a:avLst/>
          </a:prstGeom>
          <a:solidFill>
            <a:srgbClr val="43426A"/>
          </a:solidFill>
          <a:ln w="12700">
            <a:solidFill>
              <a:srgbClr val="5A5880"/>
            </a:solidFill>
            <a:prstDash val="solid"/>
          </a:ln>
        </p:spPr>
        <p:txBody>
          <a:bodyPr/>
          <a:lstStyle/>
          <a:p>
            <a:endParaRPr lang="en-US"/>
          </a:p>
        </p:txBody>
      </p:sp>
      <p:sp>
        <p:nvSpPr>
          <p:cNvPr id="6" name="Text 4">
            <a:extLst>
              <a:ext uri="{C183D7F6-B498-43B3-948B-1728B52AA6E4}">
                <adec:decorative xmlns:adec="http://schemas.microsoft.com/office/drawing/2017/decorative" val="1"/>
              </a:ext>
            </a:extLst>
          </p:cNvPr>
          <p:cNvSpPr/>
          <p:nvPr/>
        </p:nvSpPr>
        <p:spPr>
          <a:xfrm>
            <a:off x="868680" y="1737360"/>
            <a:ext cx="6400800" cy="320040"/>
          </a:xfrm>
          <a:prstGeom prst="rect">
            <a:avLst/>
          </a:prstGeom>
          <a:noFill/>
          <a:ln/>
        </p:spPr>
        <p:txBody>
          <a:bodyPr wrap="square" lIns="0" tIns="0" rIns="0" bIns="0" rtlCol="0" anchor="ctr"/>
          <a:lstStyle/>
          <a:p>
            <a:pPr marL="0" indent="0">
              <a:buNone/>
            </a:pPr>
            <a:r>
              <a:rPr lang="en-US" sz="1150" b="1" kern="0" spc="200">
                <a:solidFill>
                  <a:srgbClr val="6BA5D7"/>
                </a:solidFill>
                <a:latin typeface="Trebuchet MS" pitchFamily="34" charset="0"/>
                <a:ea typeface="Trebuchet MS" pitchFamily="34" charset="-122"/>
                <a:cs typeface="Trebuchet MS" pitchFamily="34" charset="-120"/>
              </a:rPr>
              <a:t>FITTED MODEL</a:t>
            </a:r>
            <a:endParaRPr lang="en-US" sz="1150" dirty="0"/>
          </a:p>
        </p:txBody>
      </p:sp>
      <p:sp>
        <p:nvSpPr>
          <p:cNvPr id="7" name="Text 5"/>
          <p:cNvSpPr/>
          <p:nvPr/>
        </p:nvSpPr>
        <p:spPr>
          <a:xfrm>
            <a:off x="868680" y="2148840"/>
            <a:ext cx="6720840" cy="640080"/>
          </a:xfrm>
          <a:prstGeom prst="rect">
            <a:avLst/>
          </a:prstGeom>
          <a:noFill/>
          <a:ln/>
        </p:spPr>
        <p:txBody>
          <a:bodyPr wrap="square" lIns="0" tIns="0" rIns="0" bIns="0" rtlCol="0" anchor="ctr"/>
          <a:lstStyle/>
          <a:p>
            <a:pPr marL="0" indent="0">
              <a:buNone/>
            </a:pPr>
            <a:r>
              <a:rPr lang="en-US" sz="1400" b="1">
                <a:solidFill>
                  <a:srgbClr val="6BA5D7"/>
                </a:solidFill>
                <a:latin typeface="Consolas" pitchFamily="34" charset="0"/>
                <a:ea typeface="Consolas" pitchFamily="34" charset="-122"/>
                <a:cs typeface="Consolas" pitchFamily="34" charset="-120"/>
              </a:rPr>
              <a:t>ln(Payment)</a:t>
            </a:r>
            <a:r>
              <a:rPr lang="en-US" sz="1400">
                <a:solidFill>
                  <a:srgbClr val="FFFFFF"/>
                </a:solidFill>
                <a:latin typeface="Consolas" pitchFamily="34" charset="0"/>
                <a:ea typeface="Consolas" pitchFamily="34" charset="-122"/>
                <a:cs typeface="Consolas" pitchFamily="34" charset="-120"/>
              </a:rPr>
              <a:t>  </a:t>
            </a:r>
            <a:r>
              <a:rPr lang="en-US" sz="1400" dirty="0">
                <a:solidFill>
                  <a:srgbClr val="FFFFFF"/>
                </a:solidFill>
                <a:latin typeface="Consolas" pitchFamily="34" charset="0"/>
                <a:ea typeface="Consolas" pitchFamily="34" charset="-122"/>
                <a:cs typeface="Consolas" pitchFamily="34" charset="-120"/>
              </a:rPr>
              <a:t>=  </a:t>
            </a:r>
            <a:r>
              <a:rPr lang="en-US" sz="1400">
                <a:solidFill>
                  <a:srgbClr val="FFFFFF"/>
                </a:solidFill>
                <a:latin typeface="Consolas" pitchFamily="34" charset="0"/>
                <a:ea typeface="Consolas" pitchFamily="34" charset="-122"/>
                <a:cs typeface="Consolas" pitchFamily="34" charset="-120"/>
              </a:rPr>
              <a:t>1.00</a:t>
            </a:r>
            <a:r>
              <a:rPr lang="en-US" sz="1400" dirty="0">
                <a:solidFill>
                  <a:srgbClr val="FFFFFF"/>
                </a:solidFill>
                <a:latin typeface="Consolas" pitchFamily="34" charset="0"/>
                <a:ea typeface="Consolas" pitchFamily="34" charset="-122"/>
                <a:cs typeface="Consolas" pitchFamily="34" charset="-120"/>
              </a:rPr>
              <a:t>·</a:t>
            </a:r>
            <a:r>
              <a:rPr lang="en-US" sz="1400">
                <a:solidFill>
                  <a:srgbClr val="FFFFFF"/>
                </a:solidFill>
                <a:latin typeface="Consolas" pitchFamily="34" charset="0"/>
                <a:ea typeface="Consolas" pitchFamily="34" charset="-122"/>
                <a:cs typeface="Consolas" pitchFamily="34" charset="-120"/>
              </a:rPr>
              <a:t>ln(Services) + 0.99·</a:t>
            </a:r>
            <a:r>
              <a:rPr lang="en-US" sz="1400" b="1">
                <a:solidFill>
                  <a:srgbClr val="FFFFFF"/>
                </a:solidFill>
                <a:latin typeface="Consolas" pitchFamily="34" charset="0"/>
                <a:ea typeface="Consolas" pitchFamily="34" charset="-122"/>
                <a:cs typeface="Consolas" pitchFamily="34" charset="-120"/>
              </a:rPr>
              <a:t>ln(Charge/Svc)</a:t>
            </a:r>
            <a:endParaRPr lang="en-US" sz="1400" dirty="0"/>
          </a:p>
        </p:txBody>
      </p:sp>
      <p:sp>
        <p:nvSpPr>
          <p:cNvPr id="8" name="Text 6"/>
          <p:cNvSpPr/>
          <p:nvPr/>
        </p:nvSpPr>
        <p:spPr>
          <a:xfrm>
            <a:off x="868680" y="2788920"/>
            <a:ext cx="6675120" cy="548640"/>
          </a:xfrm>
          <a:prstGeom prst="rect">
            <a:avLst/>
          </a:prstGeom>
          <a:noFill/>
          <a:ln/>
        </p:spPr>
        <p:txBody>
          <a:bodyPr wrap="square" lIns="0" tIns="0" rIns="0" bIns="0" rtlCol="0" anchor="t"/>
          <a:lstStyle/>
          <a:p>
            <a:pPr marL="0" indent="0">
              <a:lnSpc>
                <a:spcPct val="103000"/>
              </a:lnSpc>
              <a:buNone/>
            </a:pPr>
            <a:r>
              <a:rPr lang="en-US" sz="1250">
                <a:solidFill>
                  <a:srgbClr val="CBD9E9"/>
                </a:solidFill>
                <a:latin typeface="Calibri" pitchFamily="34" charset="0"/>
                <a:ea typeface="Calibri" pitchFamily="34" charset="-122"/>
                <a:cs typeface="Calibri" pitchFamily="34" charset="-120"/>
              </a:rPr>
              <a:t>Across all 125 specialties, payment scales one-for-one with service volume and unit price, which together explain 99.9% of the spread.</a:t>
            </a:r>
            <a:endParaRPr lang="en-US" sz="1250" dirty="0"/>
          </a:p>
        </p:txBody>
      </p:sp>
      <p:sp>
        <p:nvSpPr>
          <p:cNvPr id="9" name="Text 7"/>
          <p:cNvSpPr/>
          <p:nvPr/>
        </p:nvSpPr>
        <p:spPr>
          <a:xfrm>
            <a:off x="640080" y="3703320"/>
            <a:ext cx="7086600" cy="365760"/>
          </a:xfrm>
          <a:prstGeom prst="rect">
            <a:avLst/>
          </a:prstGeom>
          <a:noFill/>
          <a:ln/>
        </p:spPr>
        <p:txBody>
          <a:bodyPr wrap="square" lIns="0" tIns="0" rIns="0" bIns="0" rtlCol="0" anchor="ctr"/>
          <a:lstStyle/>
          <a:p>
            <a:pPr marL="0" indent="0">
              <a:buNone/>
            </a:pPr>
            <a:r>
              <a:rPr lang="en-US" sz="1500" b="1">
                <a:solidFill>
                  <a:srgbClr val="6BA5D7"/>
                </a:solidFill>
                <a:latin typeface="Trebuchet MS" pitchFamily="34" charset="0"/>
                <a:ea typeface="Trebuchet MS" pitchFamily="34" charset="-122"/>
                <a:cs typeface="Trebuchet MS" pitchFamily="34" charset="-120"/>
              </a:rPr>
              <a:t>What the model shows</a:t>
            </a:r>
            <a:endParaRPr lang="en-US" sz="1500" dirty="0"/>
          </a:p>
        </p:txBody>
      </p:sp>
      <p:sp>
        <p:nvSpPr>
          <p:cNvPr id="10" name="feature chip">
            <a:extLst>
              <a:ext uri="{C183D7F6-B498-43B3-948B-1728B52AA6E4}">
                <adec:decorative xmlns:adec="http://schemas.microsoft.com/office/drawing/2017/decorative" val="1"/>
              </a:ext>
            </a:extLst>
          </p:cNvPr>
          <p:cNvSpPr/>
          <p:nvPr/>
        </p:nvSpPr>
        <p:spPr>
          <a:xfrm>
            <a:off x="640080" y="4160520"/>
            <a:ext cx="3429000" cy="713232"/>
          </a:xfrm>
          <a:prstGeom prst="rect">
            <a:avLst/>
          </a:prstGeom>
          <a:solidFill>
            <a:srgbClr val="43426A"/>
          </a:solidFill>
          <a:ln w="12700">
            <a:solidFill>
              <a:srgbClr val="5A5880"/>
            </a:solidFill>
            <a:prstDash val="solid"/>
          </a:ln>
        </p:spPr>
        <p:txBody>
          <a:bodyPr/>
          <a:lstStyle/>
          <a:p>
            <a:endParaRPr lang="en-US"/>
          </a:p>
        </p:txBody>
      </p:sp>
      <p:sp>
        <p:nvSpPr>
          <p:cNvPr id="11" name="feature accent">
            <a:extLst>
              <a:ext uri="{C183D7F6-B498-43B3-948B-1728B52AA6E4}">
                <adec:decorative xmlns:adec="http://schemas.microsoft.com/office/drawing/2017/decorative" val="1"/>
              </a:ext>
            </a:extLst>
          </p:cNvPr>
          <p:cNvSpPr/>
          <p:nvPr/>
        </p:nvSpPr>
        <p:spPr>
          <a:xfrm>
            <a:off x="640080" y="4160520"/>
            <a:ext cx="73152" cy="713232"/>
          </a:xfrm>
          <a:prstGeom prst="rect">
            <a:avLst/>
          </a:prstGeom>
          <a:solidFill>
            <a:srgbClr val="6BA5D7"/>
          </a:solidFill>
          <a:ln/>
        </p:spPr>
        <p:txBody>
          <a:bodyPr/>
          <a:lstStyle/>
          <a:p>
            <a:endParaRPr lang="en-US"/>
          </a:p>
        </p:txBody>
      </p:sp>
      <p:sp>
        <p:nvSpPr>
          <p:cNvPr id="12" name="Text 10"/>
          <p:cNvSpPr/>
          <p:nvPr/>
        </p:nvSpPr>
        <p:spPr>
          <a:xfrm>
            <a:off x="896112" y="4160520"/>
            <a:ext cx="3108960" cy="713232"/>
          </a:xfrm>
          <a:prstGeom prst="rect">
            <a:avLst/>
          </a:prstGeom>
          <a:noFill/>
          <a:ln/>
        </p:spPr>
        <p:txBody>
          <a:bodyPr wrap="square" lIns="0" tIns="0" rIns="0" bIns="0" rtlCol="0" anchor="ctr"/>
          <a:lstStyle/>
          <a:p>
            <a:pPr marL="0" indent="0">
              <a:buNone/>
            </a:pPr>
            <a:r>
              <a:rPr lang="en-US" sz="1250" b="1">
                <a:solidFill>
                  <a:srgbClr val="FFFFFF"/>
                </a:solidFill>
                <a:latin typeface="Calibri" pitchFamily="34" charset="0"/>
                <a:ea typeface="Calibri" pitchFamily="34" charset="-122"/>
                <a:cs typeface="Calibri" pitchFamily="34" charset="-120"/>
              </a:rPr>
              <a:t>Top predictor: service </a:t>
            </a:r>
            <a:r>
              <a:rPr lang="en-US" sz="1250" b="1" dirty="0">
                <a:solidFill>
                  <a:srgbClr val="FFFFFF"/>
                </a:solidFill>
                <a:latin typeface="Calibri" pitchFamily="34" charset="0"/>
                <a:ea typeface="Calibri" pitchFamily="34" charset="-122"/>
                <a:cs typeface="Calibri" pitchFamily="34" charset="-120"/>
              </a:rPr>
              <a:t>volume</a:t>
            </a:r>
            <a:endParaRPr lang="en-US" sz="1250" dirty="0"/>
          </a:p>
        </p:txBody>
      </p:sp>
      <p:sp>
        <p:nvSpPr>
          <p:cNvPr id="13" name="feature chip">
            <a:extLst>
              <a:ext uri="{C183D7F6-B498-43B3-948B-1728B52AA6E4}">
                <adec:decorative xmlns:adec="http://schemas.microsoft.com/office/drawing/2017/decorative" val="1"/>
              </a:ext>
            </a:extLst>
          </p:cNvPr>
          <p:cNvSpPr/>
          <p:nvPr/>
        </p:nvSpPr>
        <p:spPr>
          <a:xfrm>
            <a:off x="4251960" y="4160520"/>
            <a:ext cx="3429000" cy="713232"/>
          </a:xfrm>
          <a:prstGeom prst="rect">
            <a:avLst/>
          </a:prstGeom>
          <a:solidFill>
            <a:srgbClr val="43426A"/>
          </a:solidFill>
          <a:ln w="12700">
            <a:solidFill>
              <a:srgbClr val="5A5880"/>
            </a:solidFill>
            <a:prstDash val="solid"/>
          </a:ln>
        </p:spPr>
        <p:txBody>
          <a:bodyPr/>
          <a:lstStyle/>
          <a:p>
            <a:endParaRPr lang="en-US"/>
          </a:p>
        </p:txBody>
      </p:sp>
      <p:sp>
        <p:nvSpPr>
          <p:cNvPr id="14" name="feature accent">
            <a:extLst>
              <a:ext uri="{C183D7F6-B498-43B3-948B-1728B52AA6E4}">
                <adec:decorative xmlns:adec="http://schemas.microsoft.com/office/drawing/2017/decorative" val="1"/>
              </a:ext>
            </a:extLst>
          </p:cNvPr>
          <p:cNvSpPr/>
          <p:nvPr/>
        </p:nvSpPr>
        <p:spPr>
          <a:xfrm>
            <a:off x="4251960" y="4160520"/>
            <a:ext cx="73152" cy="713232"/>
          </a:xfrm>
          <a:prstGeom prst="rect">
            <a:avLst/>
          </a:prstGeom>
          <a:solidFill>
            <a:srgbClr val="6BA5D7"/>
          </a:solidFill>
          <a:ln/>
        </p:spPr>
        <p:txBody>
          <a:bodyPr/>
          <a:lstStyle/>
          <a:p>
            <a:endParaRPr lang="en-US"/>
          </a:p>
        </p:txBody>
      </p:sp>
      <p:sp>
        <p:nvSpPr>
          <p:cNvPr id="15" name="Text 13">
            <a:extLst>
              <a:ext uri="{C183D7F6-B498-43B3-948B-1728B52AA6E4}">
                <adec:decorative xmlns:adec="http://schemas.microsoft.com/office/drawing/2017/decorative" val="1"/>
              </a:ext>
            </a:extLst>
          </p:cNvPr>
          <p:cNvSpPr/>
          <p:nvPr/>
        </p:nvSpPr>
        <p:spPr>
          <a:xfrm>
            <a:off x="4507992" y="4160520"/>
            <a:ext cx="3108960" cy="713232"/>
          </a:xfrm>
          <a:prstGeom prst="rect">
            <a:avLst/>
          </a:prstGeom>
          <a:noFill/>
          <a:ln/>
        </p:spPr>
        <p:txBody>
          <a:bodyPr wrap="square" lIns="0" tIns="0" rIns="0" bIns="0" rtlCol="0" anchor="ctr"/>
          <a:lstStyle/>
          <a:p>
            <a:pPr marL="0" indent="0">
              <a:buNone/>
            </a:pPr>
            <a:r>
              <a:rPr lang="en-US" sz="1250" b="1">
                <a:solidFill>
                  <a:srgbClr val="FFFFFF"/>
                </a:solidFill>
                <a:latin typeface="Calibri" pitchFamily="34" charset="0"/>
                <a:ea typeface="Calibri" pitchFamily="34" charset="-122"/>
                <a:cs typeface="Calibri" pitchFamily="34" charset="-120"/>
              </a:rPr>
              <a:t>Both elasticities ≈ 1.0</a:t>
            </a:r>
            <a:endParaRPr lang="en-US" sz="1250" dirty="0"/>
          </a:p>
        </p:txBody>
      </p:sp>
      <p:sp>
        <p:nvSpPr>
          <p:cNvPr id="16" name="feature chip">
            <a:extLst>
              <a:ext uri="{C183D7F6-B498-43B3-948B-1728B52AA6E4}">
                <adec:decorative xmlns:adec="http://schemas.microsoft.com/office/drawing/2017/decorative" val="1"/>
              </a:ext>
            </a:extLst>
          </p:cNvPr>
          <p:cNvSpPr/>
          <p:nvPr/>
        </p:nvSpPr>
        <p:spPr>
          <a:xfrm>
            <a:off x="640080" y="5029200"/>
            <a:ext cx="3429000" cy="713232"/>
          </a:xfrm>
          <a:prstGeom prst="rect">
            <a:avLst/>
          </a:prstGeom>
          <a:solidFill>
            <a:srgbClr val="43426A"/>
          </a:solidFill>
          <a:ln w="12700">
            <a:solidFill>
              <a:srgbClr val="5A5880"/>
            </a:solidFill>
            <a:prstDash val="solid"/>
          </a:ln>
        </p:spPr>
        <p:txBody>
          <a:bodyPr/>
          <a:lstStyle/>
          <a:p>
            <a:endParaRPr lang="en-US"/>
          </a:p>
        </p:txBody>
      </p:sp>
      <p:sp>
        <p:nvSpPr>
          <p:cNvPr id="17" name="feature accent">
            <a:extLst>
              <a:ext uri="{C183D7F6-B498-43B3-948B-1728B52AA6E4}">
                <adec:decorative xmlns:adec="http://schemas.microsoft.com/office/drawing/2017/decorative" val="1"/>
              </a:ext>
            </a:extLst>
          </p:cNvPr>
          <p:cNvSpPr/>
          <p:nvPr/>
        </p:nvSpPr>
        <p:spPr>
          <a:xfrm>
            <a:off x="640080" y="5029200"/>
            <a:ext cx="73152" cy="713232"/>
          </a:xfrm>
          <a:prstGeom prst="rect">
            <a:avLst/>
          </a:prstGeom>
          <a:solidFill>
            <a:srgbClr val="6BA5D7"/>
          </a:solidFill>
          <a:ln/>
        </p:spPr>
        <p:txBody>
          <a:bodyPr/>
          <a:lstStyle/>
          <a:p>
            <a:endParaRPr lang="en-US"/>
          </a:p>
        </p:txBody>
      </p:sp>
      <p:sp>
        <p:nvSpPr>
          <p:cNvPr id="18" name="Text 16"/>
          <p:cNvSpPr/>
          <p:nvPr/>
        </p:nvSpPr>
        <p:spPr>
          <a:xfrm>
            <a:off x="896112" y="5029200"/>
            <a:ext cx="3108960" cy="713232"/>
          </a:xfrm>
          <a:prstGeom prst="rect">
            <a:avLst/>
          </a:prstGeom>
          <a:noFill/>
          <a:ln/>
        </p:spPr>
        <p:txBody>
          <a:bodyPr wrap="square" lIns="0" tIns="0" rIns="0" bIns="0" rtlCol="0" anchor="ctr"/>
          <a:lstStyle/>
          <a:p>
            <a:pPr marL="0" indent="0">
              <a:buNone/>
            </a:pPr>
            <a:r>
              <a:rPr lang="en-US" sz="1250" b="1">
                <a:solidFill>
                  <a:srgbClr val="FFFFFF"/>
                </a:solidFill>
                <a:latin typeface="Calibri" pitchFamily="34" charset="0"/>
                <a:ea typeface="Calibri" pitchFamily="34" charset="-122"/>
                <a:cs typeface="Calibri" pitchFamily="34" charset="-120"/>
              </a:rPr>
              <a:t>Unit price secondary (β* 0.34)</a:t>
            </a:r>
            <a:endParaRPr lang="en-US" sz="1250" dirty="0"/>
          </a:p>
        </p:txBody>
      </p:sp>
      <p:sp>
        <p:nvSpPr>
          <p:cNvPr id="19" name="feature chip">
            <a:extLst>
              <a:ext uri="{C183D7F6-B498-43B3-948B-1728B52AA6E4}">
                <adec:decorative xmlns:adec="http://schemas.microsoft.com/office/drawing/2017/decorative" val="1"/>
              </a:ext>
            </a:extLst>
          </p:cNvPr>
          <p:cNvSpPr/>
          <p:nvPr/>
        </p:nvSpPr>
        <p:spPr>
          <a:xfrm>
            <a:off x="4251960" y="5029200"/>
            <a:ext cx="3429000" cy="713232"/>
          </a:xfrm>
          <a:prstGeom prst="rect">
            <a:avLst/>
          </a:prstGeom>
          <a:solidFill>
            <a:srgbClr val="43426A"/>
          </a:solidFill>
          <a:ln w="12700">
            <a:solidFill>
              <a:srgbClr val="5A5880"/>
            </a:solidFill>
            <a:prstDash val="solid"/>
          </a:ln>
        </p:spPr>
        <p:txBody>
          <a:bodyPr/>
          <a:lstStyle/>
          <a:p>
            <a:endParaRPr lang="en-US"/>
          </a:p>
        </p:txBody>
      </p:sp>
      <p:sp>
        <p:nvSpPr>
          <p:cNvPr id="20" name="feature accent">
            <a:extLst>
              <a:ext uri="{C183D7F6-B498-43B3-948B-1728B52AA6E4}">
                <adec:decorative xmlns:adec="http://schemas.microsoft.com/office/drawing/2017/decorative" val="1"/>
              </a:ext>
            </a:extLst>
          </p:cNvPr>
          <p:cNvSpPr/>
          <p:nvPr/>
        </p:nvSpPr>
        <p:spPr>
          <a:xfrm>
            <a:off x="4251960" y="5029200"/>
            <a:ext cx="73152" cy="713232"/>
          </a:xfrm>
          <a:prstGeom prst="rect">
            <a:avLst/>
          </a:prstGeom>
          <a:solidFill>
            <a:srgbClr val="6BA5D7"/>
          </a:solidFill>
          <a:ln/>
        </p:spPr>
        <p:txBody>
          <a:bodyPr/>
          <a:lstStyle/>
          <a:p>
            <a:endParaRPr lang="en-US"/>
          </a:p>
        </p:txBody>
      </p:sp>
      <p:sp>
        <p:nvSpPr>
          <p:cNvPr id="21" name="Text 19">
            <a:extLst>
              <a:ext uri="{C183D7F6-B498-43B3-948B-1728B52AA6E4}">
                <adec:decorative xmlns:adec="http://schemas.microsoft.com/office/drawing/2017/decorative" val="1"/>
              </a:ext>
            </a:extLst>
          </p:cNvPr>
          <p:cNvSpPr/>
          <p:nvPr/>
        </p:nvSpPr>
        <p:spPr>
          <a:xfrm>
            <a:off x="4507992" y="5029200"/>
            <a:ext cx="3108960" cy="713232"/>
          </a:xfrm>
          <a:prstGeom prst="rect">
            <a:avLst/>
          </a:prstGeom>
          <a:noFill/>
          <a:ln/>
        </p:spPr>
        <p:txBody>
          <a:bodyPr wrap="square" lIns="0" tIns="0" rIns="0" bIns="0" rtlCol="0" anchor="ctr"/>
          <a:lstStyle/>
          <a:p>
            <a:pPr marL="0" indent="0">
              <a:buNone/>
            </a:pPr>
            <a:r>
              <a:rPr lang="en-US" sz="1250" b="1">
                <a:solidFill>
                  <a:srgbClr val="FFFFFF"/>
                </a:solidFill>
                <a:latin typeface="Calibri" pitchFamily="34" charset="0"/>
                <a:ea typeface="Calibri" pitchFamily="34" charset="-122"/>
                <a:cs typeface="Calibri" pitchFamily="34" charset="-120"/>
              </a:rPr>
              <a:t>Fit on 125 specialties </a:t>
            </a:r>
            <a:r>
              <a:rPr lang="en-US" sz="1250" b="1" dirty="0">
                <a:solidFill>
                  <a:srgbClr val="FFFFFF"/>
                </a:solidFill>
                <a:latin typeface="Calibri" pitchFamily="34" charset="0"/>
                <a:ea typeface="Calibri" pitchFamily="34" charset="-122"/>
                <a:cs typeface="Calibri" pitchFamily="34" charset="-120"/>
              </a:rPr>
              <a:t>(</a:t>
            </a:r>
            <a:r>
              <a:rPr lang="en-US" sz="1250" b="1">
                <a:solidFill>
                  <a:srgbClr val="FFFFFF"/>
                </a:solidFill>
                <a:latin typeface="Calibri" pitchFamily="34" charset="0"/>
                <a:ea typeface="Calibri" pitchFamily="34" charset="-122"/>
                <a:cs typeface="Calibri" pitchFamily="34" charset="-120"/>
              </a:rPr>
              <a:t>CY 2022</a:t>
            </a: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22" name="eval card">
            <a:extLst>
              <a:ext uri="{C183D7F6-B498-43B3-948B-1728B52AA6E4}">
                <adec:decorative xmlns:adec="http://schemas.microsoft.com/office/drawing/2017/decorative" val="1"/>
              </a:ext>
            </a:extLst>
          </p:cNvPr>
          <p:cNvSpPr/>
          <p:nvPr/>
        </p:nvSpPr>
        <p:spPr>
          <a:xfrm>
            <a:off x="8001000" y="1554480"/>
            <a:ext cx="3520440" cy="4572000"/>
          </a:xfrm>
          <a:prstGeom prst="rect">
            <a:avLst/>
          </a:prstGeom>
          <a:solidFill>
            <a:srgbClr val="43426A"/>
          </a:solidFill>
          <a:ln w="12700">
            <a:solidFill>
              <a:srgbClr val="5A5880"/>
            </a:solidFill>
            <a:prstDash val="solid"/>
          </a:ln>
        </p:spPr>
        <p:txBody>
          <a:bodyPr/>
          <a:lstStyle/>
          <a:p>
            <a:endParaRPr lang="en-US"/>
          </a:p>
        </p:txBody>
      </p:sp>
      <p:sp>
        <p:nvSpPr>
          <p:cNvPr id="23" name="eval head">
            <a:extLst>
              <a:ext uri="{C183D7F6-B498-43B3-948B-1728B52AA6E4}">
                <adec:decorative xmlns:adec="http://schemas.microsoft.com/office/drawing/2017/decorative" val="1"/>
              </a:ext>
            </a:extLst>
          </p:cNvPr>
          <p:cNvSpPr/>
          <p:nvPr/>
        </p:nvSpPr>
        <p:spPr>
          <a:xfrm>
            <a:off x="8001000" y="1554480"/>
            <a:ext cx="3520440" cy="640080"/>
          </a:xfrm>
          <a:prstGeom prst="rect">
            <a:avLst/>
          </a:prstGeom>
          <a:solidFill>
            <a:srgbClr val="4E79A7"/>
          </a:solidFill>
          <a:ln/>
        </p:spPr>
        <p:txBody>
          <a:bodyPr/>
          <a:lstStyle/>
          <a:p>
            <a:endParaRPr lang="en-US"/>
          </a:p>
        </p:txBody>
      </p:sp>
      <p:sp>
        <p:nvSpPr>
          <p:cNvPr id="24" name="Text 22"/>
          <p:cNvSpPr/>
          <p:nvPr/>
        </p:nvSpPr>
        <p:spPr>
          <a:xfrm>
            <a:off x="8257032" y="1554480"/>
            <a:ext cx="3063240" cy="640080"/>
          </a:xfrm>
          <a:prstGeom prst="rect">
            <a:avLst/>
          </a:prstGeom>
          <a:noFill/>
          <a:ln/>
        </p:spPr>
        <p:txBody>
          <a:bodyPr wrap="square" lIns="0" tIns="0" rIns="0" bIns="0" rtlCol="0" anchor="ctr"/>
          <a:lstStyle/>
          <a:p>
            <a:pPr marL="0" indent="0">
              <a:buNone/>
            </a:pPr>
            <a:r>
              <a:rPr lang="en-US" sz="1250" b="1" kern="0" spc="150">
                <a:solidFill>
                  <a:srgbClr val="FFFFFF"/>
                </a:solidFill>
                <a:latin typeface="Trebuchet MS" pitchFamily="34" charset="0"/>
                <a:ea typeface="Trebuchet MS" pitchFamily="34" charset="-122"/>
                <a:cs typeface="Trebuchet MS" pitchFamily="34" charset="-120"/>
              </a:rPr>
              <a:t>MODEL FIT</a:t>
            </a:r>
            <a:endParaRPr lang="en-US" sz="1250" dirty="0"/>
          </a:p>
        </p:txBody>
      </p:sp>
      <p:sp>
        <p:nvSpPr>
          <p:cNvPr id="25" name="Text 23"/>
          <p:cNvSpPr/>
          <p:nvPr/>
        </p:nvSpPr>
        <p:spPr>
          <a:xfrm>
            <a:off x="8257032" y="2423160"/>
            <a:ext cx="3063240" cy="457200"/>
          </a:xfrm>
          <a:prstGeom prst="rect">
            <a:avLst/>
          </a:prstGeom>
          <a:noFill/>
          <a:ln/>
        </p:spPr>
        <p:txBody>
          <a:bodyPr wrap="square" lIns="0" tIns="0" rIns="0" bIns="0" rtlCol="0" anchor="ctr"/>
          <a:lstStyle/>
          <a:p>
            <a:pPr marL="0" indent="0">
              <a:buNone/>
            </a:pPr>
            <a:r>
              <a:rPr lang="en-US" sz="2400" b="1">
                <a:solidFill>
                  <a:srgbClr val="6BA5D7"/>
                </a:solidFill>
                <a:latin typeface="Consolas" pitchFamily="34" charset="0"/>
                <a:ea typeface="Consolas" pitchFamily="34" charset="-122"/>
                <a:cs typeface="Consolas" pitchFamily="34" charset="-120"/>
              </a:rPr>
              <a:t>R²  =  0.9995</a:t>
            </a:r>
            <a:endParaRPr lang="en-US" sz="2400" dirty="0"/>
          </a:p>
        </p:txBody>
      </p:sp>
      <p:sp>
        <p:nvSpPr>
          <p:cNvPr id="26" name="Text 24"/>
          <p:cNvSpPr/>
          <p:nvPr/>
        </p:nvSpPr>
        <p:spPr>
          <a:xfrm>
            <a:off x="8257032" y="2880360"/>
            <a:ext cx="3063240" cy="548640"/>
          </a:xfrm>
          <a:prstGeom prst="rect">
            <a:avLst/>
          </a:prstGeom>
          <a:noFill/>
          <a:ln/>
        </p:spPr>
        <p:txBody>
          <a:bodyPr wrap="square" lIns="0" tIns="0" rIns="0" bIns="0" rtlCol="0" anchor="t"/>
          <a:lstStyle/>
          <a:p>
            <a:pPr marL="0" indent="0">
              <a:lnSpc>
                <a:spcPct val="102000"/>
              </a:lnSpc>
              <a:buNone/>
            </a:pPr>
            <a:r>
              <a:rPr lang="en-US" sz="1200">
                <a:solidFill>
                  <a:srgbClr val="CBD9E9"/>
                </a:solidFill>
                <a:latin typeface="Calibri" pitchFamily="34" charset="0"/>
                <a:ea typeface="Calibri" pitchFamily="34" charset="-122"/>
                <a:cs typeface="Calibri" pitchFamily="34" charset="-120"/>
              </a:rPr>
              <a:t>Share of payment variance explained</a:t>
            </a:r>
            <a:endParaRPr lang="en-US" sz="1200" dirty="0"/>
          </a:p>
        </p:txBody>
      </p:sp>
      <p:sp>
        <p:nvSpPr>
          <p:cNvPr id="27" name="Text 25"/>
          <p:cNvSpPr/>
          <p:nvPr/>
        </p:nvSpPr>
        <p:spPr>
          <a:xfrm>
            <a:off x="8257032" y="3593592"/>
            <a:ext cx="3063240" cy="457200"/>
          </a:xfrm>
          <a:prstGeom prst="rect">
            <a:avLst/>
          </a:prstGeom>
          <a:noFill/>
          <a:ln/>
        </p:spPr>
        <p:txBody>
          <a:bodyPr wrap="square" lIns="0" tIns="0" rIns="0" bIns="0" rtlCol="0" anchor="ctr"/>
          <a:lstStyle/>
          <a:p>
            <a:pPr marL="0" indent="0">
              <a:buNone/>
            </a:pPr>
            <a:r>
              <a:rPr lang="en-US" sz="2400" b="1">
                <a:solidFill>
                  <a:srgbClr val="6BA5D7"/>
                </a:solidFill>
                <a:latin typeface="Consolas" pitchFamily="34" charset="0"/>
                <a:ea typeface="Consolas" pitchFamily="34" charset="-122"/>
                <a:cs typeface="Consolas" pitchFamily="34" charset="-120"/>
              </a:rPr>
              <a:t>Test R²  =  1.00</a:t>
            </a:r>
            <a:endParaRPr lang="en-US" sz="2400" dirty="0"/>
          </a:p>
        </p:txBody>
      </p:sp>
      <p:sp>
        <p:nvSpPr>
          <p:cNvPr id="28" name="Text 26"/>
          <p:cNvSpPr/>
          <p:nvPr/>
        </p:nvSpPr>
        <p:spPr>
          <a:xfrm>
            <a:off x="8257032" y="4050792"/>
            <a:ext cx="3063240" cy="548640"/>
          </a:xfrm>
          <a:prstGeom prst="rect">
            <a:avLst/>
          </a:prstGeom>
          <a:noFill/>
          <a:ln/>
        </p:spPr>
        <p:txBody>
          <a:bodyPr wrap="square" lIns="0" tIns="0" rIns="0" bIns="0" rtlCol="0" anchor="t"/>
          <a:lstStyle/>
          <a:p>
            <a:pPr marL="0" indent="0">
              <a:lnSpc>
                <a:spcPct val="102000"/>
              </a:lnSpc>
              <a:buNone/>
            </a:pPr>
            <a:r>
              <a:rPr lang="en-US" sz="1200">
                <a:solidFill>
                  <a:srgbClr val="CBD9E9"/>
                </a:solidFill>
                <a:latin typeface="Calibri" pitchFamily="34" charset="0"/>
                <a:ea typeface="Calibri" pitchFamily="34" charset="-122"/>
                <a:cs typeface="Calibri" pitchFamily="34" charset="-120"/>
              </a:rPr>
              <a:t>70/30 holdout — not overfit</a:t>
            </a:r>
            <a:endParaRPr lang="en-US" sz="1200" dirty="0"/>
          </a:p>
        </p:txBody>
      </p:sp>
      <p:sp>
        <p:nvSpPr>
          <p:cNvPr id="29" name="Text 27"/>
          <p:cNvSpPr/>
          <p:nvPr/>
        </p:nvSpPr>
        <p:spPr>
          <a:xfrm>
            <a:off x="8257032" y="4764024"/>
            <a:ext cx="3063240" cy="457200"/>
          </a:xfrm>
          <a:prstGeom prst="rect">
            <a:avLst/>
          </a:prstGeom>
          <a:noFill/>
          <a:ln/>
        </p:spPr>
        <p:txBody>
          <a:bodyPr wrap="square" lIns="0" tIns="0" rIns="0" bIns="0" rtlCol="0" anchor="ctr"/>
          <a:lstStyle/>
          <a:p>
            <a:pPr marL="0" indent="0">
              <a:buNone/>
            </a:pPr>
            <a:r>
              <a:rPr lang="en-US" sz="2400" b="1">
                <a:solidFill>
                  <a:srgbClr val="6BA5D7"/>
                </a:solidFill>
                <a:latin typeface="Consolas" pitchFamily="34" charset="0"/>
                <a:ea typeface="Consolas" pitchFamily="34" charset="-122"/>
                <a:cs typeface="Consolas" pitchFamily="34" charset="-120"/>
              </a:rPr>
              <a:t>Error  =  1.9%</a:t>
            </a:r>
            <a:endParaRPr lang="en-US" sz="2400" dirty="0"/>
          </a:p>
        </p:txBody>
      </p:sp>
      <p:sp>
        <p:nvSpPr>
          <p:cNvPr id="30" name="Text 28"/>
          <p:cNvSpPr/>
          <p:nvPr/>
        </p:nvSpPr>
        <p:spPr>
          <a:xfrm>
            <a:off x="8257032" y="5221224"/>
            <a:ext cx="3063240" cy="548640"/>
          </a:xfrm>
          <a:prstGeom prst="rect">
            <a:avLst/>
          </a:prstGeom>
          <a:noFill/>
          <a:ln/>
        </p:spPr>
        <p:txBody>
          <a:bodyPr wrap="square" lIns="0" tIns="0" rIns="0" bIns="0" rtlCol="0" anchor="t"/>
          <a:lstStyle/>
          <a:p>
            <a:pPr marL="0" indent="0">
              <a:lnSpc>
                <a:spcPct val="102000"/>
              </a:lnSpc>
              <a:buNone/>
            </a:pPr>
            <a:r>
              <a:rPr lang="en-US" sz="1200">
                <a:solidFill>
                  <a:srgbClr val="CBD9E9"/>
                </a:solidFill>
                <a:latin typeface="Calibri" pitchFamily="34" charset="0"/>
                <a:ea typeface="Calibri" pitchFamily="34" charset="-122"/>
                <a:cs typeface="Calibri" pitchFamily="34" charset="-120"/>
              </a:rPr>
              <a:t>Median payment miss, all 125</a:t>
            </a:r>
            <a:endParaRPr lang="en-US" sz="1200" dirty="0"/>
          </a:p>
        </p:txBody>
      </p:sp>
      <p:sp>
        <p:nvSpPr>
          <p:cNvPr id="31" name="Text 29"/>
          <p:cNvSpPr/>
          <p:nvPr/>
        </p:nvSpPr>
        <p:spPr>
          <a:xfrm>
            <a:off x="8257032" y="5715000"/>
            <a:ext cx="3063240" cy="365760"/>
          </a:xfrm>
          <a:prstGeom prst="rect">
            <a:avLst/>
          </a:prstGeom>
          <a:noFill/>
          <a:ln/>
        </p:spPr>
        <p:txBody>
          <a:bodyPr wrap="square" lIns="0" tIns="0" rIns="0" bIns="0" rtlCol="0" anchor="ctr"/>
          <a:lstStyle/>
          <a:p>
            <a:pPr marL="0" indent="0">
              <a:buNone/>
            </a:pPr>
            <a:r>
              <a:rPr lang="en-US" sz="1000" i="1">
                <a:solidFill>
                  <a:srgbClr val="A8B2C6"/>
                </a:solidFill>
                <a:latin typeface="Calibri" pitchFamily="34" charset="0"/>
                <a:ea typeface="Calibri" pitchFamily="34" charset="-122"/>
                <a:cs typeface="Calibri" pitchFamily="34" charset="-120"/>
              </a:rPr>
              <a:t>OLS on all 125 CY 2022 specialties — payment ≈ volume × price × payment-rate (~78%).</a:t>
            </a:r>
            <a:endParaRPr lang="en-US" sz="1000" dirty="0"/>
          </a:p>
        </p:txBody>
      </p:sp>
      <p:sp>
        <p:nvSpPr>
          <p:cNvPr id="32" name="Text 30"/>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a:solidFill>
                  <a:srgbClr val="A8B2C6"/>
                </a:solidFill>
                <a:latin typeface="Trebuchet MS" pitchFamily="34" charset="0"/>
                <a:ea typeface="Trebuchet MS" pitchFamily="34" charset="-122"/>
                <a:cs typeface="Trebuchet MS" pitchFamily="34" charset="-120"/>
              </a:rPr>
              <a:t>CMS MEDICARE PART B  ·  CY 2022–2024</a:t>
            </a:r>
            <a:endParaRPr lang="en-US" sz="900" dirty="0"/>
          </a:p>
        </p:txBody>
      </p:sp>
      <p:sp>
        <p:nvSpPr>
          <p:cNvPr id="33" name="Text 31"/>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a:solidFill>
                  <a:srgbClr val="6BA5D7"/>
                </a:solidFill>
                <a:latin typeface="Consolas" pitchFamily="34" charset="0"/>
                <a:ea typeface="Consolas" pitchFamily="34" charset="-122"/>
                <a:cs typeface="Consolas"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Robustness YoY">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40080" y="406908"/>
            <a:ext cx="201168" cy="128016"/>
          </a:xfrm>
          <a:prstGeom prst="rect">
            <a:avLst/>
          </a:prstGeom>
          <a:solidFill>
            <a:srgbClr val="6BA5D7"/>
          </a:solidFill>
          <a:ln/>
        </p:spPr>
        <p:txBody>
          <a:bodyPr/>
          <a:lstStyle/>
          <a:p>
            <a:endParaRPr lang="en-US"/>
          </a:p>
        </p:txBody>
      </p:sp>
      <p:sp>
        <p:nvSpPr>
          <p:cNvPr id="3" name="kicker text"/>
          <p:cNvSpPr/>
          <p:nvPr/>
        </p:nvSpPr>
        <p:spPr>
          <a:xfrm>
            <a:off x="932688" y="310896"/>
            <a:ext cx="8229600" cy="310896"/>
          </a:xfrm>
          <a:prstGeom prst="rect">
            <a:avLst/>
          </a:prstGeom>
          <a:noFill/>
          <a:ln/>
        </p:spPr>
        <p:txBody>
          <a:bodyPr wrap="square" lIns="0" tIns="0" rIns="0" bIns="0" rtlCol="0" anchor="ctr"/>
          <a:lstStyle/>
          <a:p>
            <a:pPr marL="0" indent="0" algn="l">
              <a:buNone/>
            </a:pPr>
            <a:r>
              <a:rPr lang="en-US" sz="1250" b="1" kern="0" spc="300">
                <a:solidFill>
                  <a:srgbClr val="4E79A7"/>
                </a:solidFill>
                <a:latin typeface="Trebuchet MS" pitchFamily="34" charset="0"/>
                <a:ea typeface="Trebuchet MS" pitchFamily="34" charset="-122"/>
                <a:cs typeface="Trebuchet MS" pitchFamily="34" charset="-120"/>
              </a:rPr>
              <a:t>ROBUSTNESS · YEAR OVER YEAR</a:t>
            </a:r>
            <a:endParaRPr lang="en-US" sz="1250"/>
          </a:p>
        </p:txBody>
      </p:sp>
      <p:sp>
        <p:nvSpPr>
          <p:cNvPr id="4" name="Title"/>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2700" b="1">
                <a:solidFill>
                  <a:srgbClr val="2B2A45"/>
                </a:solidFill>
                <a:latin typeface="Trebuchet MS" pitchFamily="34" charset="0"/>
                <a:ea typeface="Trebuchet MS" pitchFamily="34" charset="-122"/>
                <a:cs typeface="Trebuchet MS" pitchFamily="34" charset="-120"/>
              </a:rPr>
              <a:t>The Fit Holds, Year After Year</a:t>
            </a:r>
            <a:endParaRPr lang="en-US" sz="2700"/>
          </a:p>
        </p:txBody>
      </p:sp>
      <p:sp>
        <p:nvSpPr>
          <p:cNvPr id="5" name="dek"/>
          <p:cNvSpPr/>
          <p:nvPr/>
        </p:nvSpPr>
        <p:spPr>
          <a:xfrm>
            <a:off x="640080" y="1325880"/>
            <a:ext cx="10972800" cy="329184"/>
          </a:xfrm>
          <a:prstGeom prst="rect">
            <a:avLst/>
          </a:prstGeom>
          <a:noFill/>
          <a:ln/>
        </p:spPr>
        <p:txBody>
          <a:bodyPr wrap="square" lIns="0" tIns="0" rIns="0" bIns="0" rtlCol="0" anchor="ctr"/>
          <a:lstStyle/>
          <a:p>
            <a:pPr marL="0" indent="0">
              <a:buNone/>
            </a:pPr>
            <a:r>
              <a:rPr lang="en-US" sz="1300" i="1">
                <a:solidFill>
                  <a:srgbClr val="7C7E96"/>
                </a:solidFill>
                <a:latin typeface="Calibri" pitchFamily="34" charset="0"/>
                <a:ea typeface="Calibri" pitchFamily="34" charset="-122"/>
                <a:cs typeface="Calibri" pitchFamily="34" charset="-120"/>
              </a:rPr>
              <a:t>Predicted vs. actual payment across all 125 CY 2022 specialties — and refit independently, 2023 and 2024 land in exactly the same place.</a:t>
            </a:r>
            <a:endParaRPr lang="en-US" sz="1300"/>
          </a:p>
        </p:txBody>
      </p:sp>
      <p:graphicFrame>
        <p:nvGraphicFramePr>
          <p:cNvPr id="6" name="Fit scatter" descr="Scatterplot of model-predicted versus actual Medicare payment for all 125 specialties in CY 2022, both axes in millions of dollars on a log scale. Points fall almost exactly on the diagonal perfect-fit line, showing the log-log regression reproduces actual payment across four orders of magnitude. The model refit independently on 2023 (128 specialties) and 2024 (134) reproduces the same near-perfect fit."/>
          <p:cNvGraphicFramePr/>
          <p:nvPr>
            <p:extLst>
              <p:ext uri="{D42A27DB-BD31-4B8C-83A1-F6EECF244321}">
                <p14:modId xmlns:p14="http://schemas.microsoft.com/office/powerpoint/2010/main" val="842217559"/>
              </p:ext>
            </p:extLst>
          </p:nvPr>
        </p:nvGraphicFramePr>
        <p:xfrm>
          <a:off x="470000" y="1740000"/>
          <a:ext cx="7760000" cy="4560000"/>
        </p:xfrm>
        <a:graphic>
          <a:graphicData uri="http://schemas.openxmlformats.org/drawingml/2006/chart">
            <c:chart xmlns:c="http://schemas.openxmlformats.org/drawingml/2006/chart" xmlns:r="http://schemas.openxmlformats.org/officeDocument/2006/relationships" r:id="rId3"/>
          </a:graphicData>
        </a:graphic>
      </p:graphicFrame>
      <p:sp>
        <p:nvSpPr>
          <p:cNvPr id="7" name="side card">
            <a:extLst>
              <a:ext uri="{C183D7F6-B498-43B3-948B-1728B52AA6E4}">
                <adec:decorative xmlns:adec="http://schemas.microsoft.com/office/drawing/2017/decorative" val="1"/>
              </a:ext>
            </a:extLst>
          </p:cNvPr>
          <p:cNvSpPr/>
          <p:nvPr/>
        </p:nvSpPr>
        <p:spPr>
          <a:xfrm>
            <a:off x="8420000" y="1740000"/>
            <a:ext cx="3467120" cy="4560000"/>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8" name="card heading"/>
          <p:cNvSpPr/>
          <p:nvPr/>
        </p:nvSpPr>
        <p:spPr>
          <a:xfrm>
            <a:off x="8657744" y="1938528"/>
            <a:ext cx="2991632" cy="603504"/>
          </a:xfrm>
          <a:prstGeom prst="rect">
            <a:avLst/>
          </a:prstGeom>
          <a:noFill/>
          <a:ln/>
        </p:spPr>
        <p:txBody>
          <a:bodyPr wrap="square" lIns="0" tIns="0" rIns="0" bIns="0" rtlCol="0" anchor="t"/>
          <a:lstStyle/>
          <a:p>
            <a:pPr marL="0" indent="0">
              <a:lnSpc>
                <a:spcPct val="108000"/>
              </a:lnSpc>
              <a:buNone/>
            </a:pPr>
            <a:r>
              <a:rPr lang="en-US" sz="1100" b="1" kern="0" spc="100">
                <a:solidFill>
                  <a:srgbClr val="4E79A7"/>
                </a:solidFill>
                <a:latin typeface="Trebuchet MS" pitchFamily="34" charset="0"/>
                <a:ea typeface="Trebuchet MS" pitchFamily="34" charset="-122"/>
                <a:cs typeface="Trebuchet MS" pitchFamily="34" charset="-120"/>
              </a:rPr>
              <a:t>DOES IT HOLD? YES</a:t>
            </a:r>
            <a:endParaRPr lang="en-US" sz="1100"/>
          </a:p>
          <a:p>
            <a:pPr marL="0" indent="0">
              <a:lnSpc>
                <a:spcPct val="106000"/>
              </a:lnSpc>
              <a:spcBef>
                <a:spcPts val="600"/>
              </a:spcBef>
              <a:buNone/>
            </a:pPr>
            <a:r>
              <a:rPr lang="en-US" sz="1150">
                <a:solidFill>
                  <a:srgbClr val="7C7E96"/>
                </a:solidFill>
                <a:latin typeface="Calibri" pitchFamily="34" charset="0"/>
                <a:ea typeface="Calibri" pitchFamily="34" charset="-122"/>
                <a:cs typeface="Calibri" pitchFamily="34" charset="-120"/>
              </a:rPr>
              <a:t>Refit each year, the model barely moves.</a:t>
            </a:r>
            <a:endParaRPr lang="en-US" sz="1150"/>
          </a:p>
        </p:txBody>
      </p:sp>
      <p:graphicFrame>
        <p:nvGraphicFramePr>
          <p:cNvPr id="9" name="YoY consistency table"/>
          <p:cNvGraphicFramePr>
            <a:graphicFrameLocks noGrp="1"/>
          </p:cNvGraphicFramePr>
          <p:nvPr>
            <p:extLst>
              <p:ext uri="{D42A27DB-BD31-4B8C-83A1-F6EECF244321}">
                <p14:modId xmlns:p14="http://schemas.microsoft.com/office/powerpoint/2010/main" val="337049822"/>
              </p:ext>
            </p:extLst>
          </p:nvPr>
        </p:nvGraphicFramePr>
        <p:xfrm>
          <a:off x="8657744" y="2820000"/>
          <a:ext cx="2991632" cy="1704000"/>
        </p:xfrm>
        <a:graphic>
          <a:graphicData uri="http://schemas.openxmlformats.org/drawingml/2006/table">
            <a:tbl>
              <a:tblPr firstRow="1"/>
              <a:tblGrid>
                <a:gridCol w="636000">
                  <a:extLst>
                    <a:ext uri="{9D8B030D-6E8A-4147-A177-3AD203B41FA5}">
                      <a16:colId xmlns:a16="http://schemas.microsoft.com/office/drawing/2014/main" val="20000"/>
                    </a:ext>
                  </a:extLst>
                </a:gridCol>
                <a:gridCol w="804000">
                  <a:extLst>
                    <a:ext uri="{9D8B030D-6E8A-4147-A177-3AD203B41FA5}">
                      <a16:colId xmlns:a16="http://schemas.microsoft.com/office/drawing/2014/main" val="20001"/>
                    </a:ext>
                  </a:extLst>
                </a:gridCol>
                <a:gridCol w="780000">
                  <a:extLst>
                    <a:ext uri="{9D8B030D-6E8A-4147-A177-3AD203B41FA5}">
                      <a16:colId xmlns:a16="http://schemas.microsoft.com/office/drawing/2014/main" val="20002"/>
                    </a:ext>
                  </a:extLst>
                </a:gridCol>
                <a:gridCol w="771632">
                  <a:extLst>
                    <a:ext uri="{9D8B030D-6E8A-4147-A177-3AD203B41FA5}">
                      <a16:colId xmlns:a16="http://schemas.microsoft.com/office/drawing/2014/main" val="20003"/>
                    </a:ext>
                  </a:extLst>
                </a:gridCol>
              </a:tblGrid>
              <a:tr h="426000">
                <a:tc>
                  <a:txBody>
                    <a:bodyPr/>
                    <a:lstStyle/>
                    <a:p>
                      <a:pPr algn="l"/>
                      <a:r>
                        <a:rPr lang="en-US" sz="800" b="1" spc="40">
                          <a:solidFill>
                            <a:srgbClr val="FFFFFF"/>
                          </a:solidFill>
                          <a:latin typeface="Trebuchet MS" pitchFamily="34" charset="0"/>
                        </a:rPr>
                        <a:t>YEAR</a:t>
                      </a:r>
                    </a:p>
                  </a:txBody>
                  <a:tcPr marL="54864" marR="18288" marT="9144" marB="9144" anchor="ctr">
                    <a:solidFill>
                      <a:srgbClr val="2B2A45"/>
                    </a:solidFill>
                  </a:tcPr>
                </a:tc>
                <a:tc>
                  <a:txBody>
                    <a:bodyPr/>
                    <a:lstStyle/>
                    <a:p>
                      <a:pPr algn="ctr"/>
                      <a:r>
                        <a:rPr lang="en-US" sz="800" b="1" spc="40">
                          <a:solidFill>
                            <a:srgbClr val="FFFFFF"/>
                          </a:solidFill>
                          <a:latin typeface="Trebuchet MS" pitchFamily="34" charset="0"/>
                        </a:rPr>
                        <a:t>MODEL R²</a:t>
                      </a:r>
                    </a:p>
                  </a:txBody>
                  <a:tcPr marL="18288" marR="18288" marT="9144" marB="9144" anchor="ctr">
                    <a:solidFill>
                      <a:srgbClr val="2B2A45"/>
                    </a:solidFill>
                  </a:tcPr>
                </a:tc>
                <a:tc>
                  <a:txBody>
                    <a:bodyPr/>
                    <a:lstStyle/>
                    <a:p>
                      <a:pPr algn="ctr"/>
                      <a:r>
                        <a:rPr lang="en-US" sz="800" b="1" spc="40">
                          <a:solidFill>
                            <a:srgbClr val="FFFFFF"/>
                          </a:solidFill>
                          <a:latin typeface="Trebuchet MS" pitchFamily="34" charset="0"/>
                        </a:rPr>
                        <a:t>VOL. ELAST.</a:t>
                      </a:r>
                    </a:p>
                  </a:txBody>
                  <a:tcPr marL="18288" marR="18288" marT="9144" marB="9144" anchor="ctr">
                    <a:solidFill>
                      <a:srgbClr val="2B2A45"/>
                    </a:solidFill>
                  </a:tcPr>
                </a:tc>
                <a:tc>
                  <a:txBody>
                    <a:bodyPr/>
                    <a:lstStyle/>
                    <a:p>
                      <a:pPr algn="ctr"/>
                      <a:r>
                        <a:rPr lang="en-US" sz="800" b="1" spc="40">
                          <a:solidFill>
                            <a:srgbClr val="FFFFFF"/>
                          </a:solidFill>
                          <a:latin typeface="Trebuchet MS" pitchFamily="34" charset="0"/>
                        </a:rPr>
                        <a:t>PAY RATE</a:t>
                      </a:r>
                    </a:p>
                  </a:txBody>
                  <a:tcPr marL="18288" marR="18288" marT="9144" marB="9144" anchor="ctr">
                    <a:solidFill>
                      <a:srgbClr val="2B2A45"/>
                    </a:solidFill>
                  </a:tcPr>
                </a:tc>
                <a:extLst>
                  <a:ext uri="{0D108BD9-81ED-4DB2-BD59-A6C34878D82A}">
                    <a16:rowId xmlns:a16="http://schemas.microsoft.com/office/drawing/2014/main" val="10000"/>
                  </a:ext>
                </a:extLst>
              </a:tr>
              <a:tr h="426000">
                <a:tc>
                  <a:txBody>
                    <a:bodyPr/>
                    <a:lstStyle/>
                    <a:p>
                      <a:pPr algn="l"/>
                      <a:r>
                        <a:rPr lang="en-US" sz="1000" b="1">
                          <a:solidFill>
                            <a:srgbClr val="43426A"/>
                          </a:solidFill>
                          <a:latin typeface="Trebuchet MS" pitchFamily="34" charset="0"/>
                        </a:rPr>
                        <a:t>2022</a:t>
                      </a:r>
                    </a:p>
                  </a:txBody>
                  <a:tcPr marL="54864" marR="18288" marT="9144" marB="9144" anchor="ctr">
                    <a:solidFill>
                      <a:srgbClr val="FFFFFF"/>
                    </a:solidFill>
                  </a:tcPr>
                </a:tc>
                <a:tc>
                  <a:txBody>
                    <a:bodyPr/>
                    <a:lstStyle/>
                    <a:p>
                      <a:pPr algn="ctr"/>
                      <a:r>
                        <a:rPr lang="en-US" sz="1000" b="1">
                          <a:solidFill>
                            <a:srgbClr val="A0CBE8"/>
                          </a:solidFill>
                          <a:latin typeface="Consolas" pitchFamily="34" charset="0"/>
                        </a:rPr>
                        <a:t>0.9995</a:t>
                      </a:r>
                    </a:p>
                  </a:txBody>
                  <a:tcPr marL="18288" marR="18288" marT="9144" marB="9144" anchor="ctr">
                    <a:solidFill>
                      <a:srgbClr val="FFFFFF"/>
                    </a:solidFill>
                  </a:tcPr>
                </a:tc>
                <a:tc>
                  <a:txBody>
                    <a:bodyPr/>
                    <a:lstStyle/>
                    <a:p>
                      <a:pPr algn="ctr"/>
                      <a:r>
                        <a:rPr lang="en-US" sz="1000">
                          <a:solidFill>
                            <a:srgbClr val="43426A"/>
                          </a:solidFill>
                          <a:latin typeface="Consolas" pitchFamily="34" charset="0"/>
                        </a:rPr>
                        <a:t>1.00</a:t>
                      </a:r>
                    </a:p>
                  </a:txBody>
                  <a:tcPr marL="18288" marR="18288" marT="9144" marB="9144" anchor="ctr">
                    <a:solidFill>
                      <a:srgbClr val="FFFFFF"/>
                    </a:solidFill>
                  </a:tcPr>
                </a:tc>
                <a:tc>
                  <a:txBody>
                    <a:bodyPr/>
                    <a:lstStyle/>
                    <a:p>
                      <a:pPr algn="ctr"/>
                      <a:r>
                        <a:rPr lang="en-US" sz="1000">
                          <a:solidFill>
                            <a:srgbClr val="43426A"/>
                          </a:solidFill>
                          <a:latin typeface="Consolas" pitchFamily="34" charset="0"/>
                        </a:rPr>
                        <a:t>77.3%</a:t>
                      </a:r>
                    </a:p>
                  </a:txBody>
                  <a:tcPr marL="18288" marR="18288" marT="9144" marB="9144" anchor="ctr">
                    <a:solidFill>
                      <a:srgbClr val="FFFFFF"/>
                    </a:solidFill>
                  </a:tcPr>
                </a:tc>
                <a:extLst>
                  <a:ext uri="{0D108BD9-81ED-4DB2-BD59-A6C34878D82A}">
                    <a16:rowId xmlns:a16="http://schemas.microsoft.com/office/drawing/2014/main" val="10001"/>
                  </a:ext>
                </a:extLst>
              </a:tr>
              <a:tr h="426000">
                <a:tc>
                  <a:txBody>
                    <a:bodyPr/>
                    <a:lstStyle/>
                    <a:p>
                      <a:pPr algn="l"/>
                      <a:r>
                        <a:rPr lang="en-US" sz="1000" b="1">
                          <a:solidFill>
                            <a:srgbClr val="43426A"/>
                          </a:solidFill>
                          <a:latin typeface="Trebuchet MS" pitchFamily="34" charset="0"/>
                        </a:rPr>
                        <a:t>2023</a:t>
                      </a:r>
                    </a:p>
                  </a:txBody>
                  <a:tcPr marL="54864" marR="18288" marT="9144" marB="9144" anchor="ctr">
                    <a:solidFill>
                      <a:srgbClr val="F4F7FA"/>
                    </a:solidFill>
                  </a:tcPr>
                </a:tc>
                <a:tc>
                  <a:txBody>
                    <a:bodyPr/>
                    <a:lstStyle/>
                    <a:p>
                      <a:pPr algn="ctr"/>
                      <a:r>
                        <a:rPr lang="en-US" sz="1000" b="1">
                          <a:solidFill>
                            <a:srgbClr val="A0CBE8"/>
                          </a:solidFill>
                          <a:latin typeface="Consolas" pitchFamily="34" charset="0"/>
                        </a:rPr>
                        <a:t>0.9996</a:t>
                      </a:r>
                    </a:p>
                  </a:txBody>
                  <a:tcPr marL="18288" marR="18288" marT="9144" marB="9144" anchor="ctr">
                    <a:solidFill>
                      <a:srgbClr val="F4F7FA"/>
                    </a:solidFill>
                  </a:tcPr>
                </a:tc>
                <a:tc>
                  <a:txBody>
                    <a:bodyPr/>
                    <a:lstStyle/>
                    <a:p>
                      <a:pPr algn="ctr"/>
                      <a:r>
                        <a:rPr lang="en-US" sz="1000">
                          <a:solidFill>
                            <a:srgbClr val="43426A"/>
                          </a:solidFill>
                          <a:latin typeface="Consolas" pitchFamily="34" charset="0"/>
                        </a:rPr>
                        <a:t>1.00</a:t>
                      </a:r>
                    </a:p>
                  </a:txBody>
                  <a:tcPr marL="18288" marR="18288" marT="9144" marB="9144" anchor="ctr">
                    <a:solidFill>
                      <a:srgbClr val="F4F7FA"/>
                    </a:solidFill>
                  </a:tcPr>
                </a:tc>
                <a:tc>
                  <a:txBody>
                    <a:bodyPr/>
                    <a:lstStyle/>
                    <a:p>
                      <a:pPr algn="ctr"/>
                      <a:r>
                        <a:rPr lang="en-US" sz="1000">
                          <a:solidFill>
                            <a:srgbClr val="43426A"/>
                          </a:solidFill>
                          <a:latin typeface="Consolas" pitchFamily="34" charset="0"/>
                        </a:rPr>
                        <a:t>77.1%</a:t>
                      </a:r>
                    </a:p>
                  </a:txBody>
                  <a:tcPr marL="18288" marR="18288" marT="9144" marB="9144" anchor="ctr">
                    <a:solidFill>
                      <a:srgbClr val="F4F7FA"/>
                    </a:solidFill>
                  </a:tcPr>
                </a:tc>
                <a:extLst>
                  <a:ext uri="{0D108BD9-81ED-4DB2-BD59-A6C34878D82A}">
                    <a16:rowId xmlns:a16="http://schemas.microsoft.com/office/drawing/2014/main" val="10002"/>
                  </a:ext>
                </a:extLst>
              </a:tr>
              <a:tr h="426000">
                <a:tc>
                  <a:txBody>
                    <a:bodyPr/>
                    <a:lstStyle/>
                    <a:p>
                      <a:pPr algn="l"/>
                      <a:r>
                        <a:rPr lang="en-US" sz="1000" b="1">
                          <a:solidFill>
                            <a:srgbClr val="43426A"/>
                          </a:solidFill>
                          <a:latin typeface="Trebuchet MS" pitchFamily="34" charset="0"/>
                        </a:rPr>
                        <a:t>2024</a:t>
                      </a:r>
                    </a:p>
                  </a:txBody>
                  <a:tcPr marL="54864" marR="18288" marT="9144" marB="9144" anchor="ctr">
                    <a:solidFill>
                      <a:srgbClr val="FFFFFF"/>
                    </a:solidFill>
                  </a:tcPr>
                </a:tc>
                <a:tc>
                  <a:txBody>
                    <a:bodyPr/>
                    <a:lstStyle/>
                    <a:p>
                      <a:pPr algn="ctr"/>
                      <a:r>
                        <a:rPr lang="en-US" sz="1000" b="1">
                          <a:solidFill>
                            <a:srgbClr val="A0CBE8"/>
                          </a:solidFill>
                          <a:latin typeface="Consolas" pitchFamily="34" charset="0"/>
                        </a:rPr>
                        <a:t>0.9997</a:t>
                      </a:r>
                    </a:p>
                  </a:txBody>
                  <a:tcPr marL="18288" marR="18288" marT="9144" marB="9144" anchor="ctr">
                    <a:solidFill>
                      <a:srgbClr val="FFFFFF"/>
                    </a:solidFill>
                  </a:tcPr>
                </a:tc>
                <a:tc>
                  <a:txBody>
                    <a:bodyPr/>
                    <a:lstStyle/>
                    <a:p>
                      <a:pPr algn="ctr"/>
                      <a:r>
                        <a:rPr lang="en-US" sz="1000">
                          <a:solidFill>
                            <a:srgbClr val="43426A"/>
                          </a:solidFill>
                          <a:latin typeface="Consolas" pitchFamily="34" charset="0"/>
                        </a:rPr>
                        <a:t>1.00</a:t>
                      </a:r>
                    </a:p>
                  </a:txBody>
                  <a:tcPr marL="18288" marR="18288" marT="9144" marB="9144" anchor="ctr">
                    <a:solidFill>
                      <a:srgbClr val="FFFFFF"/>
                    </a:solidFill>
                  </a:tcPr>
                </a:tc>
                <a:tc>
                  <a:txBody>
                    <a:bodyPr/>
                    <a:lstStyle/>
                    <a:p>
                      <a:pPr algn="ctr"/>
                      <a:r>
                        <a:rPr lang="en-US" sz="1000">
                          <a:solidFill>
                            <a:srgbClr val="43426A"/>
                          </a:solidFill>
                          <a:latin typeface="Consolas" pitchFamily="34" charset="0"/>
                        </a:rPr>
                        <a:t>76.8%</a:t>
                      </a:r>
                    </a:p>
                  </a:txBody>
                  <a:tcPr marL="18288" marR="18288" marT="9144" marB="9144" anchor="ctr">
                    <a:solidFill>
                      <a:srgbClr val="FFFFFF"/>
                    </a:solidFill>
                  </a:tcPr>
                </a:tc>
                <a:extLst>
                  <a:ext uri="{0D108BD9-81ED-4DB2-BD59-A6C34878D82A}">
                    <a16:rowId xmlns:a16="http://schemas.microsoft.com/office/drawing/2014/main" val="10003"/>
                  </a:ext>
                </a:extLst>
              </a:tr>
            </a:tbl>
          </a:graphicData>
        </a:graphic>
      </p:graphicFrame>
      <p:sp>
        <p:nvSpPr>
          <p:cNvPr id="15" name="insight bar"/>
          <p:cNvSpPr/>
          <p:nvPr/>
        </p:nvSpPr>
        <p:spPr>
          <a:xfrm>
            <a:off x="8657744" y="4937760"/>
            <a:ext cx="2991632" cy="1188720"/>
          </a:xfrm>
          <a:prstGeom prst="rect">
            <a:avLst/>
          </a:prstGeom>
          <a:solidFill>
            <a:srgbClr val="2B2A45"/>
          </a:solidFill>
          <a:ln/>
        </p:spPr>
        <p:txBody>
          <a:bodyPr wrap="square" lIns="137160" tIns="118872" rIns="137160" bIns="118872" rtlCol="0" anchor="ctr"/>
          <a:lstStyle/>
          <a:p>
            <a:pPr marL="0" indent="0">
              <a:lnSpc>
                <a:spcPct val="112000"/>
              </a:lnSpc>
              <a:buNone/>
            </a:pPr>
            <a:r>
              <a:rPr lang="en-US" sz="1150" b="1">
                <a:solidFill>
                  <a:srgbClr val="6BA5D7"/>
                </a:solidFill>
                <a:latin typeface="Trebuchet MS" pitchFamily="34" charset="0"/>
                <a:ea typeface="Trebuchet MS" pitchFamily="34" charset="-122"/>
                <a:cs typeface="Trebuchet MS" pitchFamily="34" charset="-120"/>
              </a:rPr>
              <a:t>The fit is structural. </a:t>
            </a:r>
            <a:r>
              <a:rPr lang="en-US" sz="1150">
                <a:solidFill>
                  <a:srgbClr val="FFFFFF"/>
                </a:solidFill>
                <a:latin typeface="Calibri" pitchFamily="34" charset="0"/>
                <a:ea typeface="Calibri" pitchFamily="34" charset="-122"/>
                <a:cs typeface="Calibri" pitchFamily="34" charset="-120"/>
              </a:rPr>
              <a:t>Payment ≈ volume × price × a near-constant rate — so the relationship reproduces every year, not just 2022.</a:t>
            </a:r>
            <a:endParaRPr lang="en-US" sz="1150"/>
          </a:p>
        </p:txBody>
      </p:sp>
      <p:sp>
        <p:nvSpPr>
          <p:cNvPr id="16" name="footer"/>
          <p:cNvSpPr/>
          <p:nvPr/>
        </p:nvSpPr>
        <p:spPr>
          <a:xfrm>
            <a:off x="640080" y="6473952"/>
            <a:ext cx="9600000" cy="274320"/>
          </a:xfrm>
          <a:prstGeom prst="rect">
            <a:avLst/>
          </a:prstGeom>
          <a:noFill/>
          <a:ln/>
        </p:spPr>
        <p:txBody>
          <a:bodyPr wrap="square" lIns="0" tIns="0" rIns="0" bIns="0" rtlCol="0" anchor="ctr"/>
          <a:lstStyle/>
          <a:p>
            <a:pPr marL="0" indent="0" algn="l">
              <a:buNone/>
            </a:pPr>
            <a:r>
              <a:rPr lang="en-US" sz="900" kern="0" spc="200">
                <a:solidFill>
                  <a:srgbClr val="7C7E96"/>
                </a:solidFill>
                <a:latin typeface="Trebuchet MS" pitchFamily="34" charset="0"/>
                <a:ea typeface="Trebuchet MS" pitchFamily="34" charset="-122"/>
                <a:cs typeface="Trebuchet MS" pitchFamily="34" charset="-120"/>
              </a:rPr>
              <a:t>CMS MEDICARE PART B  ·  LOG-LOG MODEL REFIT EACH YEAR  ·  125 / 128 / 134 SPECIALTIES, CY 2022–2024</a:t>
            </a:r>
            <a:endParaRPr lang="en-US" sz="900"/>
          </a:p>
        </p:txBody>
      </p:sp>
      <p:sp>
        <p:nvSpPr>
          <p:cNvPr id="17" name="page number"/>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a:solidFill>
                  <a:srgbClr val="4E79A7"/>
                </a:solidFill>
                <a:latin typeface="Consolas" pitchFamily="34" charset="0"/>
                <a:ea typeface="Consolas" pitchFamily="34" charset="-122"/>
                <a:cs typeface="Consolas" pitchFamily="34" charset="-120"/>
              </a:rPr>
              <a:t>16</a:t>
            </a:r>
            <a:endParaRPr lang="en-US" sz="1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40080" y="406908"/>
            <a:ext cx="201168" cy="128016"/>
          </a:xfrm>
          <a:prstGeom prst="rect">
            <a:avLst/>
          </a:prstGeom>
          <a:solidFill>
            <a:srgbClr val="6BA5D7"/>
          </a:solidFill>
          <a:ln/>
        </p:spPr>
        <p:txBody>
          <a:bodyPr/>
          <a:lstStyle/>
          <a:p>
            <a:endParaRPr lang="en-US"/>
          </a:p>
        </p:txBody>
      </p:sp>
      <p:sp>
        <p:nvSpPr>
          <p:cNvPr id="3" name="Text 1"/>
          <p:cNvSpPr/>
          <p:nvPr/>
        </p:nvSpPr>
        <p:spPr>
          <a:xfrm>
            <a:off x="932688" y="310896"/>
            <a:ext cx="8229600" cy="310896"/>
          </a:xfrm>
          <a:prstGeom prst="rect">
            <a:avLst/>
          </a:prstGeom>
          <a:noFill/>
          <a:ln/>
        </p:spPr>
        <p:txBody>
          <a:bodyPr wrap="square" lIns="0" tIns="0" rIns="0" bIns="0" rtlCol="0" anchor="ctr"/>
          <a:lstStyle/>
          <a:p>
            <a:pPr marL="0" indent="0" algn="l">
              <a:buNone/>
            </a:pPr>
            <a:r>
              <a:rPr lang="en-US" sz="1250" b="1" kern="0" spc="300">
                <a:solidFill>
                  <a:srgbClr val="4E79A7"/>
                </a:solidFill>
                <a:latin typeface="Trebuchet MS" pitchFamily="34" charset="0"/>
                <a:ea typeface="Trebuchet MS" pitchFamily="34" charset="-122"/>
                <a:cs typeface="Trebuchet MS" pitchFamily="34" charset="-120"/>
              </a:rPr>
              <a:t>SYNTHESIS</a:t>
            </a:r>
            <a:endParaRPr lang="en-US" sz="1250" dirty="0"/>
          </a:p>
        </p:txBody>
      </p:sp>
      <p:sp>
        <p:nvSpPr>
          <p:cNvPr id="4" name="Text 0"/>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3000" b="1">
                <a:solidFill>
                  <a:srgbClr val="2B2A45"/>
                </a:solidFill>
                <a:latin typeface="Trebuchet MS" pitchFamily="34" charset="0"/>
                <a:ea typeface="Trebuchet MS" pitchFamily="34" charset="-122"/>
                <a:cs typeface="Trebuchet MS" pitchFamily="34" charset="-120"/>
              </a:rPr>
              <a:t>Key Findings</a:t>
            </a:r>
            <a:endParaRPr lang="en-US" sz="3000" dirty="0"/>
          </a:p>
        </p:txBody>
      </p:sp>
      <p:sp>
        <p:nvSpPr>
          <p:cNvPr id="40" name="through-line callout"/>
          <p:cNvSpPr/>
          <p:nvPr/>
        </p:nvSpPr>
        <p:spPr>
          <a:xfrm>
            <a:off x="640080" y="1276350"/>
            <a:ext cx="11302320" cy="210000"/>
          </a:xfrm>
          <a:prstGeom prst="rect">
            <a:avLst/>
          </a:prstGeom>
          <a:noFill/>
          <a:ln/>
        </p:spPr>
        <p:txBody>
          <a:bodyPr wrap="square" lIns="0" tIns="0" rIns="0" bIns="0" rtlCol="0" anchor="ctr"/>
          <a:lstStyle/>
          <a:p>
            <a:pPr marL="0" indent="0" algn="l">
              <a:buNone/>
            </a:pPr>
            <a:r>
              <a:rPr lang="en-US" sz="1100" i="1">
                <a:solidFill>
                  <a:srgbClr val="7C7E96"/>
                </a:solidFill>
                <a:latin typeface="Calibri" pitchFamily="34" charset="0"/>
                <a:ea typeface="Calibri" pitchFamily="34" charset="-122"/>
                <a:cs typeface="Calibri" pitchFamily="34" charset="-120"/>
              </a:rPr>
              <a:t>The headline numbers behind these findings — </a:t>
            </a:r>
            <a:r>
              <a:rPr lang="en-US" sz="1100" b="1" i="1">
                <a:solidFill>
                  <a:srgbClr val="4E79A7"/>
                </a:solidFill>
                <a:latin typeface="Calibri" pitchFamily="34" charset="0"/>
                <a:ea typeface="Calibri" pitchFamily="34" charset="-122"/>
                <a:cs typeface="Calibri" pitchFamily="34" charset="-120"/>
              </a:rPr>
              <a:t>$131.7B payments  ·  ~6B services  ·  $22.08 / service  ·  76.8% paid</a:t>
            </a:r>
            <a:r>
              <a:rPr lang="en-US" sz="1100" i="1">
                <a:solidFill>
                  <a:srgbClr val="7C7E96"/>
                </a:solidFill>
                <a:latin typeface="Calibri" pitchFamily="34" charset="0"/>
                <a:ea typeface="Calibri" pitchFamily="34" charset="-122"/>
                <a:cs typeface="Calibri" pitchFamily="34" charset="-120"/>
              </a:rPr>
              <a:t>.</a:t>
            </a:r>
            <a:endParaRPr lang="en-US" sz="1100" i="1"/>
          </a:p>
        </p:txBody>
      </p:sp>
      <p:sp>
        <p:nvSpPr>
          <p:cNvPr id="5" name="finding card">
            <a:extLst>
              <a:ext uri="{C183D7F6-B498-43B3-948B-1728B52AA6E4}">
                <adec:decorative xmlns:adec="http://schemas.microsoft.com/office/drawing/2017/decorative" val="1"/>
              </a:ext>
            </a:extLst>
          </p:cNvPr>
          <p:cNvSpPr/>
          <p:nvPr/>
        </p:nvSpPr>
        <p:spPr>
          <a:xfrm>
            <a:off x="640080" y="1508760"/>
            <a:ext cx="5486400" cy="2212848"/>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6" name="Text 4"/>
          <p:cNvSpPr/>
          <p:nvPr/>
        </p:nvSpPr>
        <p:spPr>
          <a:xfrm>
            <a:off x="896112" y="1709928"/>
            <a:ext cx="868680" cy="640080"/>
          </a:xfrm>
          <a:prstGeom prst="rect">
            <a:avLst/>
          </a:prstGeom>
          <a:noFill/>
          <a:ln/>
        </p:spPr>
        <p:txBody>
          <a:bodyPr wrap="square" lIns="0" tIns="0" rIns="0" bIns="0" rtlCol="0" anchor="ctr"/>
          <a:lstStyle/>
          <a:p>
            <a:pPr marL="0" indent="0">
              <a:buNone/>
            </a:pPr>
            <a:r>
              <a:rPr lang="en-US" sz="3000" b="1">
                <a:solidFill>
                  <a:srgbClr val="4E79A7"/>
                </a:solidFill>
                <a:latin typeface="Consolas" pitchFamily="34" charset="0"/>
                <a:ea typeface="Consolas" pitchFamily="34" charset="-122"/>
                <a:cs typeface="Consolas" pitchFamily="34" charset="-120"/>
              </a:rPr>
              <a:t>01</a:t>
            </a:r>
            <a:endParaRPr lang="en-US" sz="3000" dirty="0"/>
          </a:p>
        </p:txBody>
      </p:sp>
      <p:sp>
        <p:nvSpPr>
          <p:cNvPr id="7" name="Text 5"/>
          <p:cNvSpPr/>
          <p:nvPr/>
        </p:nvSpPr>
        <p:spPr>
          <a:xfrm>
            <a:off x="1810512" y="1728216"/>
            <a:ext cx="4069080" cy="777240"/>
          </a:xfrm>
          <a:prstGeom prst="rect">
            <a:avLst/>
          </a:prstGeom>
          <a:noFill/>
          <a:ln/>
        </p:spPr>
        <p:txBody>
          <a:bodyPr wrap="square" lIns="0" tIns="0" rIns="0" bIns="0" rtlCol="0" anchor="ctr"/>
          <a:lstStyle/>
          <a:p>
            <a:pPr marL="0" indent="0">
              <a:lnSpc>
                <a:spcPct val="98000"/>
              </a:lnSpc>
              <a:buNone/>
            </a:pPr>
            <a:r>
              <a:rPr lang="en-US" sz="1500" b="1">
                <a:solidFill>
                  <a:srgbClr val="2B2A45"/>
                </a:solidFill>
                <a:latin typeface="Trebuchet MS" pitchFamily="34" charset="0"/>
                <a:ea typeface="Trebuchet MS" pitchFamily="34" charset="-122"/>
                <a:cs typeface="Trebuchet MS" pitchFamily="34" charset="-120"/>
              </a:rPr>
              <a:t>Spending keeps rising, growth is cooling</a:t>
            </a:r>
            <a:endParaRPr lang="en-US" sz="1500" dirty="0"/>
          </a:p>
        </p:txBody>
      </p:sp>
      <p:sp>
        <p:nvSpPr>
          <p:cNvPr id="8" name="Text 6"/>
          <p:cNvSpPr/>
          <p:nvPr/>
        </p:nvSpPr>
        <p:spPr>
          <a:xfrm>
            <a:off x="914400" y="2532888"/>
            <a:ext cx="4937760" cy="1024128"/>
          </a:xfrm>
          <a:prstGeom prst="rect">
            <a:avLst/>
          </a:prstGeom>
          <a:noFill/>
          <a:ln/>
        </p:spPr>
        <p:txBody>
          <a:bodyPr wrap="square" lIns="0" tIns="0" rIns="0" bIns="0" rtlCol="0" anchor="t"/>
          <a:lstStyle/>
          <a:p>
            <a:pPr marL="0" indent="0">
              <a:lnSpc>
                <a:spcPct val="104000"/>
              </a:lnSpc>
              <a:buNone/>
            </a:pPr>
            <a:r>
              <a:rPr lang="en-US" sz="1250">
                <a:solidFill>
                  <a:srgbClr val="7C7E96"/>
                </a:solidFill>
                <a:latin typeface="Calibri" pitchFamily="34" charset="0"/>
                <a:ea typeface="Calibri" pitchFamily="34" charset="-122"/>
                <a:cs typeface="Calibri" pitchFamily="34" charset="-120"/>
              </a:rPr>
              <a:t>Payments climbed to $131.7B in 2024 — up 13.6% over two years — but annual growth slowed from +8.4% to +4.8%.</a:t>
            </a:r>
            <a:endParaRPr lang="en-US" sz="1250" dirty="0"/>
          </a:p>
        </p:txBody>
      </p:sp>
      <p:sp>
        <p:nvSpPr>
          <p:cNvPr id="9" name="finding card">
            <a:extLst>
              <a:ext uri="{C183D7F6-B498-43B3-948B-1728B52AA6E4}">
                <adec:decorative xmlns:adec="http://schemas.microsoft.com/office/drawing/2017/decorative" val="1"/>
              </a:ext>
            </a:extLst>
          </p:cNvPr>
          <p:cNvSpPr/>
          <p:nvPr/>
        </p:nvSpPr>
        <p:spPr>
          <a:xfrm>
            <a:off x="6455664" y="1508760"/>
            <a:ext cx="5486400" cy="2212848"/>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10" name="Text 8"/>
          <p:cNvSpPr/>
          <p:nvPr/>
        </p:nvSpPr>
        <p:spPr>
          <a:xfrm>
            <a:off x="6711696" y="1709928"/>
            <a:ext cx="868680" cy="640080"/>
          </a:xfrm>
          <a:prstGeom prst="rect">
            <a:avLst/>
          </a:prstGeom>
          <a:noFill/>
          <a:ln/>
        </p:spPr>
        <p:txBody>
          <a:bodyPr wrap="square" lIns="0" tIns="0" rIns="0" bIns="0" rtlCol="0" anchor="ctr"/>
          <a:lstStyle/>
          <a:p>
            <a:pPr marL="0" indent="0">
              <a:buNone/>
            </a:pPr>
            <a:r>
              <a:rPr lang="en-US" sz="3000" b="1">
                <a:solidFill>
                  <a:srgbClr val="4E79A7"/>
                </a:solidFill>
                <a:latin typeface="Consolas" pitchFamily="34" charset="0"/>
                <a:ea typeface="Consolas" pitchFamily="34" charset="-122"/>
                <a:cs typeface="Consolas" pitchFamily="34" charset="-120"/>
              </a:rPr>
              <a:t>02</a:t>
            </a:r>
            <a:endParaRPr lang="en-US" sz="3000" dirty="0"/>
          </a:p>
        </p:txBody>
      </p:sp>
      <p:sp>
        <p:nvSpPr>
          <p:cNvPr id="11" name="Text 9"/>
          <p:cNvSpPr/>
          <p:nvPr/>
        </p:nvSpPr>
        <p:spPr>
          <a:xfrm>
            <a:off x="7626096" y="1728216"/>
            <a:ext cx="4069080" cy="777240"/>
          </a:xfrm>
          <a:prstGeom prst="rect">
            <a:avLst/>
          </a:prstGeom>
          <a:noFill/>
          <a:ln/>
        </p:spPr>
        <p:txBody>
          <a:bodyPr wrap="square" lIns="0" tIns="0" rIns="0" bIns="0" rtlCol="0" anchor="ctr"/>
          <a:lstStyle/>
          <a:p>
            <a:pPr marL="0" indent="0">
              <a:lnSpc>
                <a:spcPct val="98000"/>
              </a:lnSpc>
              <a:buNone/>
            </a:pPr>
            <a:r>
              <a:rPr lang="en-US" sz="1500" b="1">
                <a:solidFill>
                  <a:srgbClr val="2B2A45"/>
                </a:solidFill>
                <a:latin typeface="Trebuchet MS" pitchFamily="34" charset="0"/>
                <a:ea typeface="Trebuchet MS" pitchFamily="34" charset="-122"/>
                <a:cs typeface="Trebuchet MS" pitchFamily="34" charset="-120"/>
              </a:rPr>
              <a:t>Payment rate is remarkably stable</a:t>
            </a:r>
            <a:endParaRPr lang="en-US" sz="1500" dirty="0"/>
          </a:p>
        </p:txBody>
      </p:sp>
      <p:sp>
        <p:nvSpPr>
          <p:cNvPr id="12" name="Text 10"/>
          <p:cNvSpPr/>
          <p:nvPr/>
        </p:nvSpPr>
        <p:spPr>
          <a:xfrm>
            <a:off x="6729984" y="2532888"/>
            <a:ext cx="4937760" cy="1024128"/>
          </a:xfrm>
          <a:prstGeom prst="rect">
            <a:avLst/>
          </a:prstGeom>
          <a:noFill/>
          <a:ln/>
        </p:spPr>
        <p:txBody>
          <a:bodyPr wrap="square" lIns="0" tIns="0" rIns="0" bIns="0" rtlCol="0" anchor="t"/>
          <a:lstStyle/>
          <a:p>
            <a:pPr marL="0" indent="0">
              <a:lnSpc>
                <a:spcPct val="104000"/>
              </a:lnSpc>
              <a:buNone/>
            </a:pPr>
            <a:r>
              <a:rPr lang="en-US" sz="1250">
                <a:solidFill>
                  <a:srgbClr val="7C7E96"/>
                </a:solidFill>
                <a:latin typeface="Calibri" pitchFamily="34" charset="0"/>
                <a:ea typeface="Calibri" pitchFamily="34" charset="-122"/>
                <a:cs typeface="Calibri" pitchFamily="34" charset="-120"/>
              </a:rPr>
              <a:t>Medicare pays ~77% of allowed charges every year, dipping only slightly to 76.8% in 2024 on service-mix shifts.</a:t>
            </a:r>
            <a:endParaRPr lang="en-US" sz="1250" dirty="0"/>
          </a:p>
        </p:txBody>
      </p:sp>
      <p:sp>
        <p:nvSpPr>
          <p:cNvPr id="13" name="finding card">
            <a:extLst>
              <a:ext uri="{C183D7F6-B498-43B3-948B-1728B52AA6E4}">
                <adec:decorative xmlns:adec="http://schemas.microsoft.com/office/drawing/2017/decorative" val="1"/>
              </a:ext>
            </a:extLst>
          </p:cNvPr>
          <p:cNvSpPr/>
          <p:nvPr/>
        </p:nvSpPr>
        <p:spPr>
          <a:xfrm>
            <a:off x="640080" y="3995928"/>
            <a:ext cx="5486400" cy="2212848"/>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14" name="Text 12"/>
          <p:cNvSpPr/>
          <p:nvPr/>
        </p:nvSpPr>
        <p:spPr>
          <a:xfrm>
            <a:off x="896112" y="4197096"/>
            <a:ext cx="868680" cy="640080"/>
          </a:xfrm>
          <a:prstGeom prst="rect">
            <a:avLst/>
          </a:prstGeom>
          <a:noFill/>
          <a:ln/>
        </p:spPr>
        <p:txBody>
          <a:bodyPr wrap="square" lIns="0" tIns="0" rIns="0" bIns="0" rtlCol="0" anchor="ctr"/>
          <a:lstStyle/>
          <a:p>
            <a:pPr marL="0" indent="0">
              <a:buNone/>
            </a:pPr>
            <a:r>
              <a:rPr lang="en-US" sz="3000" b="1">
                <a:solidFill>
                  <a:srgbClr val="4E79A7"/>
                </a:solidFill>
                <a:latin typeface="Consolas" pitchFamily="34" charset="0"/>
                <a:ea typeface="Consolas" pitchFamily="34" charset="-122"/>
                <a:cs typeface="Consolas" pitchFamily="34" charset="-120"/>
              </a:rPr>
              <a:t>03</a:t>
            </a:r>
            <a:endParaRPr lang="en-US" sz="3000" dirty="0"/>
          </a:p>
        </p:txBody>
      </p:sp>
      <p:sp>
        <p:nvSpPr>
          <p:cNvPr id="15" name="Text 13"/>
          <p:cNvSpPr/>
          <p:nvPr/>
        </p:nvSpPr>
        <p:spPr>
          <a:xfrm>
            <a:off x="1810512" y="4215384"/>
            <a:ext cx="4069080" cy="777240"/>
          </a:xfrm>
          <a:prstGeom prst="rect">
            <a:avLst/>
          </a:prstGeom>
          <a:noFill/>
          <a:ln/>
        </p:spPr>
        <p:txBody>
          <a:bodyPr wrap="square" lIns="0" tIns="0" rIns="0" bIns="0" rtlCol="0" anchor="ctr"/>
          <a:lstStyle/>
          <a:p>
            <a:pPr marL="0" indent="0">
              <a:lnSpc>
                <a:spcPct val="98000"/>
              </a:lnSpc>
              <a:buNone/>
            </a:pPr>
            <a:r>
              <a:rPr lang="en-US" sz="1500" b="1">
                <a:solidFill>
                  <a:srgbClr val="2B2A45"/>
                </a:solidFill>
                <a:latin typeface="Trebuchet MS" pitchFamily="34" charset="0"/>
                <a:ea typeface="Trebuchet MS" pitchFamily="34" charset="-122"/>
                <a:cs typeface="Trebuchet MS" pitchFamily="34" charset="-120"/>
              </a:rPr>
              <a:t>Volume and cost moved in opposite directions</a:t>
            </a:r>
            <a:endParaRPr lang="en-US" sz="1500" dirty="0"/>
          </a:p>
        </p:txBody>
      </p:sp>
      <p:sp>
        <p:nvSpPr>
          <p:cNvPr id="16" name="Text 14">
            <a:extLst>
              <a:ext uri="{C183D7F6-B498-43B3-948B-1728B52AA6E4}">
                <adec:decorative xmlns:adec="http://schemas.microsoft.com/office/drawing/2017/decorative" val="1"/>
              </a:ext>
            </a:extLst>
          </p:cNvPr>
          <p:cNvSpPr/>
          <p:nvPr/>
        </p:nvSpPr>
        <p:spPr>
          <a:xfrm>
            <a:off x="914400" y="5020056"/>
            <a:ext cx="4937760" cy="1024128"/>
          </a:xfrm>
          <a:prstGeom prst="rect">
            <a:avLst/>
          </a:prstGeom>
          <a:noFill/>
          <a:ln/>
        </p:spPr>
        <p:txBody>
          <a:bodyPr wrap="square" lIns="0" tIns="0" rIns="0" bIns="0" rtlCol="0" anchor="t"/>
          <a:lstStyle/>
          <a:p>
            <a:pPr marL="0" indent="0">
              <a:lnSpc>
                <a:spcPct val="104000"/>
              </a:lnSpc>
              <a:buNone/>
            </a:pPr>
            <a:r>
              <a:rPr lang="en-US" sz="1250">
                <a:solidFill>
                  <a:srgbClr val="7C7E96"/>
                </a:solidFill>
                <a:latin typeface="Calibri" pitchFamily="34" charset="0"/>
                <a:ea typeface="Calibri" pitchFamily="34" charset="-122"/>
                <a:cs typeface="Calibri" pitchFamily="34" charset="-120"/>
              </a:rPr>
              <a:t>Service volume peaked in 2023 then eased, while payment per service dipped and rebounded to $22.08 — 2024 growth was price-led.</a:t>
            </a:r>
            <a:endParaRPr lang="en-US" sz="1250" dirty="0"/>
          </a:p>
        </p:txBody>
      </p:sp>
      <p:sp>
        <p:nvSpPr>
          <p:cNvPr id="17" name="finding card">
            <a:extLst>
              <a:ext uri="{C183D7F6-B498-43B3-948B-1728B52AA6E4}">
                <adec:decorative xmlns:adec="http://schemas.microsoft.com/office/drawing/2017/decorative" val="1"/>
              </a:ext>
            </a:extLst>
          </p:cNvPr>
          <p:cNvSpPr/>
          <p:nvPr/>
        </p:nvSpPr>
        <p:spPr>
          <a:xfrm>
            <a:off x="6455664" y="3995928"/>
            <a:ext cx="5486400" cy="2212848"/>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18" name="Text 16"/>
          <p:cNvSpPr/>
          <p:nvPr/>
        </p:nvSpPr>
        <p:spPr>
          <a:xfrm>
            <a:off x="6711696" y="4197096"/>
            <a:ext cx="868680" cy="640080"/>
          </a:xfrm>
          <a:prstGeom prst="rect">
            <a:avLst/>
          </a:prstGeom>
          <a:noFill/>
          <a:ln/>
        </p:spPr>
        <p:txBody>
          <a:bodyPr wrap="square" lIns="0" tIns="0" rIns="0" bIns="0" rtlCol="0" anchor="ctr"/>
          <a:lstStyle/>
          <a:p>
            <a:pPr marL="0" indent="0">
              <a:buNone/>
            </a:pPr>
            <a:r>
              <a:rPr lang="en-US" sz="3000" b="1">
                <a:solidFill>
                  <a:srgbClr val="4E79A7"/>
                </a:solidFill>
                <a:latin typeface="Consolas" pitchFamily="34" charset="0"/>
                <a:ea typeface="Consolas" pitchFamily="34" charset="-122"/>
                <a:cs typeface="Consolas" pitchFamily="34" charset="-120"/>
              </a:rPr>
              <a:t>04</a:t>
            </a:r>
            <a:endParaRPr lang="en-US" sz="3000" dirty="0"/>
          </a:p>
        </p:txBody>
      </p:sp>
      <p:sp>
        <p:nvSpPr>
          <p:cNvPr id="19" name="Text 17"/>
          <p:cNvSpPr/>
          <p:nvPr/>
        </p:nvSpPr>
        <p:spPr>
          <a:xfrm>
            <a:off x="7626096" y="4215384"/>
            <a:ext cx="4069080" cy="777240"/>
          </a:xfrm>
          <a:prstGeom prst="rect">
            <a:avLst/>
          </a:prstGeom>
          <a:noFill/>
          <a:ln/>
        </p:spPr>
        <p:txBody>
          <a:bodyPr wrap="square" lIns="0" tIns="0" rIns="0" bIns="0" rtlCol="0" anchor="ctr"/>
          <a:lstStyle/>
          <a:p>
            <a:pPr marL="0" indent="0">
              <a:lnSpc>
                <a:spcPct val="98000"/>
              </a:lnSpc>
              <a:buNone/>
            </a:pPr>
            <a:r>
              <a:rPr lang="en-US" sz="1500" b="1">
                <a:solidFill>
                  <a:srgbClr val="2B2A45"/>
                </a:solidFill>
                <a:latin typeface="Trebuchet MS" pitchFamily="34" charset="0"/>
                <a:ea typeface="Trebuchet MS" pitchFamily="34" charset="-122"/>
                <a:cs typeface="Trebuchet MS" pitchFamily="34" charset="-120"/>
              </a:rPr>
              <a:t>Spend is concentrated and bimodal</a:t>
            </a:r>
            <a:endParaRPr lang="en-US" sz="1500" dirty="0"/>
          </a:p>
        </p:txBody>
      </p:sp>
      <p:sp>
        <p:nvSpPr>
          <p:cNvPr id="20" name="Text 18"/>
          <p:cNvSpPr/>
          <p:nvPr/>
        </p:nvSpPr>
        <p:spPr>
          <a:xfrm>
            <a:off x="6729984" y="5020056"/>
            <a:ext cx="4937760" cy="1024128"/>
          </a:xfrm>
          <a:prstGeom prst="rect">
            <a:avLst/>
          </a:prstGeom>
          <a:noFill/>
          <a:ln/>
        </p:spPr>
        <p:txBody>
          <a:bodyPr wrap="square" lIns="0" tIns="0" rIns="0" bIns="0" rtlCol="0" anchor="t"/>
          <a:lstStyle/>
          <a:p>
            <a:pPr marL="0" indent="0">
              <a:lnSpc>
                <a:spcPct val="104000"/>
              </a:lnSpc>
              <a:buNone/>
            </a:pPr>
            <a:r>
              <a:rPr lang="en-US" sz="1250">
                <a:solidFill>
                  <a:srgbClr val="7C7E96"/>
                </a:solidFill>
                <a:latin typeface="Calibri" pitchFamily="34" charset="0"/>
                <a:ea typeface="Calibri" pitchFamily="34" charset="-122"/>
                <a:cs typeface="Calibri" pitchFamily="34" charset="-120"/>
              </a:rPr>
              <a:t>A handful of specialties dominate high-volume commodity fields and drug-heavy practices on one side, high-intensity surgery on the other — a 160× spread in unit cost.</a:t>
            </a:r>
            <a:endParaRPr lang="en-US" sz="1250" dirty="0"/>
          </a:p>
        </p:txBody>
      </p:sp>
      <p:sp>
        <p:nvSpPr>
          <p:cNvPr id="21" name="Text 19"/>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a:solidFill>
                  <a:srgbClr val="7C7E96"/>
                </a:solidFill>
                <a:latin typeface="Trebuchet MS" pitchFamily="34" charset="0"/>
                <a:ea typeface="Trebuchet MS" pitchFamily="34" charset="-122"/>
                <a:cs typeface="Trebuchet MS" pitchFamily="34" charset="-120"/>
              </a:rPr>
              <a:t>CMS MEDICARE PART B  ·  CY 2022–2024</a:t>
            </a:r>
            <a:endParaRPr lang="en-US" sz="900" dirty="0"/>
          </a:p>
        </p:txBody>
      </p:sp>
      <p:sp>
        <p:nvSpPr>
          <p:cNvPr id="22" name="Text 20"/>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a:solidFill>
                  <a:srgbClr val="4E79A7"/>
                </a:solidFill>
                <a:latin typeface="Consolas" pitchFamily="34" charset="0"/>
                <a:ea typeface="Consolas" pitchFamily="34" charset="-122"/>
                <a:cs typeface="Consolas"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40080" y="406908"/>
            <a:ext cx="201168" cy="128016"/>
          </a:xfrm>
          <a:prstGeom prst="rect">
            <a:avLst/>
          </a:prstGeom>
          <a:solidFill>
            <a:srgbClr val="6BA5D7"/>
          </a:solidFill>
          <a:ln/>
        </p:spPr>
        <p:txBody>
          <a:bodyPr/>
          <a:lstStyle/>
          <a:p>
            <a:endParaRPr lang="en-US"/>
          </a:p>
        </p:txBody>
      </p:sp>
      <p:sp>
        <p:nvSpPr>
          <p:cNvPr id="3" name="Text 1"/>
          <p:cNvSpPr/>
          <p:nvPr/>
        </p:nvSpPr>
        <p:spPr>
          <a:xfrm>
            <a:off x="932688" y="310896"/>
            <a:ext cx="8229600" cy="310896"/>
          </a:xfrm>
          <a:prstGeom prst="rect">
            <a:avLst/>
          </a:prstGeom>
          <a:noFill/>
          <a:ln/>
        </p:spPr>
        <p:txBody>
          <a:bodyPr wrap="square" lIns="0" tIns="0" rIns="0" bIns="0" rtlCol="0" anchor="ctr"/>
          <a:lstStyle/>
          <a:p>
            <a:pPr marL="0" indent="0" algn="l">
              <a:buNone/>
            </a:pPr>
            <a:r>
              <a:rPr lang="en-US" sz="1250" b="1" kern="0" spc="300">
                <a:solidFill>
                  <a:srgbClr val="6BA5D7"/>
                </a:solidFill>
                <a:latin typeface="Trebuchet MS" pitchFamily="34" charset="0"/>
                <a:ea typeface="Trebuchet MS" pitchFamily="34" charset="-122"/>
                <a:cs typeface="Trebuchet MS" pitchFamily="34" charset="-120"/>
              </a:rPr>
              <a:t>RECOMMENDATIONS</a:t>
            </a:r>
            <a:endParaRPr lang="en-US" sz="1250" dirty="0"/>
          </a:p>
        </p:txBody>
      </p:sp>
      <p:sp>
        <p:nvSpPr>
          <p:cNvPr id="4" name="Text 0"/>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3000" b="1" dirty="0">
                <a:solidFill>
                  <a:srgbClr val="FFFFFF"/>
                </a:solidFill>
                <a:latin typeface="Trebuchet MS" pitchFamily="34" charset="0"/>
                <a:ea typeface="Trebuchet MS" pitchFamily="34" charset="-122"/>
                <a:cs typeface="Trebuchet MS" pitchFamily="34" charset="-120"/>
              </a:rPr>
              <a:t>Where to Focus Next</a:t>
            </a:r>
            <a:endParaRPr lang="en-US" sz="3000" dirty="0"/>
          </a:p>
        </p:txBody>
      </p:sp>
      <p:sp>
        <p:nvSpPr>
          <p:cNvPr id="5" name="rec card">
            <a:extLst>
              <a:ext uri="{C183D7F6-B498-43B3-948B-1728B52AA6E4}">
                <adec:decorative xmlns:adec="http://schemas.microsoft.com/office/drawing/2017/decorative" val="1"/>
              </a:ext>
            </a:extLst>
          </p:cNvPr>
          <p:cNvSpPr/>
          <p:nvPr/>
        </p:nvSpPr>
        <p:spPr>
          <a:xfrm>
            <a:off x="640080" y="1554480"/>
            <a:ext cx="5486400" cy="2194560"/>
          </a:xfrm>
          <a:prstGeom prst="rect">
            <a:avLst/>
          </a:prstGeom>
          <a:solidFill>
            <a:srgbClr val="43426A"/>
          </a:solidFill>
          <a:ln w="12700">
            <a:solidFill>
              <a:srgbClr val="5A5880"/>
            </a:solidFill>
            <a:prstDash val="solid"/>
          </a:ln>
        </p:spPr>
        <p:txBody>
          <a:bodyPr/>
          <a:lstStyle/>
          <a:p>
            <a:endParaRPr lang="en-US"/>
          </a:p>
        </p:txBody>
      </p:sp>
      <p:sp>
        <p:nvSpPr>
          <p:cNvPr id="6" name="rec accent">
            <a:extLst>
              <a:ext uri="{C183D7F6-B498-43B3-948B-1728B52AA6E4}">
                <adec:decorative xmlns:adec="http://schemas.microsoft.com/office/drawing/2017/decorative" val="1"/>
              </a:ext>
            </a:extLst>
          </p:cNvPr>
          <p:cNvSpPr/>
          <p:nvPr/>
        </p:nvSpPr>
        <p:spPr>
          <a:xfrm>
            <a:off x="640080" y="1554480"/>
            <a:ext cx="82296" cy="2194560"/>
          </a:xfrm>
          <a:prstGeom prst="rect">
            <a:avLst/>
          </a:prstGeom>
          <a:solidFill>
            <a:srgbClr val="6BA5D7"/>
          </a:solidFill>
          <a:ln/>
        </p:spPr>
        <p:txBody>
          <a:bodyPr/>
          <a:lstStyle/>
          <a:p>
            <a:endParaRPr lang="en-US"/>
          </a:p>
        </p:txBody>
      </p:sp>
      <p:sp>
        <p:nvSpPr>
          <p:cNvPr id="7" name="Text 5"/>
          <p:cNvSpPr/>
          <p:nvPr/>
        </p:nvSpPr>
        <p:spPr>
          <a:xfrm>
            <a:off x="896112" y="1773936"/>
            <a:ext cx="914400" cy="548640"/>
          </a:xfrm>
          <a:prstGeom prst="rect">
            <a:avLst/>
          </a:prstGeom>
          <a:noFill/>
          <a:ln/>
        </p:spPr>
        <p:txBody>
          <a:bodyPr wrap="square" lIns="0" tIns="0" rIns="0" bIns="0" rtlCol="0" anchor="ctr"/>
          <a:lstStyle/>
          <a:p>
            <a:pPr marL="0" indent="0">
              <a:buNone/>
            </a:pPr>
            <a:r>
              <a:rPr lang="en-US" sz="2600" b="1">
                <a:solidFill>
                  <a:srgbClr val="6BA5D7"/>
                </a:solidFill>
                <a:latin typeface="Consolas" pitchFamily="34" charset="0"/>
                <a:ea typeface="Consolas" pitchFamily="34" charset="-122"/>
                <a:cs typeface="Consolas" pitchFamily="34" charset="-120"/>
              </a:rPr>
              <a:t>01</a:t>
            </a:r>
            <a:endParaRPr lang="en-US" sz="2600" dirty="0"/>
          </a:p>
        </p:txBody>
      </p:sp>
      <p:sp>
        <p:nvSpPr>
          <p:cNvPr id="8" name="Text 6"/>
          <p:cNvSpPr/>
          <p:nvPr/>
        </p:nvSpPr>
        <p:spPr>
          <a:xfrm>
            <a:off x="1737360" y="1755648"/>
            <a:ext cx="4160520" cy="603504"/>
          </a:xfrm>
          <a:prstGeom prst="rect">
            <a:avLst/>
          </a:prstGeom>
          <a:noFill/>
          <a:ln/>
        </p:spPr>
        <p:txBody>
          <a:bodyPr wrap="square" lIns="0" tIns="0" rIns="0" bIns="0" rtlCol="0" anchor="ctr"/>
          <a:lstStyle/>
          <a:p>
            <a:pPr marL="0" indent="0">
              <a:lnSpc>
                <a:spcPct val="98000"/>
              </a:lnSpc>
              <a:buNone/>
            </a:pPr>
            <a:r>
              <a:rPr lang="en-US" sz="1500" b="1" dirty="0">
                <a:solidFill>
                  <a:srgbClr val="FFFFFF"/>
                </a:solidFill>
                <a:latin typeface="Trebuchet MS" pitchFamily="34" charset="0"/>
                <a:ea typeface="Trebuchet MS" pitchFamily="34" charset="-122"/>
                <a:cs typeface="Trebuchet MS" pitchFamily="34" charset="-120"/>
              </a:rPr>
              <a:t>Target the balanced high-spend core</a:t>
            </a:r>
            <a:endParaRPr lang="en-US" sz="1500" dirty="0"/>
          </a:p>
        </p:txBody>
      </p:sp>
      <p:sp>
        <p:nvSpPr>
          <p:cNvPr id="9" name="Text 7"/>
          <p:cNvSpPr/>
          <p:nvPr/>
        </p:nvSpPr>
        <p:spPr>
          <a:xfrm>
            <a:off x="914400" y="2450592"/>
            <a:ext cx="4937760" cy="1143000"/>
          </a:xfrm>
          <a:prstGeom prst="rect">
            <a:avLst/>
          </a:prstGeom>
          <a:noFill/>
          <a:ln/>
        </p:spPr>
        <p:txBody>
          <a:bodyPr wrap="square" lIns="0" tIns="0" rIns="0" bIns="0" rtlCol="0" anchor="t"/>
          <a:lstStyle/>
          <a:p>
            <a:pPr marL="0" indent="0">
              <a:lnSpc>
                <a:spcPct val="104000"/>
              </a:lnSpc>
              <a:buNone/>
            </a:pPr>
            <a:r>
              <a:rPr lang="en-US" sz="1250">
                <a:solidFill>
                  <a:srgbClr val="CBD9E9"/>
                </a:solidFill>
                <a:latin typeface="Calibri" pitchFamily="34" charset="0"/>
                <a:ea typeface="Calibri" pitchFamily="34" charset="-122"/>
                <a:cs typeface="Calibri" pitchFamily="34" charset="-120"/>
              </a:rPr>
              <a:t>Primary care, ophthalmology and NP practices move the budget most. Small efficiency gains here dwarf big changes elsewhere.</a:t>
            </a:r>
            <a:endParaRPr lang="en-US" sz="1250" dirty="0"/>
          </a:p>
        </p:txBody>
      </p:sp>
      <p:sp>
        <p:nvSpPr>
          <p:cNvPr id="10" name="rec card">
            <a:extLst>
              <a:ext uri="{C183D7F6-B498-43B3-948B-1728B52AA6E4}">
                <adec:decorative xmlns:adec="http://schemas.microsoft.com/office/drawing/2017/decorative" val="1"/>
              </a:ext>
            </a:extLst>
          </p:cNvPr>
          <p:cNvSpPr/>
          <p:nvPr/>
        </p:nvSpPr>
        <p:spPr>
          <a:xfrm>
            <a:off x="6455664" y="1554480"/>
            <a:ext cx="5486400" cy="2194560"/>
          </a:xfrm>
          <a:prstGeom prst="rect">
            <a:avLst/>
          </a:prstGeom>
          <a:solidFill>
            <a:srgbClr val="43426A"/>
          </a:solidFill>
          <a:ln w="12700">
            <a:solidFill>
              <a:srgbClr val="5A5880"/>
            </a:solidFill>
            <a:prstDash val="solid"/>
          </a:ln>
        </p:spPr>
        <p:txBody>
          <a:bodyPr/>
          <a:lstStyle/>
          <a:p>
            <a:endParaRPr lang="en-US"/>
          </a:p>
        </p:txBody>
      </p:sp>
      <p:sp>
        <p:nvSpPr>
          <p:cNvPr id="11" name="rec accent">
            <a:extLst>
              <a:ext uri="{C183D7F6-B498-43B3-948B-1728B52AA6E4}">
                <adec:decorative xmlns:adec="http://schemas.microsoft.com/office/drawing/2017/decorative" val="1"/>
              </a:ext>
            </a:extLst>
          </p:cNvPr>
          <p:cNvSpPr/>
          <p:nvPr/>
        </p:nvSpPr>
        <p:spPr>
          <a:xfrm>
            <a:off x="6455664" y="1554480"/>
            <a:ext cx="82296" cy="2194560"/>
          </a:xfrm>
          <a:prstGeom prst="rect">
            <a:avLst/>
          </a:prstGeom>
          <a:solidFill>
            <a:srgbClr val="6BA5D7"/>
          </a:solidFill>
          <a:ln/>
        </p:spPr>
        <p:txBody>
          <a:bodyPr/>
          <a:lstStyle/>
          <a:p>
            <a:endParaRPr lang="en-US"/>
          </a:p>
        </p:txBody>
      </p:sp>
      <p:sp>
        <p:nvSpPr>
          <p:cNvPr id="12" name="Text 10"/>
          <p:cNvSpPr/>
          <p:nvPr/>
        </p:nvSpPr>
        <p:spPr>
          <a:xfrm>
            <a:off x="6711696" y="1773936"/>
            <a:ext cx="914400" cy="548640"/>
          </a:xfrm>
          <a:prstGeom prst="rect">
            <a:avLst/>
          </a:prstGeom>
          <a:noFill/>
          <a:ln/>
        </p:spPr>
        <p:txBody>
          <a:bodyPr wrap="square" lIns="0" tIns="0" rIns="0" bIns="0" rtlCol="0" anchor="ctr"/>
          <a:lstStyle/>
          <a:p>
            <a:pPr marL="0" indent="0">
              <a:buNone/>
            </a:pPr>
            <a:r>
              <a:rPr lang="en-US" sz="2600" b="1">
                <a:solidFill>
                  <a:srgbClr val="6BA5D7"/>
                </a:solidFill>
                <a:latin typeface="Consolas" pitchFamily="34" charset="0"/>
                <a:ea typeface="Consolas" pitchFamily="34" charset="-122"/>
                <a:cs typeface="Consolas" pitchFamily="34" charset="-120"/>
              </a:rPr>
              <a:t>02</a:t>
            </a:r>
            <a:endParaRPr lang="en-US" sz="2600" dirty="0"/>
          </a:p>
        </p:txBody>
      </p:sp>
      <p:sp>
        <p:nvSpPr>
          <p:cNvPr id="13" name="Text 11"/>
          <p:cNvSpPr/>
          <p:nvPr/>
        </p:nvSpPr>
        <p:spPr>
          <a:xfrm>
            <a:off x="7552944" y="1755648"/>
            <a:ext cx="4160520" cy="603504"/>
          </a:xfrm>
          <a:prstGeom prst="rect">
            <a:avLst/>
          </a:prstGeom>
          <a:noFill/>
          <a:ln/>
        </p:spPr>
        <p:txBody>
          <a:bodyPr wrap="square" lIns="0" tIns="0" rIns="0" bIns="0" rtlCol="0" anchor="ctr"/>
          <a:lstStyle/>
          <a:p>
            <a:pPr marL="0" indent="0">
              <a:lnSpc>
                <a:spcPct val="98000"/>
              </a:lnSpc>
              <a:buNone/>
            </a:pPr>
            <a:r>
              <a:rPr lang="en-US" sz="1500" b="1" dirty="0">
                <a:solidFill>
                  <a:srgbClr val="FFFFFF"/>
                </a:solidFill>
                <a:latin typeface="Trebuchet MS" pitchFamily="34" charset="0"/>
                <a:ea typeface="Trebuchet MS" pitchFamily="34" charset="-122"/>
                <a:cs typeface="Trebuchet MS" pitchFamily="34" charset="-120"/>
              </a:rPr>
              <a:t>Watch drug-driven charge growth</a:t>
            </a:r>
            <a:endParaRPr lang="en-US" sz="1500" dirty="0"/>
          </a:p>
        </p:txBody>
      </p:sp>
      <p:sp>
        <p:nvSpPr>
          <p:cNvPr id="14" name="Text 12"/>
          <p:cNvSpPr/>
          <p:nvPr/>
        </p:nvSpPr>
        <p:spPr>
          <a:xfrm>
            <a:off x="6729984" y="2450592"/>
            <a:ext cx="4937760" cy="1143000"/>
          </a:xfrm>
          <a:prstGeom prst="rect">
            <a:avLst/>
          </a:prstGeom>
          <a:noFill/>
          <a:ln/>
        </p:spPr>
        <p:txBody>
          <a:bodyPr wrap="square" lIns="0" tIns="0" rIns="0" bIns="0" rtlCol="0" anchor="t"/>
          <a:lstStyle/>
          <a:p>
            <a:pPr marL="0" indent="0">
              <a:lnSpc>
                <a:spcPct val="104000"/>
              </a:lnSpc>
              <a:buNone/>
            </a:pPr>
            <a:r>
              <a:rPr lang="en-US" sz="1250">
                <a:solidFill>
                  <a:srgbClr val="CBD9E9"/>
                </a:solidFill>
                <a:latin typeface="Calibri" pitchFamily="34" charset="0"/>
                <a:ea typeface="Calibri" pitchFamily="34" charset="-122"/>
                <a:cs typeface="Calibri" pitchFamily="34" charset="-120"/>
              </a:rPr>
              <a:t>Oncology and ophthalmology charges track drug costs. Monitor injectable and biologic pricing as a leading indicator of spend.</a:t>
            </a:r>
            <a:endParaRPr lang="en-US" sz="1250" dirty="0"/>
          </a:p>
        </p:txBody>
      </p:sp>
      <p:sp>
        <p:nvSpPr>
          <p:cNvPr id="15" name="rec card">
            <a:extLst>
              <a:ext uri="{C183D7F6-B498-43B3-948B-1728B52AA6E4}">
                <adec:decorative xmlns:adec="http://schemas.microsoft.com/office/drawing/2017/decorative" val="1"/>
              </a:ext>
            </a:extLst>
          </p:cNvPr>
          <p:cNvSpPr/>
          <p:nvPr/>
        </p:nvSpPr>
        <p:spPr>
          <a:xfrm>
            <a:off x="640080" y="4023360"/>
            <a:ext cx="5486400" cy="2194560"/>
          </a:xfrm>
          <a:prstGeom prst="rect">
            <a:avLst/>
          </a:prstGeom>
          <a:solidFill>
            <a:srgbClr val="43426A"/>
          </a:solidFill>
          <a:ln w="12700">
            <a:solidFill>
              <a:srgbClr val="5A5880"/>
            </a:solidFill>
            <a:prstDash val="solid"/>
          </a:ln>
        </p:spPr>
        <p:txBody>
          <a:bodyPr/>
          <a:lstStyle/>
          <a:p>
            <a:endParaRPr lang="en-US"/>
          </a:p>
        </p:txBody>
      </p:sp>
      <p:sp>
        <p:nvSpPr>
          <p:cNvPr id="16" name="rec accent">
            <a:extLst>
              <a:ext uri="{C183D7F6-B498-43B3-948B-1728B52AA6E4}">
                <adec:decorative xmlns:adec="http://schemas.microsoft.com/office/drawing/2017/decorative" val="1"/>
              </a:ext>
            </a:extLst>
          </p:cNvPr>
          <p:cNvSpPr/>
          <p:nvPr/>
        </p:nvSpPr>
        <p:spPr>
          <a:xfrm>
            <a:off x="640080" y="4023360"/>
            <a:ext cx="82296" cy="2194560"/>
          </a:xfrm>
          <a:prstGeom prst="rect">
            <a:avLst/>
          </a:prstGeom>
          <a:solidFill>
            <a:srgbClr val="6BA5D7"/>
          </a:solidFill>
          <a:ln/>
        </p:spPr>
        <p:txBody>
          <a:bodyPr/>
          <a:lstStyle/>
          <a:p>
            <a:endParaRPr lang="en-US"/>
          </a:p>
        </p:txBody>
      </p:sp>
      <p:sp>
        <p:nvSpPr>
          <p:cNvPr id="17" name="Text 15"/>
          <p:cNvSpPr/>
          <p:nvPr/>
        </p:nvSpPr>
        <p:spPr>
          <a:xfrm>
            <a:off x="896112" y="4242816"/>
            <a:ext cx="914400" cy="548640"/>
          </a:xfrm>
          <a:prstGeom prst="rect">
            <a:avLst/>
          </a:prstGeom>
          <a:noFill/>
          <a:ln/>
        </p:spPr>
        <p:txBody>
          <a:bodyPr wrap="square" lIns="0" tIns="0" rIns="0" bIns="0" rtlCol="0" anchor="ctr"/>
          <a:lstStyle/>
          <a:p>
            <a:pPr marL="0" indent="0">
              <a:buNone/>
            </a:pPr>
            <a:r>
              <a:rPr lang="en-US" sz="2600" b="1">
                <a:solidFill>
                  <a:srgbClr val="6BA5D7"/>
                </a:solidFill>
                <a:latin typeface="Consolas" pitchFamily="34" charset="0"/>
                <a:ea typeface="Consolas" pitchFamily="34" charset="-122"/>
                <a:cs typeface="Consolas" pitchFamily="34" charset="-120"/>
              </a:rPr>
              <a:t>03</a:t>
            </a:r>
            <a:endParaRPr lang="en-US" sz="2600" dirty="0"/>
          </a:p>
        </p:txBody>
      </p:sp>
      <p:sp>
        <p:nvSpPr>
          <p:cNvPr id="18" name="Text 16"/>
          <p:cNvSpPr/>
          <p:nvPr/>
        </p:nvSpPr>
        <p:spPr>
          <a:xfrm>
            <a:off x="1737360" y="4224528"/>
            <a:ext cx="4160520" cy="603504"/>
          </a:xfrm>
          <a:prstGeom prst="rect">
            <a:avLst/>
          </a:prstGeom>
          <a:noFill/>
          <a:ln/>
        </p:spPr>
        <p:txBody>
          <a:bodyPr wrap="square" lIns="0" tIns="0" rIns="0" bIns="0" rtlCol="0" anchor="ctr"/>
          <a:lstStyle/>
          <a:p>
            <a:pPr marL="0" indent="0">
              <a:lnSpc>
                <a:spcPct val="98000"/>
              </a:lnSpc>
              <a:buNone/>
            </a:pPr>
            <a:r>
              <a:rPr lang="en-US" sz="1500" b="1" dirty="0">
                <a:solidFill>
                  <a:srgbClr val="FFFFFF"/>
                </a:solidFill>
                <a:latin typeface="Trebuchet MS" pitchFamily="34" charset="0"/>
                <a:ea typeface="Trebuchet MS" pitchFamily="34" charset="-122"/>
                <a:cs typeface="Trebuchet MS" pitchFamily="34" charset="-120"/>
              </a:rPr>
              <a:t>Segment cost-management levers</a:t>
            </a:r>
            <a:endParaRPr lang="en-US" sz="1500" dirty="0"/>
          </a:p>
        </p:txBody>
      </p:sp>
      <p:sp>
        <p:nvSpPr>
          <p:cNvPr id="19" name="Text 17"/>
          <p:cNvSpPr/>
          <p:nvPr/>
        </p:nvSpPr>
        <p:spPr>
          <a:xfrm>
            <a:off x="914400" y="4919472"/>
            <a:ext cx="4937760" cy="1143000"/>
          </a:xfrm>
          <a:prstGeom prst="rect">
            <a:avLst/>
          </a:prstGeom>
          <a:noFill/>
          <a:ln/>
        </p:spPr>
        <p:txBody>
          <a:bodyPr wrap="square" lIns="0" tIns="0" rIns="0" bIns="0" rtlCol="0" anchor="t"/>
          <a:lstStyle/>
          <a:p>
            <a:pPr marL="0" indent="0">
              <a:lnSpc>
                <a:spcPct val="104000"/>
              </a:lnSpc>
              <a:buNone/>
            </a:pPr>
            <a:r>
              <a:rPr lang="en-US" sz="1250">
                <a:solidFill>
                  <a:srgbClr val="CBD9E9"/>
                </a:solidFill>
                <a:latin typeface="Calibri" pitchFamily="34" charset="0"/>
                <a:ea typeface="Calibri" pitchFamily="34" charset="-122"/>
                <a:cs typeface="Calibri" pitchFamily="34" charset="-120"/>
              </a:rPr>
              <a:t>Apply pricing/volume controls to commodity fields and clinical-appropriateness review to high-intensity surgery — never one blanket policy.</a:t>
            </a:r>
            <a:endParaRPr lang="en-US" sz="1250" dirty="0"/>
          </a:p>
        </p:txBody>
      </p:sp>
      <p:sp>
        <p:nvSpPr>
          <p:cNvPr id="20" name="rec card">
            <a:extLst>
              <a:ext uri="{C183D7F6-B498-43B3-948B-1728B52AA6E4}">
                <adec:decorative xmlns:adec="http://schemas.microsoft.com/office/drawing/2017/decorative" val="1"/>
              </a:ext>
            </a:extLst>
          </p:cNvPr>
          <p:cNvSpPr/>
          <p:nvPr/>
        </p:nvSpPr>
        <p:spPr>
          <a:xfrm>
            <a:off x="6455664" y="4023360"/>
            <a:ext cx="5486400" cy="2194560"/>
          </a:xfrm>
          <a:prstGeom prst="rect">
            <a:avLst/>
          </a:prstGeom>
          <a:solidFill>
            <a:srgbClr val="43426A"/>
          </a:solidFill>
          <a:ln w="12700">
            <a:solidFill>
              <a:srgbClr val="5A5880"/>
            </a:solidFill>
            <a:prstDash val="solid"/>
          </a:ln>
        </p:spPr>
        <p:txBody>
          <a:bodyPr/>
          <a:lstStyle/>
          <a:p>
            <a:endParaRPr lang="en-US"/>
          </a:p>
        </p:txBody>
      </p:sp>
      <p:sp>
        <p:nvSpPr>
          <p:cNvPr id="21" name="rec accent">
            <a:extLst>
              <a:ext uri="{C183D7F6-B498-43B3-948B-1728B52AA6E4}">
                <adec:decorative xmlns:adec="http://schemas.microsoft.com/office/drawing/2017/decorative" val="1"/>
              </a:ext>
            </a:extLst>
          </p:cNvPr>
          <p:cNvSpPr/>
          <p:nvPr/>
        </p:nvSpPr>
        <p:spPr>
          <a:xfrm>
            <a:off x="6455664" y="4023360"/>
            <a:ext cx="82296" cy="2194560"/>
          </a:xfrm>
          <a:prstGeom prst="rect">
            <a:avLst/>
          </a:prstGeom>
          <a:solidFill>
            <a:srgbClr val="6BA5D7"/>
          </a:solidFill>
          <a:ln/>
        </p:spPr>
        <p:txBody>
          <a:bodyPr/>
          <a:lstStyle/>
          <a:p>
            <a:endParaRPr lang="en-US"/>
          </a:p>
        </p:txBody>
      </p:sp>
      <p:sp>
        <p:nvSpPr>
          <p:cNvPr id="22" name="Text 20"/>
          <p:cNvSpPr/>
          <p:nvPr/>
        </p:nvSpPr>
        <p:spPr>
          <a:xfrm>
            <a:off x="6711696" y="4242816"/>
            <a:ext cx="914400" cy="548640"/>
          </a:xfrm>
          <a:prstGeom prst="rect">
            <a:avLst/>
          </a:prstGeom>
          <a:noFill/>
          <a:ln/>
        </p:spPr>
        <p:txBody>
          <a:bodyPr wrap="square" lIns="0" tIns="0" rIns="0" bIns="0" rtlCol="0" anchor="ctr"/>
          <a:lstStyle/>
          <a:p>
            <a:pPr marL="0" indent="0">
              <a:buNone/>
            </a:pPr>
            <a:r>
              <a:rPr lang="en-US" sz="2600" b="1">
                <a:solidFill>
                  <a:srgbClr val="6BA5D7"/>
                </a:solidFill>
                <a:latin typeface="Consolas" pitchFamily="34" charset="0"/>
                <a:ea typeface="Consolas" pitchFamily="34" charset="-122"/>
                <a:cs typeface="Consolas" pitchFamily="34" charset="-120"/>
              </a:rPr>
              <a:t>04</a:t>
            </a:r>
            <a:endParaRPr lang="en-US" sz="2600" dirty="0"/>
          </a:p>
        </p:txBody>
      </p:sp>
      <p:sp>
        <p:nvSpPr>
          <p:cNvPr id="23" name="Text 21"/>
          <p:cNvSpPr/>
          <p:nvPr/>
        </p:nvSpPr>
        <p:spPr>
          <a:xfrm>
            <a:off x="7552944" y="4224528"/>
            <a:ext cx="4160520" cy="603504"/>
          </a:xfrm>
          <a:prstGeom prst="rect">
            <a:avLst/>
          </a:prstGeom>
          <a:noFill/>
          <a:ln/>
        </p:spPr>
        <p:txBody>
          <a:bodyPr wrap="square" lIns="0" tIns="0" rIns="0" bIns="0" rtlCol="0" anchor="ctr"/>
          <a:lstStyle/>
          <a:p>
            <a:pPr marL="0" indent="0">
              <a:lnSpc>
                <a:spcPct val="98000"/>
              </a:lnSpc>
              <a:buNone/>
            </a:pPr>
            <a:r>
              <a:rPr lang="en-US" sz="1500" b="1" dirty="0">
                <a:solidFill>
                  <a:srgbClr val="FFFFFF"/>
                </a:solidFill>
                <a:latin typeface="Trebuchet MS" pitchFamily="34" charset="0"/>
                <a:ea typeface="Trebuchet MS" pitchFamily="34" charset="-122"/>
                <a:cs typeface="Trebuchet MS" pitchFamily="34" charset="-120"/>
              </a:rPr>
              <a:t>Flag rising cost intensity</a:t>
            </a:r>
            <a:endParaRPr lang="en-US" sz="1500" dirty="0"/>
          </a:p>
        </p:txBody>
      </p:sp>
      <p:sp>
        <p:nvSpPr>
          <p:cNvPr id="24" name="Text 22"/>
          <p:cNvSpPr/>
          <p:nvPr/>
        </p:nvSpPr>
        <p:spPr>
          <a:xfrm>
            <a:off x="6729984" y="4919472"/>
            <a:ext cx="4937760" cy="1143000"/>
          </a:xfrm>
          <a:prstGeom prst="rect">
            <a:avLst/>
          </a:prstGeom>
          <a:noFill/>
          <a:ln/>
        </p:spPr>
        <p:txBody>
          <a:bodyPr wrap="square" lIns="0" tIns="0" rIns="0" bIns="0" rtlCol="0" anchor="t"/>
          <a:lstStyle/>
          <a:p>
            <a:pPr marL="0" indent="0">
              <a:lnSpc>
                <a:spcPct val="104000"/>
              </a:lnSpc>
              <a:buNone/>
            </a:pPr>
            <a:r>
              <a:rPr lang="en-US" sz="1250">
                <a:solidFill>
                  <a:srgbClr val="CBD9E9"/>
                </a:solidFill>
                <a:latin typeface="Calibri" pitchFamily="34" charset="0"/>
                <a:ea typeface="Calibri" pitchFamily="34" charset="-122"/>
                <a:cs typeface="Calibri" pitchFamily="34" charset="-120"/>
              </a:rPr>
              <a:t>Track payment-per-service by specialty year over year to catch intensity creep before it shows up in totals.</a:t>
            </a:r>
            <a:endParaRPr lang="en-US" sz="1250" dirty="0"/>
          </a:p>
        </p:txBody>
      </p:sp>
      <p:sp>
        <p:nvSpPr>
          <p:cNvPr id="25" name="Text 23"/>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a:solidFill>
                  <a:srgbClr val="A8B2C6"/>
                </a:solidFill>
                <a:latin typeface="Trebuchet MS" pitchFamily="34" charset="0"/>
                <a:ea typeface="Trebuchet MS" pitchFamily="34" charset="-122"/>
                <a:cs typeface="Trebuchet MS" pitchFamily="34" charset="-120"/>
              </a:rPr>
              <a:t>CMS MEDICARE PART B  ·  CY 2022–2024</a:t>
            </a:r>
            <a:endParaRPr lang="en-US" sz="900" dirty="0"/>
          </a:p>
        </p:txBody>
      </p:sp>
      <p:sp>
        <p:nvSpPr>
          <p:cNvPr id="26" name="Text 24"/>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a:solidFill>
                  <a:srgbClr val="6BA5D7"/>
                </a:solidFill>
                <a:latin typeface="Consolas" pitchFamily="34" charset="0"/>
                <a:ea typeface="Consolas" pitchFamily="34" charset="-122"/>
                <a:cs typeface="Consolas"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40080" y="406908"/>
            <a:ext cx="201168" cy="128016"/>
          </a:xfrm>
          <a:prstGeom prst="rect">
            <a:avLst/>
          </a:prstGeom>
          <a:solidFill>
            <a:srgbClr val="6BA5D7"/>
          </a:solidFill>
          <a:ln/>
        </p:spPr>
        <p:txBody>
          <a:bodyPr/>
          <a:lstStyle/>
          <a:p>
            <a:endParaRPr lang="en-US"/>
          </a:p>
        </p:txBody>
      </p:sp>
      <p:sp>
        <p:nvSpPr>
          <p:cNvPr id="3" name="Text 1"/>
          <p:cNvSpPr/>
          <p:nvPr/>
        </p:nvSpPr>
        <p:spPr>
          <a:xfrm>
            <a:off x="932688" y="310896"/>
            <a:ext cx="8229600" cy="310896"/>
          </a:xfrm>
          <a:prstGeom prst="rect">
            <a:avLst/>
          </a:prstGeom>
          <a:noFill/>
          <a:ln/>
        </p:spPr>
        <p:txBody>
          <a:bodyPr wrap="square" lIns="0" tIns="0" rIns="0" bIns="0" rtlCol="0" anchor="ctr"/>
          <a:lstStyle/>
          <a:p>
            <a:pPr marL="0" indent="0" algn="l">
              <a:buNone/>
            </a:pPr>
            <a:r>
              <a:rPr lang="en-US" sz="1250" b="1" kern="0" spc="300">
                <a:solidFill>
                  <a:srgbClr val="6BA5D7"/>
                </a:solidFill>
                <a:latin typeface="Trebuchet MS" pitchFamily="34" charset="0"/>
                <a:ea typeface="Trebuchet MS" pitchFamily="34" charset="-122"/>
                <a:cs typeface="Trebuchet MS" pitchFamily="34" charset="-120"/>
              </a:rPr>
              <a:t>BUSINESS IMPACT</a:t>
            </a:r>
            <a:endParaRPr lang="en-US" sz="1250"/>
          </a:p>
        </p:txBody>
      </p:sp>
      <p:sp>
        <p:nvSpPr>
          <p:cNvPr id="4" name="Text 0"/>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3000" b="1">
                <a:solidFill>
                  <a:srgbClr val="FFFFFF"/>
                </a:solidFill>
                <a:latin typeface="Trebuchet MS" pitchFamily="34" charset="0"/>
                <a:ea typeface="Trebuchet MS" pitchFamily="34" charset="-122"/>
                <a:cs typeface="Trebuchet MS" pitchFamily="34" charset="-120"/>
              </a:rPr>
              <a:t>From Insight to Action</a:t>
            </a:r>
            <a:endParaRPr lang="en-US" sz="3000"/>
          </a:p>
        </p:txBody>
      </p:sp>
      <p:sp>
        <p:nvSpPr>
          <p:cNvPr id="40" name="exec callout"/>
          <p:cNvSpPr/>
          <p:nvPr/>
        </p:nvSpPr>
        <p:spPr>
          <a:xfrm>
            <a:off x="640080" y="1276350"/>
            <a:ext cx="11302320" cy="242570"/>
          </a:xfrm>
          <a:prstGeom prst="rect">
            <a:avLst/>
          </a:prstGeom>
          <a:noFill/>
          <a:ln/>
        </p:spPr>
        <p:txBody>
          <a:bodyPr wrap="square" lIns="0" tIns="0" rIns="0" bIns="0" rtlCol="0" anchor="ctr"/>
          <a:lstStyle/>
          <a:p>
            <a:pPr marL="0" indent="0" algn="l">
              <a:buNone/>
            </a:pPr>
            <a:r>
              <a:rPr lang="en-US" sz="1100" i="1">
                <a:solidFill>
                  <a:srgbClr val="A8B2C6"/>
                </a:solidFill>
                <a:latin typeface="Calibri" pitchFamily="34" charset="0"/>
                <a:ea typeface="Calibri" pitchFamily="34" charset="-122"/>
                <a:cs typeface="Calibri" pitchFamily="34" charset="-120"/>
              </a:rPr>
              <a:t>Four moves put the levers behind the headline numbers — </a:t>
            </a:r>
            <a:r>
              <a:rPr lang="en-US" sz="1100" b="1" i="1">
                <a:solidFill>
                  <a:srgbClr val="6BA5D7"/>
                </a:solidFill>
                <a:latin typeface="Calibri" pitchFamily="34" charset="0"/>
                <a:ea typeface="Calibri" pitchFamily="34" charset="-122"/>
                <a:cs typeface="Calibri" pitchFamily="34" charset="-120"/>
              </a:rPr>
              <a:t>$131.7B payments  ·  ~6B services  ·  $22.08 / service  ·  76.8% paid</a:t>
            </a:r>
            <a:r>
              <a:rPr lang="en-US" sz="1100" i="1">
                <a:solidFill>
                  <a:srgbClr val="A8B2C6"/>
                </a:solidFill>
                <a:latin typeface="Calibri" pitchFamily="34" charset="0"/>
                <a:ea typeface="Calibri" pitchFamily="34" charset="-122"/>
                <a:cs typeface="Calibri" pitchFamily="34" charset="-120"/>
              </a:rPr>
              <a:t> — under active management.</a:t>
            </a:r>
            <a:endParaRPr lang="en-US" sz="1100" i="1"/>
          </a:p>
        </p:txBody>
      </p:sp>
      <p:sp>
        <p:nvSpPr>
          <p:cNvPr id="5" name="rec card">
            <a:extLst>
              <a:ext uri="{C183D7F6-B498-43B3-948B-1728B52AA6E4}">
                <adec:decorative xmlns:adec="http://schemas.microsoft.com/office/drawing/2017/decorative" val="1"/>
              </a:ext>
            </a:extLst>
          </p:cNvPr>
          <p:cNvSpPr/>
          <p:nvPr/>
        </p:nvSpPr>
        <p:spPr>
          <a:xfrm>
            <a:off x="640080" y="1554480"/>
            <a:ext cx="5486400" cy="2194560"/>
          </a:xfrm>
          <a:prstGeom prst="rect">
            <a:avLst/>
          </a:prstGeom>
          <a:solidFill>
            <a:srgbClr val="43426A"/>
          </a:solidFill>
          <a:ln w="12700">
            <a:solidFill>
              <a:srgbClr val="5A5880"/>
            </a:solidFill>
            <a:prstDash val="solid"/>
          </a:ln>
        </p:spPr>
        <p:txBody>
          <a:bodyPr/>
          <a:lstStyle/>
          <a:p>
            <a:endParaRPr lang="en-US"/>
          </a:p>
        </p:txBody>
      </p:sp>
      <p:sp>
        <p:nvSpPr>
          <p:cNvPr id="6" name="rec accent">
            <a:extLst>
              <a:ext uri="{C183D7F6-B498-43B3-948B-1728B52AA6E4}">
                <adec:decorative xmlns:adec="http://schemas.microsoft.com/office/drawing/2017/decorative" val="1"/>
              </a:ext>
            </a:extLst>
          </p:cNvPr>
          <p:cNvSpPr/>
          <p:nvPr/>
        </p:nvSpPr>
        <p:spPr>
          <a:xfrm>
            <a:off x="640080" y="1554480"/>
            <a:ext cx="82296" cy="2194560"/>
          </a:xfrm>
          <a:prstGeom prst="rect">
            <a:avLst/>
          </a:prstGeom>
          <a:solidFill>
            <a:srgbClr val="6BA5D7"/>
          </a:solidFill>
          <a:ln/>
        </p:spPr>
        <p:txBody>
          <a:bodyPr/>
          <a:lstStyle/>
          <a:p>
            <a:endParaRPr lang="en-US"/>
          </a:p>
        </p:txBody>
      </p:sp>
      <p:sp>
        <p:nvSpPr>
          <p:cNvPr id="7" name="Text 5"/>
          <p:cNvSpPr/>
          <p:nvPr/>
        </p:nvSpPr>
        <p:spPr>
          <a:xfrm>
            <a:off x="896112" y="1773936"/>
            <a:ext cx="914400" cy="548640"/>
          </a:xfrm>
          <a:prstGeom prst="rect">
            <a:avLst/>
          </a:prstGeom>
          <a:noFill/>
          <a:ln/>
        </p:spPr>
        <p:txBody>
          <a:bodyPr wrap="square" lIns="0" tIns="0" rIns="0" bIns="0" rtlCol="0" anchor="ctr"/>
          <a:lstStyle/>
          <a:p>
            <a:pPr marL="0" indent="0">
              <a:buNone/>
            </a:pPr>
            <a:r>
              <a:rPr lang="en-US" sz="2600" b="1">
                <a:solidFill>
                  <a:srgbClr val="6BA5D7"/>
                </a:solidFill>
                <a:latin typeface="Consolas" pitchFamily="34" charset="0"/>
                <a:ea typeface="Consolas" pitchFamily="34" charset="-122"/>
                <a:cs typeface="Consolas" pitchFamily="34" charset="-120"/>
              </a:rPr>
              <a:t>01</a:t>
            </a:r>
            <a:endParaRPr lang="en-US" sz="2600"/>
          </a:p>
        </p:txBody>
      </p:sp>
      <p:sp>
        <p:nvSpPr>
          <p:cNvPr id="8" name="Text 6"/>
          <p:cNvSpPr/>
          <p:nvPr/>
        </p:nvSpPr>
        <p:spPr>
          <a:xfrm>
            <a:off x="1737360" y="1755648"/>
            <a:ext cx="4160520" cy="603504"/>
          </a:xfrm>
          <a:prstGeom prst="rect">
            <a:avLst/>
          </a:prstGeom>
          <a:noFill/>
          <a:ln/>
        </p:spPr>
        <p:txBody>
          <a:bodyPr wrap="square" lIns="0" tIns="0" rIns="0" bIns="0" rtlCol="0" anchor="ctr"/>
          <a:lstStyle/>
          <a:p>
            <a:pPr marL="0" indent="0">
              <a:lnSpc>
                <a:spcPct val="98000"/>
              </a:lnSpc>
              <a:buNone/>
            </a:pPr>
            <a:r>
              <a:rPr lang="en-US" sz="1500" b="1">
                <a:solidFill>
                  <a:srgbClr val="FFFFFF"/>
                </a:solidFill>
                <a:latin typeface="Trebuchet MS" pitchFamily="34" charset="0"/>
                <a:ea typeface="Trebuchet MS" pitchFamily="34" charset="-122"/>
                <a:cs typeface="Trebuchet MS" pitchFamily="34" charset="-120"/>
              </a:rPr>
              <a:t>Monitor payment / service by specialty</a:t>
            </a:r>
            <a:endParaRPr lang="en-US" sz="1500"/>
          </a:p>
        </p:txBody>
      </p:sp>
      <p:sp>
        <p:nvSpPr>
          <p:cNvPr id="9" name="Text 7"/>
          <p:cNvSpPr/>
          <p:nvPr/>
        </p:nvSpPr>
        <p:spPr>
          <a:xfrm>
            <a:off x="914400" y="2450592"/>
            <a:ext cx="4937760" cy="1143000"/>
          </a:xfrm>
          <a:prstGeom prst="rect">
            <a:avLst/>
          </a:prstGeom>
          <a:noFill/>
          <a:ln/>
        </p:spPr>
        <p:txBody>
          <a:bodyPr wrap="square" lIns="0" tIns="0" rIns="0" bIns="0" rtlCol="0" anchor="t"/>
          <a:lstStyle/>
          <a:p>
            <a:pPr marL="0" indent="0">
              <a:lnSpc>
                <a:spcPct val="104000"/>
              </a:lnSpc>
              <a:buNone/>
            </a:pPr>
            <a:r>
              <a:rPr lang="en-US" sz="1250">
                <a:solidFill>
                  <a:srgbClr val="CBD9E9"/>
                </a:solidFill>
                <a:latin typeface="Calibri" pitchFamily="34" charset="0"/>
                <a:ea typeface="Calibri" pitchFamily="34" charset="-122"/>
                <a:cs typeface="Calibri" pitchFamily="34" charset="-120"/>
              </a:rPr>
              <a:t>Track payment-per-service for each specialty every period, so a rising unit cost is visible the moment it starts to climb.</a:t>
            </a:r>
            <a:endParaRPr lang="en-US" sz="1250"/>
          </a:p>
        </p:txBody>
      </p:sp>
      <p:sp>
        <p:nvSpPr>
          <p:cNvPr id="10" name="rec card">
            <a:extLst>
              <a:ext uri="{C183D7F6-B498-43B3-948B-1728B52AA6E4}">
                <adec:decorative xmlns:adec="http://schemas.microsoft.com/office/drawing/2017/decorative" val="1"/>
              </a:ext>
            </a:extLst>
          </p:cNvPr>
          <p:cNvSpPr/>
          <p:nvPr/>
        </p:nvSpPr>
        <p:spPr>
          <a:xfrm>
            <a:off x="6455664" y="1554480"/>
            <a:ext cx="5486400" cy="2194560"/>
          </a:xfrm>
          <a:prstGeom prst="rect">
            <a:avLst/>
          </a:prstGeom>
          <a:solidFill>
            <a:srgbClr val="43426A"/>
          </a:solidFill>
          <a:ln w="12700">
            <a:solidFill>
              <a:srgbClr val="5A5880"/>
            </a:solidFill>
            <a:prstDash val="solid"/>
          </a:ln>
        </p:spPr>
        <p:txBody>
          <a:bodyPr/>
          <a:lstStyle/>
          <a:p>
            <a:endParaRPr lang="en-US"/>
          </a:p>
        </p:txBody>
      </p:sp>
      <p:sp>
        <p:nvSpPr>
          <p:cNvPr id="11" name="rec accent">
            <a:extLst>
              <a:ext uri="{C183D7F6-B498-43B3-948B-1728B52AA6E4}">
                <adec:decorative xmlns:adec="http://schemas.microsoft.com/office/drawing/2017/decorative" val="1"/>
              </a:ext>
            </a:extLst>
          </p:cNvPr>
          <p:cNvSpPr/>
          <p:nvPr/>
        </p:nvSpPr>
        <p:spPr>
          <a:xfrm>
            <a:off x="6455664" y="1554480"/>
            <a:ext cx="82296" cy="2194560"/>
          </a:xfrm>
          <a:prstGeom prst="rect">
            <a:avLst/>
          </a:prstGeom>
          <a:solidFill>
            <a:srgbClr val="6BA5D7"/>
          </a:solidFill>
          <a:ln/>
        </p:spPr>
        <p:txBody>
          <a:bodyPr/>
          <a:lstStyle/>
          <a:p>
            <a:endParaRPr lang="en-US"/>
          </a:p>
        </p:txBody>
      </p:sp>
      <p:sp>
        <p:nvSpPr>
          <p:cNvPr id="12" name="Text 10"/>
          <p:cNvSpPr/>
          <p:nvPr/>
        </p:nvSpPr>
        <p:spPr>
          <a:xfrm>
            <a:off x="6711696" y="1773936"/>
            <a:ext cx="914400" cy="548640"/>
          </a:xfrm>
          <a:prstGeom prst="rect">
            <a:avLst/>
          </a:prstGeom>
          <a:noFill/>
          <a:ln/>
        </p:spPr>
        <p:txBody>
          <a:bodyPr wrap="square" lIns="0" tIns="0" rIns="0" bIns="0" rtlCol="0" anchor="ctr"/>
          <a:lstStyle/>
          <a:p>
            <a:pPr marL="0" indent="0">
              <a:buNone/>
            </a:pPr>
            <a:r>
              <a:rPr lang="en-US" sz="2600" b="1">
                <a:solidFill>
                  <a:srgbClr val="6BA5D7"/>
                </a:solidFill>
                <a:latin typeface="Consolas" pitchFamily="34" charset="0"/>
                <a:ea typeface="Consolas" pitchFamily="34" charset="-122"/>
                <a:cs typeface="Consolas" pitchFamily="34" charset="-120"/>
              </a:rPr>
              <a:t>02</a:t>
            </a:r>
            <a:endParaRPr lang="en-US" sz="2600"/>
          </a:p>
        </p:txBody>
      </p:sp>
      <p:sp>
        <p:nvSpPr>
          <p:cNvPr id="13" name="Text 11"/>
          <p:cNvSpPr/>
          <p:nvPr/>
        </p:nvSpPr>
        <p:spPr>
          <a:xfrm>
            <a:off x="7552944" y="1755648"/>
            <a:ext cx="4160520" cy="603504"/>
          </a:xfrm>
          <a:prstGeom prst="rect">
            <a:avLst/>
          </a:prstGeom>
          <a:noFill/>
          <a:ln/>
        </p:spPr>
        <p:txBody>
          <a:bodyPr wrap="square" lIns="0" tIns="0" rIns="0" bIns="0" rtlCol="0" anchor="ctr"/>
          <a:lstStyle/>
          <a:p>
            <a:pPr marL="0" indent="0">
              <a:lnSpc>
                <a:spcPct val="98000"/>
              </a:lnSpc>
              <a:buNone/>
            </a:pPr>
            <a:r>
              <a:rPr lang="en-US" sz="1500" b="1">
                <a:solidFill>
                  <a:srgbClr val="FFFFFF"/>
                </a:solidFill>
                <a:latin typeface="Trebuchet MS" pitchFamily="34" charset="0"/>
                <a:ea typeface="Trebuchet MS" pitchFamily="34" charset="-122"/>
                <a:cs typeface="Trebuchet MS" pitchFamily="34" charset="-120"/>
              </a:rPr>
              <a:t>Flag drug-driven spend growth</a:t>
            </a:r>
            <a:endParaRPr lang="en-US" sz="1500"/>
          </a:p>
        </p:txBody>
      </p:sp>
      <p:sp>
        <p:nvSpPr>
          <p:cNvPr id="14" name="Text 12"/>
          <p:cNvSpPr/>
          <p:nvPr/>
        </p:nvSpPr>
        <p:spPr>
          <a:xfrm>
            <a:off x="6729984" y="2450592"/>
            <a:ext cx="4937760" cy="1143000"/>
          </a:xfrm>
          <a:prstGeom prst="rect">
            <a:avLst/>
          </a:prstGeom>
          <a:noFill/>
          <a:ln/>
        </p:spPr>
        <p:txBody>
          <a:bodyPr wrap="square" lIns="0" tIns="0" rIns="0" bIns="0" rtlCol="0" anchor="t"/>
          <a:lstStyle/>
          <a:p>
            <a:pPr marL="0" indent="0">
              <a:lnSpc>
                <a:spcPct val="104000"/>
              </a:lnSpc>
              <a:buNone/>
            </a:pPr>
            <a:r>
              <a:rPr lang="en-US" sz="1250">
                <a:solidFill>
                  <a:srgbClr val="CBD9E9"/>
                </a:solidFill>
                <a:latin typeface="Calibri" pitchFamily="34" charset="0"/>
                <a:ea typeface="Calibri" pitchFamily="34" charset="-122"/>
                <a:cs typeface="Calibri" pitchFamily="34" charset="-120"/>
              </a:rPr>
              <a:t>Separate drug-linked charges in oncology and ophthalmology and review injectable and biologic pricing as the leading spend driver.</a:t>
            </a:r>
            <a:endParaRPr lang="en-US" sz="1250"/>
          </a:p>
        </p:txBody>
      </p:sp>
      <p:sp>
        <p:nvSpPr>
          <p:cNvPr id="15" name="rec card">
            <a:extLst>
              <a:ext uri="{C183D7F6-B498-43B3-948B-1728B52AA6E4}">
                <adec:decorative xmlns:adec="http://schemas.microsoft.com/office/drawing/2017/decorative" val="1"/>
              </a:ext>
            </a:extLst>
          </p:cNvPr>
          <p:cNvSpPr/>
          <p:nvPr/>
        </p:nvSpPr>
        <p:spPr>
          <a:xfrm>
            <a:off x="640080" y="4023360"/>
            <a:ext cx="5486400" cy="2194560"/>
          </a:xfrm>
          <a:prstGeom prst="rect">
            <a:avLst/>
          </a:prstGeom>
          <a:solidFill>
            <a:srgbClr val="43426A"/>
          </a:solidFill>
          <a:ln w="12700">
            <a:solidFill>
              <a:srgbClr val="5A5880"/>
            </a:solidFill>
            <a:prstDash val="solid"/>
          </a:ln>
        </p:spPr>
        <p:txBody>
          <a:bodyPr/>
          <a:lstStyle/>
          <a:p>
            <a:endParaRPr lang="en-US"/>
          </a:p>
        </p:txBody>
      </p:sp>
      <p:sp>
        <p:nvSpPr>
          <p:cNvPr id="16" name="rec accent">
            <a:extLst>
              <a:ext uri="{C183D7F6-B498-43B3-948B-1728B52AA6E4}">
                <adec:decorative xmlns:adec="http://schemas.microsoft.com/office/drawing/2017/decorative" val="1"/>
              </a:ext>
            </a:extLst>
          </p:cNvPr>
          <p:cNvSpPr/>
          <p:nvPr/>
        </p:nvSpPr>
        <p:spPr>
          <a:xfrm>
            <a:off x="640080" y="4023360"/>
            <a:ext cx="82296" cy="2194560"/>
          </a:xfrm>
          <a:prstGeom prst="rect">
            <a:avLst/>
          </a:prstGeom>
          <a:solidFill>
            <a:srgbClr val="6BA5D7"/>
          </a:solidFill>
          <a:ln/>
        </p:spPr>
        <p:txBody>
          <a:bodyPr/>
          <a:lstStyle/>
          <a:p>
            <a:endParaRPr lang="en-US"/>
          </a:p>
        </p:txBody>
      </p:sp>
      <p:sp>
        <p:nvSpPr>
          <p:cNvPr id="17" name="Text 15"/>
          <p:cNvSpPr/>
          <p:nvPr/>
        </p:nvSpPr>
        <p:spPr>
          <a:xfrm>
            <a:off x="896112" y="4242816"/>
            <a:ext cx="914400" cy="548640"/>
          </a:xfrm>
          <a:prstGeom prst="rect">
            <a:avLst/>
          </a:prstGeom>
          <a:noFill/>
          <a:ln/>
        </p:spPr>
        <p:txBody>
          <a:bodyPr wrap="square" lIns="0" tIns="0" rIns="0" bIns="0" rtlCol="0" anchor="ctr"/>
          <a:lstStyle/>
          <a:p>
            <a:pPr marL="0" indent="0">
              <a:buNone/>
            </a:pPr>
            <a:r>
              <a:rPr lang="en-US" sz="2600" b="1">
                <a:solidFill>
                  <a:srgbClr val="6BA5D7"/>
                </a:solidFill>
                <a:latin typeface="Consolas" pitchFamily="34" charset="0"/>
                <a:ea typeface="Consolas" pitchFamily="34" charset="-122"/>
                <a:cs typeface="Consolas" pitchFamily="34" charset="-120"/>
              </a:rPr>
              <a:t>03</a:t>
            </a:r>
            <a:endParaRPr lang="en-US" sz="2600"/>
          </a:p>
        </p:txBody>
      </p:sp>
      <p:sp>
        <p:nvSpPr>
          <p:cNvPr id="18" name="Text 16"/>
          <p:cNvSpPr/>
          <p:nvPr/>
        </p:nvSpPr>
        <p:spPr>
          <a:xfrm>
            <a:off x="1737360" y="4224528"/>
            <a:ext cx="4160520" cy="603504"/>
          </a:xfrm>
          <a:prstGeom prst="rect">
            <a:avLst/>
          </a:prstGeom>
          <a:noFill/>
          <a:ln/>
        </p:spPr>
        <p:txBody>
          <a:bodyPr wrap="square" lIns="0" tIns="0" rIns="0" bIns="0" rtlCol="0" anchor="ctr"/>
          <a:lstStyle/>
          <a:p>
            <a:pPr marL="0" indent="0">
              <a:lnSpc>
                <a:spcPct val="98000"/>
              </a:lnSpc>
              <a:buNone/>
            </a:pPr>
            <a:r>
              <a:rPr lang="en-US" sz="1500" b="1">
                <a:solidFill>
                  <a:srgbClr val="FFFFFF"/>
                </a:solidFill>
                <a:latin typeface="Trebuchet MS" pitchFamily="34" charset="0"/>
                <a:ea typeface="Trebuchet MS" pitchFamily="34" charset="-122"/>
                <a:cs typeface="Trebuchet MS" pitchFamily="34" charset="-120"/>
              </a:rPr>
              <a:t>Compare high-volume vs high-intensity</a:t>
            </a:r>
            <a:endParaRPr lang="en-US" sz="1500"/>
          </a:p>
        </p:txBody>
      </p:sp>
      <p:sp>
        <p:nvSpPr>
          <p:cNvPr id="19" name="Text 17"/>
          <p:cNvSpPr/>
          <p:nvPr/>
        </p:nvSpPr>
        <p:spPr>
          <a:xfrm>
            <a:off x="914400" y="4919472"/>
            <a:ext cx="4937760" cy="1143000"/>
          </a:xfrm>
          <a:prstGeom prst="rect">
            <a:avLst/>
          </a:prstGeom>
          <a:noFill/>
          <a:ln/>
        </p:spPr>
        <p:txBody>
          <a:bodyPr wrap="square" lIns="0" tIns="0" rIns="0" bIns="0" rtlCol="0" anchor="t"/>
          <a:lstStyle/>
          <a:p>
            <a:pPr marL="0" indent="0">
              <a:lnSpc>
                <a:spcPct val="104000"/>
              </a:lnSpc>
              <a:buNone/>
            </a:pPr>
            <a:r>
              <a:rPr lang="en-US" sz="1250">
                <a:solidFill>
                  <a:srgbClr val="CBD9E9"/>
                </a:solidFill>
                <a:latin typeface="Calibri" pitchFamily="34" charset="0"/>
                <a:ea typeface="Calibri" pitchFamily="34" charset="-122"/>
                <a:cs typeface="Calibri" pitchFamily="34" charset="-120"/>
              </a:rPr>
              <a:t>Manage commodity, high-volume fields with pricing and volume controls; manage high-intensity surgical fields with clinical-appropriateness review.</a:t>
            </a:r>
            <a:endParaRPr lang="en-US" sz="1250"/>
          </a:p>
        </p:txBody>
      </p:sp>
      <p:sp>
        <p:nvSpPr>
          <p:cNvPr id="20" name="rec card">
            <a:extLst>
              <a:ext uri="{C183D7F6-B498-43B3-948B-1728B52AA6E4}">
                <adec:decorative xmlns:adec="http://schemas.microsoft.com/office/drawing/2017/decorative" val="1"/>
              </a:ext>
            </a:extLst>
          </p:cNvPr>
          <p:cNvSpPr/>
          <p:nvPr/>
        </p:nvSpPr>
        <p:spPr>
          <a:xfrm>
            <a:off x="6455664" y="4023360"/>
            <a:ext cx="5486400" cy="2194560"/>
          </a:xfrm>
          <a:prstGeom prst="rect">
            <a:avLst/>
          </a:prstGeom>
          <a:solidFill>
            <a:srgbClr val="43426A"/>
          </a:solidFill>
          <a:ln w="12700">
            <a:solidFill>
              <a:srgbClr val="5A5880"/>
            </a:solidFill>
            <a:prstDash val="solid"/>
          </a:ln>
        </p:spPr>
        <p:txBody>
          <a:bodyPr/>
          <a:lstStyle/>
          <a:p>
            <a:endParaRPr lang="en-US"/>
          </a:p>
        </p:txBody>
      </p:sp>
      <p:sp>
        <p:nvSpPr>
          <p:cNvPr id="21" name="rec accent">
            <a:extLst>
              <a:ext uri="{C183D7F6-B498-43B3-948B-1728B52AA6E4}">
                <adec:decorative xmlns:adec="http://schemas.microsoft.com/office/drawing/2017/decorative" val="1"/>
              </a:ext>
            </a:extLst>
          </p:cNvPr>
          <p:cNvSpPr/>
          <p:nvPr/>
        </p:nvSpPr>
        <p:spPr>
          <a:xfrm>
            <a:off x="6455664" y="4023360"/>
            <a:ext cx="82296" cy="2194560"/>
          </a:xfrm>
          <a:prstGeom prst="rect">
            <a:avLst/>
          </a:prstGeom>
          <a:solidFill>
            <a:srgbClr val="6BA5D7"/>
          </a:solidFill>
          <a:ln/>
        </p:spPr>
        <p:txBody>
          <a:bodyPr/>
          <a:lstStyle/>
          <a:p>
            <a:endParaRPr lang="en-US"/>
          </a:p>
        </p:txBody>
      </p:sp>
      <p:sp>
        <p:nvSpPr>
          <p:cNvPr id="22" name="Text 20"/>
          <p:cNvSpPr/>
          <p:nvPr/>
        </p:nvSpPr>
        <p:spPr>
          <a:xfrm>
            <a:off x="6711696" y="4242816"/>
            <a:ext cx="914400" cy="548640"/>
          </a:xfrm>
          <a:prstGeom prst="rect">
            <a:avLst/>
          </a:prstGeom>
          <a:noFill/>
          <a:ln/>
        </p:spPr>
        <p:txBody>
          <a:bodyPr wrap="square" lIns="0" tIns="0" rIns="0" bIns="0" rtlCol="0" anchor="ctr"/>
          <a:lstStyle/>
          <a:p>
            <a:pPr marL="0" indent="0">
              <a:buNone/>
            </a:pPr>
            <a:r>
              <a:rPr lang="en-US" sz="2600" b="1">
                <a:solidFill>
                  <a:srgbClr val="6BA5D7"/>
                </a:solidFill>
                <a:latin typeface="Consolas" pitchFamily="34" charset="0"/>
                <a:ea typeface="Consolas" pitchFamily="34" charset="-122"/>
                <a:cs typeface="Consolas" pitchFamily="34" charset="-120"/>
              </a:rPr>
              <a:t>04</a:t>
            </a:r>
            <a:endParaRPr lang="en-US" sz="2600"/>
          </a:p>
        </p:txBody>
      </p:sp>
      <p:sp>
        <p:nvSpPr>
          <p:cNvPr id="23" name="Text 21"/>
          <p:cNvSpPr/>
          <p:nvPr/>
        </p:nvSpPr>
        <p:spPr>
          <a:xfrm>
            <a:off x="7552944" y="4224528"/>
            <a:ext cx="4160520" cy="603504"/>
          </a:xfrm>
          <a:prstGeom prst="rect">
            <a:avLst/>
          </a:prstGeom>
          <a:noFill/>
          <a:ln/>
        </p:spPr>
        <p:txBody>
          <a:bodyPr wrap="square" lIns="0" tIns="0" rIns="0" bIns="0" rtlCol="0" anchor="ctr"/>
          <a:lstStyle/>
          <a:p>
            <a:pPr marL="0" indent="0">
              <a:lnSpc>
                <a:spcPct val="98000"/>
              </a:lnSpc>
              <a:buNone/>
            </a:pPr>
            <a:r>
              <a:rPr lang="en-US" sz="1500" b="1">
                <a:solidFill>
                  <a:srgbClr val="FFFFFF"/>
                </a:solidFill>
                <a:latin typeface="Trebuchet MS" pitchFamily="34" charset="0"/>
                <a:ea typeface="Trebuchet MS" pitchFamily="34" charset="-122"/>
                <a:cs typeface="Trebuchet MS" pitchFamily="34" charset="-120"/>
              </a:rPr>
              <a:t>Build abnormal-growth alerts</a:t>
            </a:r>
            <a:endParaRPr lang="en-US" sz="1500"/>
          </a:p>
        </p:txBody>
      </p:sp>
      <p:sp>
        <p:nvSpPr>
          <p:cNvPr id="24" name="Text 22"/>
          <p:cNvSpPr/>
          <p:nvPr/>
        </p:nvSpPr>
        <p:spPr>
          <a:xfrm>
            <a:off x="6729984" y="4919472"/>
            <a:ext cx="4937760" cy="1143000"/>
          </a:xfrm>
          <a:prstGeom prst="rect">
            <a:avLst/>
          </a:prstGeom>
          <a:noFill/>
          <a:ln/>
        </p:spPr>
        <p:txBody>
          <a:bodyPr wrap="square" lIns="0" tIns="0" rIns="0" bIns="0" rtlCol="0" anchor="t"/>
          <a:lstStyle/>
          <a:p>
            <a:pPr marL="0" indent="0">
              <a:lnSpc>
                <a:spcPct val="104000"/>
              </a:lnSpc>
              <a:buNone/>
            </a:pPr>
            <a:r>
              <a:rPr lang="en-US" sz="1250">
                <a:solidFill>
                  <a:srgbClr val="CBD9E9"/>
                </a:solidFill>
                <a:latin typeface="Calibri" pitchFamily="34" charset="0"/>
                <a:ea typeface="Calibri" pitchFamily="34" charset="-122"/>
                <a:cs typeface="Calibri" pitchFamily="34" charset="-120"/>
              </a:rPr>
              <a:t>Set alerts on specialties with abnormal year-over-year cost-intensity growth, so outliers surface before they move the total.</a:t>
            </a:r>
            <a:endParaRPr lang="en-US" sz="1250"/>
          </a:p>
        </p:txBody>
      </p:sp>
      <p:sp>
        <p:nvSpPr>
          <p:cNvPr id="41" name="appendix pointer"/>
          <p:cNvSpPr/>
          <p:nvPr/>
        </p:nvSpPr>
        <p:spPr>
          <a:xfrm>
            <a:off x="7755280" y="6473952"/>
            <a:ext cx="3400000" cy="274320"/>
          </a:xfrm>
          <a:prstGeom prst="rect">
            <a:avLst/>
          </a:prstGeom>
          <a:noFill/>
          <a:ln/>
        </p:spPr>
        <p:txBody>
          <a:bodyPr wrap="square" lIns="0" tIns="0" rIns="0" bIns="0" rtlCol="0" anchor="ctr"/>
          <a:lstStyle/>
          <a:p>
            <a:pPr marL="0" indent="0" algn="r">
              <a:buNone/>
            </a:pPr>
            <a:r>
              <a:rPr lang="en-US" sz="800" b="1" kern="0" spc="80">
                <a:solidFill>
                  <a:srgbClr val="6BA5D7"/>
                </a:solidFill>
                <a:latin typeface="Trebuchet MS" pitchFamily="34" charset="0"/>
                <a:ea typeface="Trebuchet MS" pitchFamily="34" charset="-122"/>
                <a:cs typeface="Trebuchet MS" pitchFamily="34" charset="-120"/>
              </a:rPr>
              <a:t>APPENDIX  →  </a:t>
            </a:r>
            <a:r>
              <a:rPr lang="en-US" sz="800" kern="0" spc="80">
                <a:solidFill>
                  <a:srgbClr val="A8B2C6"/>
                </a:solidFill>
                <a:latin typeface="Trebuchet MS" pitchFamily="34" charset="0"/>
                <a:ea typeface="Trebuchet MS" pitchFamily="34" charset="-122"/>
                <a:cs typeface="Trebuchet MS" pitchFamily="34" charset="-120"/>
              </a:rPr>
              <a:t>DASHBOARD · BLUEPRINT · METHODOLOGY</a:t>
            </a:r>
            <a:endParaRPr lang="en-US" sz="900"/>
          </a:p>
        </p:txBody>
      </p:sp>
      <p:sp>
        <p:nvSpPr>
          <p:cNvPr id="25" name="Text 23"/>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a:solidFill>
                  <a:srgbClr val="A8B2C6"/>
                </a:solidFill>
                <a:latin typeface="Trebuchet MS" pitchFamily="34" charset="0"/>
                <a:ea typeface="Trebuchet MS" pitchFamily="34" charset="-122"/>
                <a:cs typeface="Trebuchet MS" pitchFamily="34" charset="-120"/>
              </a:rPr>
              <a:t>CMS MEDICARE PART B  ·  CY 2022–2024</a:t>
            </a:r>
            <a:endParaRPr lang="en-US" sz="900"/>
          </a:p>
        </p:txBody>
      </p:sp>
      <p:sp>
        <p:nvSpPr>
          <p:cNvPr id="26" name="Text 24"/>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a:solidFill>
                  <a:srgbClr val="6BA5D7"/>
                </a:solidFill>
                <a:latin typeface="Consolas" pitchFamily="34" charset="0"/>
                <a:ea typeface="Consolas" pitchFamily="34" charset="-122"/>
                <a:cs typeface="Consolas" pitchFamily="34" charset="-120"/>
              </a:rPr>
              <a:t>19</a:t>
            </a:r>
            <a:endParaRPr lang="en-US" sz="1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40080" y="406908"/>
            <a:ext cx="201168" cy="128016"/>
          </a:xfrm>
          <a:prstGeom prst="rect">
            <a:avLst/>
          </a:prstGeom>
          <a:solidFill>
            <a:srgbClr val="6BA5D7"/>
          </a:solidFill>
          <a:ln/>
        </p:spPr>
        <p:txBody>
          <a:bodyPr/>
          <a:lstStyle/>
          <a:p>
            <a:endParaRPr lang="en-US"/>
          </a:p>
        </p:txBody>
      </p:sp>
      <p:sp>
        <p:nvSpPr>
          <p:cNvPr id="3" name="kicker"/>
          <p:cNvSpPr/>
          <p:nvPr/>
        </p:nvSpPr>
        <p:spPr>
          <a:xfrm>
            <a:off x="932688" y="310896"/>
            <a:ext cx="8229600" cy="310896"/>
          </a:xfrm>
          <a:prstGeom prst="rect">
            <a:avLst/>
          </a:prstGeom>
          <a:noFill/>
          <a:ln/>
        </p:spPr>
        <p:txBody>
          <a:bodyPr wrap="square" lIns="0" tIns="0" rIns="0" bIns="0" rtlCol="0" anchor="ctr"/>
          <a:lstStyle/>
          <a:p>
            <a:pPr marL="0" indent="0" algn="l">
              <a:buNone/>
            </a:pPr>
            <a:r>
              <a:rPr lang="en-US" sz="1250" b="1" kern="0" spc="300">
                <a:solidFill>
                  <a:srgbClr val="4E79A7"/>
                </a:solidFill>
                <a:latin typeface="Trebuchet MS" pitchFamily="34" charset="0"/>
                <a:ea typeface="Trebuchet MS" pitchFamily="34" charset="-122"/>
                <a:cs typeface="Trebuchet MS" pitchFamily="34" charset="-120"/>
              </a:rPr>
              <a:t>DASHBOARD PREVIEW</a:t>
            </a:r>
            <a:endParaRPr lang="en-US" sz="1000"/>
          </a:p>
        </p:txBody>
      </p:sp>
      <p:sp>
        <p:nvSpPr>
          <p:cNvPr id="4" name="Title"/>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3200" b="1" kern="0">
                <a:solidFill>
                  <a:srgbClr val="2B2A45"/>
                </a:solidFill>
                <a:latin typeface="Trebuchet MS" pitchFamily="34" charset="0"/>
                <a:ea typeface="Trebuchet MS" pitchFamily="34" charset="-122"/>
                <a:cs typeface="Trebuchet MS" pitchFamily="34" charset="-120"/>
              </a:rPr>
              <a:t>Tableau Dashboard — Interactive View</a:t>
            </a:r>
            <a:endParaRPr lang="en-US" sz="3200"/>
          </a:p>
        </p:txBody>
      </p:sp>
      <p:sp>
        <p:nvSpPr>
          <p:cNvPr id="5" name="subtitle">
            <a:extLst>
              <a:ext uri="{C183D7F6-B498-43B3-948B-1728B52AA6E4}">
                <adec:decorative xmlns:adec="http://schemas.microsoft.com/office/drawing/2017/decorative" val="1"/>
              </a:ext>
            </a:extLst>
          </p:cNvPr>
          <p:cNvSpPr/>
          <p:nvPr/>
        </p:nvSpPr>
        <p:spPr>
          <a:xfrm>
            <a:off x="640080" y="1325880"/>
            <a:ext cx="10972800" cy="329184"/>
          </a:xfrm>
          <a:prstGeom prst="rect">
            <a:avLst/>
          </a:prstGeom>
          <a:noFill/>
          <a:ln/>
        </p:spPr>
        <p:txBody>
          <a:bodyPr wrap="square" lIns="0" tIns="0" rIns="0" bIns="0" rtlCol="0" anchor="ctr"/>
          <a:lstStyle/>
          <a:p>
            <a:pPr marL="0" indent="0" algn="l">
              <a:buNone/>
            </a:pPr>
            <a:r>
              <a:rPr lang="en-US" sz="1300" kern="0">
                <a:solidFill>
                  <a:srgbClr val="7C7E96"/>
                </a:solidFill>
                <a:latin typeface="Calibri" pitchFamily="34" charset="0"/>
                <a:ea typeface="Calibri" pitchFamily="34" charset="-122"/>
                <a:cs typeface="Calibri" pitchFamily="34" charset="-120"/>
              </a:rPr>
              <a:t>The published workbook on one canvas — filter, drill down, and read utilization and cost the way leadership will.</a:t>
            </a:r>
            <a:endParaRPr lang="en-US" sz="1000"/>
          </a:p>
        </p:txBody>
      </p:sp>
      <p:sp>
        <p:nvSpPr>
          <p:cNvPr id="6" name="canvas">
            <a:extLst>
              <a:ext uri="{C183D7F6-B498-43B3-948B-1728B52AA6E4}">
                <adec:decorative xmlns:adec="http://schemas.microsoft.com/office/drawing/2017/decorative" val="1"/>
              </a:ext>
            </a:extLst>
          </p:cNvPr>
          <p:cNvSpPr/>
          <p:nvPr/>
        </p:nvSpPr>
        <p:spPr>
          <a:xfrm>
            <a:off x="640080" y="1700000"/>
            <a:ext cx="10911840" cy="4560000"/>
          </a:xfrm>
          <a:prstGeom prst="rect">
            <a:avLst/>
          </a:prstGeom>
          <a:solidFill>
            <a:srgbClr val="FFFFFF"/>
          </a:solidFill>
          <a:ln w="9525">
            <a:solidFill>
              <a:srgbClr val="E2E8F0"/>
            </a:solidFill>
          </a:ln>
          <a:effectLst>
            <a:outerShdw blurRad="114300" dist="38100" dir="5400000" algn="bl" rotWithShape="0">
              <a:srgbClr val="43426A">
                <a:alpha val="16000"/>
              </a:srgbClr>
            </a:outerShdw>
          </a:effectLst>
        </p:spPr>
        <p:txBody>
          <a:bodyPr/>
          <a:lstStyle/>
          <a:p>
            <a:endParaRPr lang="en-US"/>
          </a:p>
        </p:txBody>
      </p:sp>
      <p:sp>
        <p:nvSpPr>
          <p:cNvPr id="7" name="titlebar">
            <a:extLst>
              <a:ext uri="{C183D7F6-B498-43B3-948B-1728B52AA6E4}">
                <adec:decorative xmlns:adec="http://schemas.microsoft.com/office/drawing/2017/decorative" val="1"/>
              </a:ext>
            </a:extLst>
          </p:cNvPr>
          <p:cNvSpPr/>
          <p:nvPr/>
        </p:nvSpPr>
        <p:spPr>
          <a:xfrm>
            <a:off x="640080" y="1700000"/>
            <a:ext cx="10911840" cy="372000"/>
          </a:xfrm>
          <a:prstGeom prst="rect">
            <a:avLst/>
          </a:prstGeom>
          <a:solidFill>
            <a:srgbClr val="2B2A45"/>
          </a:solidFill>
          <a:ln/>
        </p:spPr>
        <p:txBody>
          <a:bodyPr/>
          <a:lstStyle/>
          <a:p>
            <a:endParaRPr lang="en-US"/>
          </a:p>
        </p:txBody>
      </p:sp>
      <p:sp>
        <p:nvSpPr>
          <p:cNvPr id="8" name="app title"/>
          <p:cNvSpPr/>
          <p:nvPr/>
        </p:nvSpPr>
        <p:spPr>
          <a:xfrm>
            <a:off x="810080" y="1700000"/>
            <a:ext cx="7000000" cy="372000"/>
          </a:xfrm>
          <a:prstGeom prst="rect">
            <a:avLst/>
          </a:prstGeom>
          <a:noFill/>
          <a:ln/>
        </p:spPr>
        <p:txBody>
          <a:bodyPr wrap="square" lIns="0" tIns="0" rIns="0" bIns="0" rtlCol="0" anchor="ctr"/>
          <a:lstStyle/>
          <a:p>
            <a:pPr marL="0" indent="0" algn="l">
              <a:buNone/>
            </a:pPr>
            <a:r>
              <a:rPr lang="en-US" sz="1050" b="1" kern="0" spc="150">
                <a:solidFill>
                  <a:srgbClr val="FFFFFF"/>
                </a:solidFill>
                <a:latin typeface="Trebuchet MS" pitchFamily="34" charset="0"/>
                <a:ea typeface="Trebuchet MS" pitchFamily="34" charset="-122"/>
                <a:cs typeface="Trebuchet MS" pitchFamily="34" charset="-120"/>
              </a:rPr>
              <a:t>PART B UTILIZATION &amp; COST EXPLORER</a:t>
            </a:r>
            <a:endParaRPr lang="en-US" sz="1000"/>
          </a:p>
        </p:txBody>
      </p:sp>
      <p:sp>
        <p:nvSpPr>
          <p:cNvPr id="9" name="live pill">
            <a:extLst>
              <a:ext uri="{C183D7F6-B498-43B3-948B-1728B52AA6E4}">
                <adec:decorative xmlns:adec="http://schemas.microsoft.com/office/drawing/2017/decorative" val="1"/>
              </a:ext>
            </a:extLst>
          </p:cNvPr>
          <p:cNvSpPr/>
          <p:nvPr/>
        </p:nvSpPr>
        <p:spPr>
          <a:xfrm>
            <a:off x="10051920" y="1780000"/>
            <a:ext cx="1330000" cy="212000"/>
          </a:xfrm>
          <a:prstGeom prst="rect">
            <a:avLst/>
          </a:prstGeom>
          <a:solidFill>
            <a:srgbClr val="6BA5D7"/>
          </a:solidFill>
          <a:ln/>
        </p:spPr>
        <p:txBody>
          <a:bodyPr/>
          <a:lstStyle/>
          <a:p>
            <a:endParaRPr lang="en-US"/>
          </a:p>
        </p:txBody>
      </p:sp>
      <p:sp>
        <p:nvSpPr>
          <p:cNvPr id="10" name="live text"/>
          <p:cNvSpPr/>
          <p:nvPr/>
        </p:nvSpPr>
        <p:spPr>
          <a:xfrm>
            <a:off x="10051920" y="1780000"/>
            <a:ext cx="1330000" cy="212000"/>
          </a:xfrm>
          <a:prstGeom prst="rect">
            <a:avLst/>
          </a:prstGeom>
          <a:noFill/>
          <a:ln/>
        </p:spPr>
        <p:txBody>
          <a:bodyPr wrap="square" lIns="0" tIns="0" rIns="0" bIns="0" rtlCol="0" anchor="ctr"/>
          <a:lstStyle/>
          <a:p>
            <a:pPr marL="0" indent="0" algn="ctr">
              <a:buNone/>
            </a:pPr>
            <a:r>
              <a:rPr lang="en-US" sz="800" b="1" kern="0" spc="100">
                <a:solidFill>
                  <a:srgbClr val="2B2A45"/>
                </a:solidFill>
                <a:latin typeface="Trebuchet MS" pitchFamily="34" charset="0"/>
                <a:ea typeface="Trebuchet MS" pitchFamily="34" charset="-122"/>
                <a:cs typeface="Trebuchet MS" pitchFamily="34" charset="-120"/>
              </a:rPr>
              <a:t>TABLEAU · LIVE</a:t>
            </a:r>
            <a:endParaRPr lang="en-US" sz="1000"/>
          </a:p>
        </p:txBody>
      </p:sp>
      <p:sp>
        <p:nvSpPr>
          <p:cNvPr id="11" name="chip">
            <a:extLst>
              <a:ext uri="{C183D7F6-B498-43B3-948B-1728B52AA6E4}">
                <adec:decorative xmlns:adec="http://schemas.microsoft.com/office/drawing/2017/decorative" val="1"/>
              </a:ext>
            </a:extLst>
          </p:cNvPr>
          <p:cNvSpPr/>
          <p:nvPr/>
        </p:nvSpPr>
        <p:spPr>
          <a:xfrm>
            <a:off x="810080" y="2160000"/>
            <a:ext cx="2492960" cy="300000"/>
          </a:xfrm>
          <a:prstGeom prst="rect">
            <a:avLst/>
          </a:prstGeom>
          <a:solidFill>
            <a:srgbClr val="F1F5F9"/>
          </a:solidFill>
          <a:ln w="9525">
            <a:solidFill>
              <a:srgbClr val="CBD5E1"/>
            </a:solidFill>
          </a:ln>
        </p:spPr>
        <p:txBody>
          <a:bodyPr/>
          <a:lstStyle/>
          <a:p>
            <a:endParaRPr lang="en-US"/>
          </a:p>
        </p:txBody>
      </p:sp>
      <p:sp>
        <p:nvSpPr>
          <p:cNvPr id="12" name="chip text"/>
          <p:cNvSpPr/>
          <p:nvPr/>
        </p:nvSpPr>
        <p:spPr>
          <a:xfrm>
            <a:off x="930080" y="2160000"/>
            <a:ext cx="2252960" cy="300000"/>
          </a:xfrm>
          <a:prstGeom prst="rect">
            <a:avLst/>
          </a:prstGeom>
          <a:noFill/>
          <a:ln/>
        </p:spPr>
        <p:txBody>
          <a:bodyPr wrap="square" lIns="0" tIns="0" rIns="0" bIns="0" rtlCol="0" anchor="ctr"/>
          <a:lstStyle/>
          <a:p>
            <a:pPr marL="0" indent="0" algn="l">
              <a:buNone/>
            </a:pPr>
            <a:r>
              <a:rPr lang="en-US" sz="900" b="1" kern="0">
                <a:solidFill>
                  <a:srgbClr val="334155"/>
                </a:solidFill>
                <a:latin typeface="Calibri" pitchFamily="34" charset="0"/>
                <a:ea typeface="Calibri" pitchFamily="34" charset="-122"/>
                <a:cs typeface="Calibri" pitchFamily="34" charset="-120"/>
              </a:rPr>
              <a:t>Year:  2024   </a:t>
            </a:r>
            <a:r>
              <a:rPr lang="en-US" sz="900" kern="0">
                <a:solidFill>
                  <a:srgbClr val="7C7E96"/>
                </a:solidFill>
                <a:latin typeface="Calibri" pitchFamily="34" charset="0"/>
                <a:ea typeface="Calibri" pitchFamily="34" charset="-122"/>
                <a:cs typeface="Calibri" pitchFamily="34" charset="-120"/>
              </a:rPr>
              <a:t>▾</a:t>
            </a:r>
            <a:endParaRPr lang="en-US" sz="1000"/>
          </a:p>
        </p:txBody>
      </p:sp>
      <p:sp>
        <p:nvSpPr>
          <p:cNvPr id="13" name="chip">
            <a:extLst>
              <a:ext uri="{C183D7F6-B498-43B3-948B-1728B52AA6E4}">
                <adec:decorative xmlns:adec="http://schemas.microsoft.com/office/drawing/2017/decorative" val="1"/>
              </a:ext>
            </a:extLst>
          </p:cNvPr>
          <p:cNvSpPr/>
          <p:nvPr/>
        </p:nvSpPr>
        <p:spPr>
          <a:xfrm>
            <a:off x="3503040" y="2160000"/>
            <a:ext cx="2492960" cy="300000"/>
          </a:xfrm>
          <a:prstGeom prst="rect">
            <a:avLst/>
          </a:prstGeom>
          <a:solidFill>
            <a:srgbClr val="F1F5F9"/>
          </a:solidFill>
          <a:ln w="9525">
            <a:solidFill>
              <a:srgbClr val="CBD5E1"/>
            </a:solidFill>
          </a:ln>
        </p:spPr>
        <p:txBody>
          <a:bodyPr/>
          <a:lstStyle/>
          <a:p>
            <a:endParaRPr lang="en-US"/>
          </a:p>
        </p:txBody>
      </p:sp>
      <p:sp>
        <p:nvSpPr>
          <p:cNvPr id="14" name="chip text"/>
          <p:cNvSpPr/>
          <p:nvPr/>
        </p:nvSpPr>
        <p:spPr>
          <a:xfrm>
            <a:off x="3623040" y="2160000"/>
            <a:ext cx="2252960" cy="300000"/>
          </a:xfrm>
          <a:prstGeom prst="rect">
            <a:avLst/>
          </a:prstGeom>
          <a:noFill/>
          <a:ln/>
        </p:spPr>
        <p:txBody>
          <a:bodyPr wrap="square" lIns="0" tIns="0" rIns="0" bIns="0" rtlCol="0" anchor="ctr"/>
          <a:lstStyle/>
          <a:p>
            <a:pPr marL="0" indent="0" algn="l">
              <a:buNone/>
            </a:pPr>
            <a:r>
              <a:rPr lang="en-US" sz="900" b="1" kern="0">
                <a:solidFill>
                  <a:srgbClr val="334155"/>
                </a:solidFill>
                <a:latin typeface="Calibri" pitchFamily="34" charset="0"/>
                <a:ea typeface="Calibri" pitchFamily="34" charset="-122"/>
                <a:cs typeface="Calibri" pitchFamily="34" charset="-120"/>
              </a:rPr>
              <a:t>Specialty:  All   </a:t>
            </a:r>
            <a:r>
              <a:rPr lang="en-US" sz="900" kern="0">
                <a:solidFill>
                  <a:srgbClr val="7C7E96"/>
                </a:solidFill>
                <a:latin typeface="Calibri" pitchFamily="34" charset="0"/>
                <a:ea typeface="Calibri" pitchFamily="34" charset="-122"/>
                <a:cs typeface="Calibri" pitchFamily="34" charset="-120"/>
              </a:rPr>
              <a:t>▾</a:t>
            </a:r>
            <a:endParaRPr lang="en-US" sz="1000"/>
          </a:p>
        </p:txBody>
      </p:sp>
      <p:sp>
        <p:nvSpPr>
          <p:cNvPr id="100" name="scope note"/>
          <p:cNvSpPr/>
          <p:nvPr/>
        </p:nvSpPr>
        <p:spPr>
          <a:xfrm>
            <a:off x="6200000" y="2160000"/>
            <a:ext cx="5181920" cy="300000"/>
          </a:xfrm>
          <a:prstGeom prst="rect">
            <a:avLst/>
          </a:prstGeom>
          <a:noFill/>
          <a:ln/>
        </p:spPr>
        <p:txBody>
          <a:bodyPr wrap="square" lIns="0" tIns="0" rIns="0" bIns="0" rtlCol="0" anchor="ctr"/>
          <a:lstStyle/>
          <a:p>
            <a:pPr marL="0" indent="0" algn="r">
              <a:buNone/>
            </a:pPr>
            <a:r>
              <a:rPr lang="en-US" sz="900" i="1" kern="0">
                <a:solidFill>
                  <a:srgbClr val="7C7E96"/>
                </a:solidFill>
                <a:latin typeface="Calibri" pitchFamily="34" charset="0"/>
                <a:ea typeface="Calibri" pitchFamily="34" charset="-122"/>
                <a:cs typeface="Calibri" pitchFamily="34" charset="-120"/>
              </a:rPr>
              <a:t>National summary data — no state or service-category breakdown available in this extract.</a:t>
            </a:r>
            <a:endParaRPr lang="en-US" sz="900"/>
          </a:p>
        </p:txBody>
      </p:sp>
      <p:sp>
        <p:nvSpPr>
          <p:cNvPr id="19" name="kpi tile">
            <a:extLst>
              <a:ext uri="{C183D7F6-B498-43B3-948B-1728B52AA6E4}">
                <adec:decorative xmlns:adec="http://schemas.microsoft.com/office/drawing/2017/decorative" val="1"/>
              </a:ext>
            </a:extLst>
          </p:cNvPr>
          <p:cNvSpPr/>
          <p:nvPr/>
        </p:nvSpPr>
        <p:spPr>
          <a:xfrm>
            <a:off x="810080" y="2560000"/>
            <a:ext cx="2492960" cy="760000"/>
          </a:xfrm>
          <a:prstGeom prst="rect">
            <a:avLst/>
          </a:prstGeom>
          <a:solidFill>
            <a:srgbClr val="F8FAFC"/>
          </a:solidFill>
          <a:ln w="9525">
            <a:solidFill>
              <a:srgbClr val="E2E8F0"/>
            </a:solidFill>
          </a:ln>
        </p:spPr>
        <p:txBody>
          <a:bodyPr/>
          <a:lstStyle/>
          <a:p>
            <a:endParaRPr lang="en-US"/>
          </a:p>
        </p:txBody>
      </p:sp>
      <p:sp>
        <p:nvSpPr>
          <p:cNvPr id="20" name="kpi accent">
            <a:extLst>
              <a:ext uri="{C183D7F6-B498-43B3-948B-1728B52AA6E4}">
                <adec:decorative xmlns:adec="http://schemas.microsoft.com/office/drawing/2017/decorative" val="1"/>
              </a:ext>
            </a:extLst>
          </p:cNvPr>
          <p:cNvSpPr/>
          <p:nvPr/>
        </p:nvSpPr>
        <p:spPr>
          <a:xfrm>
            <a:off x="810080" y="2560000"/>
            <a:ext cx="52000" cy="760000"/>
          </a:xfrm>
          <a:prstGeom prst="rect">
            <a:avLst/>
          </a:prstGeom>
          <a:solidFill>
            <a:srgbClr val="6BA5D7"/>
          </a:solidFill>
          <a:ln/>
        </p:spPr>
        <p:txBody>
          <a:bodyPr/>
          <a:lstStyle/>
          <a:p>
            <a:endParaRPr lang="en-US"/>
          </a:p>
        </p:txBody>
      </p:sp>
      <p:sp>
        <p:nvSpPr>
          <p:cNvPr id="21" name="kpi val"/>
          <p:cNvSpPr/>
          <p:nvPr/>
        </p:nvSpPr>
        <p:spPr>
          <a:xfrm>
            <a:off x="960080" y="2630000"/>
            <a:ext cx="2272960" cy="380000"/>
          </a:xfrm>
          <a:prstGeom prst="rect">
            <a:avLst/>
          </a:prstGeom>
          <a:noFill/>
          <a:ln/>
        </p:spPr>
        <p:txBody>
          <a:bodyPr wrap="square" lIns="0" tIns="0" rIns="0" bIns="0" rtlCol="0" anchor="ctr"/>
          <a:lstStyle/>
          <a:p>
            <a:pPr marL="0" indent="0" algn="l">
              <a:buNone/>
            </a:pPr>
            <a:r>
              <a:rPr lang="en-US" sz="1550" b="1" kern="0">
                <a:solidFill>
                  <a:srgbClr val="4E79A7"/>
                </a:solidFill>
                <a:latin typeface="Consolas" pitchFamily="34" charset="0"/>
                <a:ea typeface="Consolas" pitchFamily="34" charset="-122"/>
                <a:cs typeface="Consolas" pitchFamily="34" charset="-120"/>
              </a:rPr>
              <a:t>$131.7B</a:t>
            </a:r>
            <a:endParaRPr lang="en-US" sz="1000"/>
          </a:p>
        </p:txBody>
      </p:sp>
      <p:sp>
        <p:nvSpPr>
          <p:cNvPr id="22" name="kpi label"/>
          <p:cNvSpPr/>
          <p:nvPr/>
        </p:nvSpPr>
        <p:spPr>
          <a:xfrm>
            <a:off x="960080" y="3030000"/>
            <a:ext cx="2272960" cy="240000"/>
          </a:xfrm>
          <a:prstGeom prst="rect">
            <a:avLst/>
          </a:prstGeom>
          <a:noFill/>
          <a:ln/>
        </p:spPr>
        <p:txBody>
          <a:bodyPr wrap="square" lIns="0" tIns="0" rIns="0" bIns="0" rtlCol="0" anchor="ctr"/>
          <a:lstStyle/>
          <a:p>
            <a:pPr marL="0" indent="0" algn="l">
              <a:buNone/>
            </a:pPr>
            <a:r>
              <a:rPr lang="en-US" sz="800" b="1" kern="0" spc="120">
                <a:solidFill>
                  <a:srgbClr val="2B2A45"/>
                </a:solidFill>
                <a:latin typeface="Trebuchet MS" pitchFamily="34" charset="0"/>
                <a:ea typeface="Trebuchet MS" pitchFamily="34" charset="-122"/>
                <a:cs typeface="Trebuchet MS" pitchFamily="34" charset="-120"/>
              </a:rPr>
              <a:t>MEDICARE PAYMENTS</a:t>
            </a:r>
            <a:endParaRPr lang="en-US" sz="1000"/>
          </a:p>
        </p:txBody>
      </p:sp>
      <p:sp>
        <p:nvSpPr>
          <p:cNvPr id="23" name="kpi tile">
            <a:extLst>
              <a:ext uri="{C183D7F6-B498-43B3-948B-1728B52AA6E4}">
                <adec:decorative xmlns:adec="http://schemas.microsoft.com/office/drawing/2017/decorative" val="1"/>
              </a:ext>
            </a:extLst>
          </p:cNvPr>
          <p:cNvSpPr/>
          <p:nvPr/>
        </p:nvSpPr>
        <p:spPr>
          <a:xfrm>
            <a:off x="3503040" y="2560000"/>
            <a:ext cx="2492960" cy="760000"/>
          </a:xfrm>
          <a:prstGeom prst="rect">
            <a:avLst/>
          </a:prstGeom>
          <a:solidFill>
            <a:srgbClr val="F8FAFC"/>
          </a:solidFill>
          <a:ln w="9525">
            <a:solidFill>
              <a:srgbClr val="E2E8F0"/>
            </a:solidFill>
          </a:ln>
        </p:spPr>
        <p:txBody>
          <a:bodyPr/>
          <a:lstStyle/>
          <a:p>
            <a:endParaRPr lang="en-US"/>
          </a:p>
        </p:txBody>
      </p:sp>
      <p:sp>
        <p:nvSpPr>
          <p:cNvPr id="24" name="kpi accent">
            <a:extLst>
              <a:ext uri="{C183D7F6-B498-43B3-948B-1728B52AA6E4}">
                <adec:decorative xmlns:adec="http://schemas.microsoft.com/office/drawing/2017/decorative" val="1"/>
              </a:ext>
            </a:extLst>
          </p:cNvPr>
          <p:cNvSpPr/>
          <p:nvPr/>
        </p:nvSpPr>
        <p:spPr>
          <a:xfrm>
            <a:off x="3503040" y="2560000"/>
            <a:ext cx="52000" cy="760000"/>
          </a:xfrm>
          <a:prstGeom prst="rect">
            <a:avLst/>
          </a:prstGeom>
          <a:solidFill>
            <a:srgbClr val="6BA5D7"/>
          </a:solidFill>
          <a:ln/>
        </p:spPr>
        <p:txBody>
          <a:bodyPr/>
          <a:lstStyle/>
          <a:p>
            <a:endParaRPr lang="en-US"/>
          </a:p>
        </p:txBody>
      </p:sp>
      <p:sp>
        <p:nvSpPr>
          <p:cNvPr id="25" name="kpi val"/>
          <p:cNvSpPr/>
          <p:nvPr/>
        </p:nvSpPr>
        <p:spPr>
          <a:xfrm>
            <a:off x="3653040" y="2630000"/>
            <a:ext cx="2272960" cy="380000"/>
          </a:xfrm>
          <a:prstGeom prst="rect">
            <a:avLst/>
          </a:prstGeom>
          <a:noFill/>
          <a:ln/>
        </p:spPr>
        <p:txBody>
          <a:bodyPr wrap="square" lIns="0" tIns="0" rIns="0" bIns="0" rtlCol="0" anchor="ctr"/>
          <a:lstStyle/>
          <a:p>
            <a:pPr marL="0" indent="0" algn="l">
              <a:buNone/>
            </a:pPr>
            <a:r>
              <a:rPr lang="en-US" sz="1550" b="1" kern="0">
                <a:solidFill>
                  <a:srgbClr val="4E79A7"/>
                </a:solidFill>
                <a:latin typeface="Consolas" pitchFamily="34" charset="0"/>
                <a:ea typeface="Consolas" pitchFamily="34" charset="-122"/>
                <a:cs typeface="Consolas" pitchFamily="34" charset="-120"/>
              </a:rPr>
              <a:t>6.0B</a:t>
            </a:r>
            <a:endParaRPr lang="en-US" sz="1000"/>
          </a:p>
        </p:txBody>
      </p:sp>
      <p:sp>
        <p:nvSpPr>
          <p:cNvPr id="26" name="kpi label"/>
          <p:cNvSpPr/>
          <p:nvPr/>
        </p:nvSpPr>
        <p:spPr>
          <a:xfrm>
            <a:off x="3653040" y="3030000"/>
            <a:ext cx="2272960" cy="240000"/>
          </a:xfrm>
          <a:prstGeom prst="rect">
            <a:avLst/>
          </a:prstGeom>
          <a:noFill/>
          <a:ln/>
        </p:spPr>
        <p:txBody>
          <a:bodyPr wrap="square" lIns="0" tIns="0" rIns="0" bIns="0" rtlCol="0" anchor="ctr"/>
          <a:lstStyle/>
          <a:p>
            <a:pPr marL="0" indent="0" algn="l">
              <a:buNone/>
            </a:pPr>
            <a:r>
              <a:rPr lang="en-US" sz="800" b="1" kern="0" spc="120">
                <a:solidFill>
                  <a:srgbClr val="2B2A45"/>
                </a:solidFill>
                <a:latin typeface="Trebuchet MS" pitchFamily="34" charset="0"/>
                <a:ea typeface="Trebuchet MS" pitchFamily="34" charset="-122"/>
                <a:cs typeface="Trebuchet MS" pitchFamily="34" charset="-120"/>
              </a:rPr>
              <a:t>ALLOWED SERVICES</a:t>
            </a:r>
            <a:endParaRPr lang="en-US" sz="1000"/>
          </a:p>
        </p:txBody>
      </p:sp>
      <p:sp>
        <p:nvSpPr>
          <p:cNvPr id="27" name="kpi tile">
            <a:extLst>
              <a:ext uri="{C183D7F6-B498-43B3-948B-1728B52AA6E4}">
                <adec:decorative xmlns:adec="http://schemas.microsoft.com/office/drawing/2017/decorative" val="1"/>
              </a:ext>
            </a:extLst>
          </p:cNvPr>
          <p:cNvSpPr/>
          <p:nvPr/>
        </p:nvSpPr>
        <p:spPr>
          <a:xfrm>
            <a:off x="6196000" y="2560000"/>
            <a:ext cx="2492960" cy="760000"/>
          </a:xfrm>
          <a:prstGeom prst="rect">
            <a:avLst/>
          </a:prstGeom>
          <a:solidFill>
            <a:srgbClr val="F8FAFC"/>
          </a:solidFill>
          <a:ln w="9525">
            <a:solidFill>
              <a:srgbClr val="E2E8F0"/>
            </a:solidFill>
          </a:ln>
        </p:spPr>
        <p:txBody>
          <a:bodyPr/>
          <a:lstStyle/>
          <a:p>
            <a:endParaRPr lang="en-US"/>
          </a:p>
        </p:txBody>
      </p:sp>
      <p:sp>
        <p:nvSpPr>
          <p:cNvPr id="28" name="kpi accent">
            <a:extLst>
              <a:ext uri="{C183D7F6-B498-43B3-948B-1728B52AA6E4}">
                <adec:decorative xmlns:adec="http://schemas.microsoft.com/office/drawing/2017/decorative" val="1"/>
              </a:ext>
            </a:extLst>
          </p:cNvPr>
          <p:cNvSpPr/>
          <p:nvPr/>
        </p:nvSpPr>
        <p:spPr>
          <a:xfrm>
            <a:off x="6196000" y="2560000"/>
            <a:ext cx="52000" cy="760000"/>
          </a:xfrm>
          <a:prstGeom prst="rect">
            <a:avLst/>
          </a:prstGeom>
          <a:solidFill>
            <a:srgbClr val="6BA5D7"/>
          </a:solidFill>
          <a:ln/>
        </p:spPr>
        <p:txBody>
          <a:bodyPr/>
          <a:lstStyle/>
          <a:p>
            <a:endParaRPr lang="en-US"/>
          </a:p>
        </p:txBody>
      </p:sp>
      <p:sp>
        <p:nvSpPr>
          <p:cNvPr id="29" name="kpi val"/>
          <p:cNvSpPr/>
          <p:nvPr/>
        </p:nvSpPr>
        <p:spPr>
          <a:xfrm>
            <a:off x="6346000" y="2630000"/>
            <a:ext cx="2272960" cy="380000"/>
          </a:xfrm>
          <a:prstGeom prst="rect">
            <a:avLst/>
          </a:prstGeom>
          <a:noFill/>
          <a:ln/>
        </p:spPr>
        <p:txBody>
          <a:bodyPr wrap="square" lIns="0" tIns="0" rIns="0" bIns="0" rtlCol="0" anchor="ctr"/>
          <a:lstStyle/>
          <a:p>
            <a:pPr marL="0" indent="0" algn="l">
              <a:buNone/>
            </a:pPr>
            <a:r>
              <a:rPr lang="en-US" sz="1550" b="1" kern="0">
                <a:solidFill>
                  <a:srgbClr val="4E79A7"/>
                </a:solidFill>
                <a:latin typeface="Consolas" pitchFamily="34" charset="0"/>
                <a:ea typeface="Consolas" pitchFamily="34" charset="-122"/>
                <a:cs typeface="Consolas" pitchFamily="34" charset="-120"/>
              </a:rPr>
              <a:t>$22.08</a:t>
            </a:r>
            <a:endParaRPr lang="en-US" sz="1000"/>
          </a:p>
        </p:txBody>
      </p:sp>
      <p:sp>
        <p:nvSpPr>
          <p:cNvPr id="30" name="kpi label"/>
          <p:cNvSpPr/>
          <p:nvPr/>
        </p:nvSpPr>
        <p:spPr>
          <a:xfrm>
            <a:off x="6346000" y="3030000"/>
            <a:ext cx="2272960" cy="240000"/>
          </a:xfrm>
          <a:prstGeom prst="rect">
            <a:avLst/>
          </a:prstGeom>
          <a:noFill/>
          <a:ln/>
        </p:spPr>
        <p:txBody>
          <a:bodyPr wrap="square" lIns="0" tIns="0" rIns="0" bIns="0" rtlCol="0" anchor="ctr"/>
          <a:lstStyle/>
          <a:p>
            <a:pPr marL="0" indent="0" algn="l">
              <a:buNone/>
            </a:pPr>
            <a:r>
              <a:rPr lang="en-US" sz="800" b="1" kern="0" spc="120">
                <a:solidFill>
                  <a:srgbClr val="2B2A45"/>
                </a:solidFill>
                <a:latin typeface="Trebuchet MS" pitchFamily="34" charset="0"/>
                <a:ea typeface="Trebuchet MS" pitchFamily="34" charset="-122"/>
                <a:cs typeface="Trebuchet MS" pitchFamily="34" charset="-120"/>
              </a:rPr>
              <a:t>PAYMENT / SERVICE</a:t>
            </a:r>
            <a:endParaRPr lang="en-US" sz="1000"/>
          </a:p>
        </p:txBody>
      </p:sp>
      <p:sp>
        <p:nvSpPr>
          <p:cNvPr id="31" name="kpi tile">
            <a:extLst>
              <a:ext uri="{C183D7F6-B498-43B3-948B-1728B52AA6E4}">
                <adec:decorative xmlns:adec="http://schemas.microsoft.com/office/drawing/2017/decorative" val="1"/>
              </a:ext>
            </a:extLst>
          </p:cNvPr>
          <p:cNvSpPr/>
          <p:nvPr/>
        </p:nvSpPr>
        <p:spPr>
          <a:xfrm>
            <a:off x="8888960" y="2560000"/>
            <a:ext cx="2492960" cy="760000"/>
          </a:xfrm>
          <a:prstGeom prst="rect">
            <a:avLst/>
          </a:prstGeom>
          <a:solidFill>
            <a:srgbClr val="F8FAFC"/>
          </a:solidFill>
          <a:ln w="9525">
            <a:solidFill>
              <a:srgbClr val="E2E8F0"/>
            </a:solidFill>
          </a:ln>
        </p:spPr>
        <p:txBody>
          <a:bodyPr/>
          <a:lstStyle/>
          <a:p>
            <a:endParaRPr lang="en-US"/>
          </a:p>
        </p:txBody>
      </p:sp>
      <p:sp>
        <p:nvSpPr>
          <p:cNvPr id="32" name="kpi accent">
            <a:extLst>
              <a:ext uri="{C183D7F6-B498-43B3-948B-1728B52AA6E4}">
                <adec:decorative xmlns:adec="http://schemas.microsoft.com/office/drawing/2017/decorative" val="1"/>
              </a:ext>
            </a:extLst>
          </p:cNvPr>
          <p:cNvSpPr/>
          <p:nvPr/>
        </p:nvSpPr>
        <p:spPr>
          <a:xfrm>
            <a:off x="8888960" y="2560000"/>
            <a:ext cx="52000" cy="760000"/>
          </a:xfrm>
          <a:prstGeom prst="rect">
            <a:avLst/>
          </a:prstGeom>
          <a:solidFill>
            <a:srgbClr val="6BA5D7"/>
          </a:solidFill>
          <a:ln/>
        </p:spPr>
        <p:txBody>
          <a:bodyPr/>
          <a:lstStyle/>
          <a:p>
            <a:endParaRPr lang="en-US"/>
          </a:p>
        </p:txBody>
      </p:sp>
      <p:sp>
        <p:nvSpPr>
          <p:cNvPr id="33" name="kpi val"/>
          <p:cNvSpPr/>
          <p:nvPr/>
        </p:nvSpPr>
        <p:spPr>
          <a:xfrm>
            <a:off x="9038960" y="2630000"/>
            <a:ext cx="2272960" cy="380000"/>
          </a:xfrm>
          <a:prstGeom prst="rect">
            <a:avLst/>
          </a:prstGeom>
          <a:noFill/>
          <a:ln/>
        </p:spPr>
        <p:txBody>
          <a:bodyPr wrap="square" lIns="0" tIns="0" rIns="0" bIns="0" rtlCol="0" anchor="ctr"/>
          <a:lstStyle/>
          <a:p>
            <a:pPr marL="0" indent="0" algn="l">
              <a:buNone/>
            </a:pPr>
            <a:r>
              <a:rPr lang="en-US" sz="1550" b="1" kern="0">
                <a:solidFill>
                  <a:srgbClr val="4E79A7"/>
                </a:solidFill>
                <a:latin typeface="Consolas" pitchFamily="34" charset="0"/>
                <a:ea typeface="Consolas" pitchFamily="34" charset="-122"/>
                <a:cs typeface="Consolas" pitchFamily="34" charset="-120"/>
              </a:rPr>
              <a:t>76.8%</a:t>
            </a:r>
            <a:endParaRPr lang="en-US" sz="1000"/>
          </a:p>
        </p:txBody>
      </p:sp>
      <p:sp>
        <p:nvSpPr>
          <p:cNvPr id="34" name="kpi label"/>
          <p:cNvSpPr/>
          <p:nvPr/>
        </p:nvSpPr>
        <p:spPr>
          <a:xfrm>
            <a:off x="9038960" y="3030000"/>
            <a:ext cx="2272960" cy="240000"/>
          </a:xfrm>
          <a:prstGeom prst="rect">
            <a:avLst/>
          </a:prstGeom>
          <a:noFill/>
          <a:ln/>
        </p:spPr>
        <p:txBody>
          <a:bodyPr wrap="square" lIns="0" tIns="0" rIns="0" bIns="0" rtlCol="0" anchor="ctr"/>
          <a:lstStyle/>
          <a:p>
            <a:pPr marL="0" indent="0" algn="l">
              <a:buNone/>
            </a:pPr>
            <a:r>
              <a:rPr lang="en-US" sz="800" b="1" kern="0" spc="120">
                <a:solidFill>
                  <a:srgbClr val="2B2A45"/>
                </a:solidFill>
                <a:latin typeface="Trebuchet MS" pitchFamily="34" charset="0"/>
                <a:ea typeface="Trebuchet MS" pitchFamily="34" charset="-122"/>
                <a:cs typeface="Trebuchet MS" pitchFamily="34" charset="-120"/>
              </a:rPr>
              <a:t>PAYMENT RATE</a:t>
            </a:r>
            <a:endParaRPr lang="en-US" sz="1000"/>
          </a:p>
        </p:txBody>
      </p:sp>
      <p:sp>
        <p:nvSpPr>
          <p:cNvPr id="35" name="lp title"/>
          <p:cNvSpPr/>
          <p:nvPr/>
        </p:nvSpPr>
        <p:spPr>
          <a:xfrm>
            <a:off x="810080" y="3460000"/>
            <a:ext cx="3575920" cy="260000"/>
          </a:xfrm>
          <a:prstGeom prst="rect">
            <a:avLst/>
          </a:prstGeom>
          <a:noFill/>
          <a:ln/>
        </p:spPr>
        <p:txBody>
          <a:bodyPr wrap="square" lIns="0" tIns="0" rIns="0" bIns="0" rtlCol="0" anchor="ctr"/>
          <a:lstStyle/>
          <a:p>
            <a:pPr marL="0" indent="0" algn="l">
              <a:buNone/>
            </a:pPr>
            <a:r>
              <a:rPr lang="en-US" sz="900" b="1" kern="0" spc="100">
                <a:solidFill>
                  <a:srgbClr val="2B2A45"/>
                </a:solidFill>
                <a:latin typeface="Trebuchet MS" pitchFamily="34" charset="0"/>
                <a:ea typeface="Trebuchet MS" pitchFamily="34" charset="-122"/>
                <a:cs typeface="Trebuchet MS" pitchFamily="34" charset="-120"/>
              </a:rPr>
              <a:t>MEDICARE PAYMENTS BY YEAR ($B)</a:t>
            </a:r>
            <a:endParaRPr lang="en-US" sz="1000"/>
          </a:p>
        </p:txBody>
      </p:sp>
      <p:sp>
        <p:nvSpPr>
          <p:cNvPr id="36" name="lp tag"/>
          <p:cNvSpPr/>
          <p:nvPr/>
        </p:nvSpPr>
        <p:spPr>
          <a:xfrm>
            <a:off x="4386000" y="3460000"/>
            <a:ext cx="1600000" cy="260000"/>
          </a:xfrm>
          <a:prstGeom prst="rect">
            <a:avLst/>
          </a:prstGeom>
          <a:noFill/>
          <a:ln/>
        </p:spPr>
        <p:txBody>
          <a:bodyPr wrap="square" lIns="0" tIns="0" rIns="0" bIns="0" rtlCol="0" anchor="ctr"/>
          <a:lstStyle/>
          <a:p>
            <a:pPr marL="0" indent="0" algn="r">
              <a:buNone/>
            </a:pPr>
            <a:r>
              <a:rPr lang="en-US" sz="800" b="1" kern="0" spc="50">
                <a:solidFill>
                  <a:srgbClr val="4E79A7"/>
                </a:solidFill>
                <a:latin typeface="Trebuchet MS" pitchFamily="34" charset="0"/>
                <a:ea typeface="Trebuchet MS" pitchFamily="34" charset="-122"/>
                <a:cs typeface="Trebuchet MS" pitchFamily="34" charset="-120"/>
              </a:rPr>
              <a:t>▲ +13.6% / 2 YRS</a:t>
            </a:r>
            <a:endParaRPr lang="en-US" sz="1000"/>
          </a:p>
        </p:txBody>
      </p:sp>
      <p:sp>
        <p:nvSpPr>
          <p:cNvPr id="37" name="baseline">
            <a:extLst>
              <a:ext uri="{C183D7F6-B498-43B3-948B-1728B52AA6E4}">
                <adec:decorative xmlns:adec="http://schemas.microsoft.com/office/drawing/2017/decorative" val="1"/>
              </a:ext>
            </a:extLst>
          </p:cNvPr>
          <p:cNvSpPr/>
          <p:nvPr/>
        </p:nvSpPr>
        <p:spPr>
          <a:xfrm>
            <a:off x="1150080" y="5760000"/>
            <a:ext cx="4675920" cy="10000"/>
          </a:xfrm>
          <a:prstGeom prst="rect">
            <a:avLst/>
          </a:prstGeom>
          <a:solidFill>
            <a:srgbClr val="CBD5E1"/>
          </a:solidFill>
          <a:ln/>
        </p:spPr>
        <p:txBody>
          <a:bodyPr/>
          <a:lstStyle/>
          <a:p>
            <a:endParaRPr lang="en-US"/>
          </a:p>
        </p:txBody>
      </p:sp>
      <p:sp>
        <p:nvSpPr>
          <p:cNvPr id="38" name="ybar">
            <a:extLst>
              <a:ext uri="{C183D7F6-B498-43B3-948B-1728B52AA6E4}">
                <adec:decorative xmlns:adec="http://schemas.microsoft.com/office/drawing/2017/decorative" val="1"/>
              </a:ext>
            </a:extLst>
          </p:cNvPr>
          <p:cNvSpPr/>
          <p:nvPr/>
        </p:nvSpPr>
        <p:spPr>
          <a:xfrm>
            <a:off x="1629400" y="4158345"/>
            <a:ext cx="600000" cy="1601655"/>
          </a:xfrm>
          <a:prstGeom prst="rect">
            <a:avLst/>
          </a:prstGeom>
          <a:solidFill>
            <a:srgbClr val="94A3B8"/>
          </a:solidFill>
          <a:ln/>
        </p:spPr>
        <p:txBody>
          <a:bodyPr/>
          <a:lstStyle/>
          <a:p>
            <a:endParaRPr lang="en-US"/>
          </a:p>
        </p:txBody>
      </p:sp>
      <p:sp>
        <p:nvSpPr>
          <p:cNvPr id="39" name="ybar val"/>
          <p:cNvSpPr/>
          <p:nvPr/>
        </p:nvSpPr>
        <p:spPr>
          <a:xfrm>
            <a:off x="1529400" y="3898345"/>
            <a:ext cx="800000" cy="240000"/>
          </a:xfrm>
          <a:prstGeom prst="rect">
            <a:avLst/>
          </a:prstGeom>
          <a:noFill/>
          <a:ln/>
        </p:spPr>
        <p:txBody>
          <a:bodyPr wrap="square" lIns="0" tIns="0" rIns="0" bIns="0" rtlCol="0" anchor="ctr"/>
          <a:lstStyle/>
          <a:p>
            <a:pPr marL="0" indent="0" algn="ctr">
              <a:buNone/>
            </a:pPr>
            <a:r>
              <a:rPr lang="en-US" sz="850" b="1" kern="0">
                <a:solidFill>
                  <a:srgbClr val="334155"/>
                </a:solidFill>
                <a:latin typeface="Consolas" pitchFamily="34" charset="0"/>
                <a:ea typeface="Consolas" pitchFamily="34" charset="-122"/>
                <a:cs typeface="Consolas" pitchFamily="34" charset="-120"/>
              </a:rPr>
              <a:t>115.9</a:t>
            </a:r>
            <a:endParaRPr lang="en-US" sz="1000"/>
          </a:p>
        </p:txBody>
      </p:sp>
      <p:sp>
        <p:nvSpPr>
          <p:cNvPr id="40" name="ybar lab"/>
          <p:cNvSpPr/>
          <p:nvPr/>
        </p:nvSpPr>
        <p:spPr>
          <a:xfrm>
            <a:off x="1529400" y="5800000"/>
            <a:ext cx="800000" cy="230000"/>
          </a:xfrm>
          <a:prstGeom prst="rect">
            <a:avLst/>
          </a:prstGeom>
          <a:noFill/>
          <a:ln/>
        </p:spPr>
        <p:txBody>
          <a:bodyPr wrap="square" lIns="0" tIns="0" rIns="0" bIns="0" rtlCol="0" anchor="ctr"/>
          <a:lstStyle/>
          <a:p>
            <a:pPr marL="0" indent="0" algn="ctr">
              <a:buNone/>
            </a:pPr>
            <a:r>
              <a:rPr lang="en-US" sz="850" kern="0">
                <a:solidFill>
                  <a:srgbClr val="7C7E96"/>
                </a:solidFill>
                <a:latin typeface="Calibri" pitchFamily="34" charset="0"/>
                <a:ea typeface="Calibri" pitchFamily="34" charset="-122"/>
                <a:cs typeface="Calibri" pitchFamily="34" charset="-120"/>
              </a:rPr>
              <a:t>2022</a:t>
            </a:r>
            <a:endParaRPr lang="en-US" sz="1000"/>
          </a:p>
        </p:txBody>
      </p:sp>
      <p:sp>
        <p:nvSpPr>
          <p:cNvPr id="41" name="ybar">
            <a:extLst>
              <a:ext uri="{C183D7F6-B498-43B3-948B-1728B52AA6E4}">
                <adec:decorative xmlns:adec="http://schemas.microsoft.com/office/drawing/2017/decorative" val="1"/>
              </a:ext>
            </a:extLst>
          </p:cNvPr>
          <p:cNvSpPr/>
          <p:nvPr/>
        </p:nvSpPr>
        <p:spPr>
          <a:xfrm>
            <a:off x="3188040" y="4022916"/>
            <a:ext cx="600000" cy="1737084"/>
          </a:xfrm>
          <a:prstGeom prst="rect">
            <a:avLst/>
          </a:prstGeom>
          <a:solidFill>
            <a:srgbClr val="94A3B8"/>
          </a:solidFill>
          <a:ln/>
        </p:spPr>
        <p:txBody>
          <a:bodyPr/>
          <a:lstStyle/>
          <a:p>
            <a:endParaRPr lang="en-US"/>
          </a:p>
        </p:txBody>
      </p:sp>
      <p:sp>
        <p:nvSpPr>
          <p:cNvPr id="42" name="ybar val"/>
          <p:cNvSpPr/>
          <p:nvPr/>
        </p:nvSpPr>
        <p:spPr>
          <a:xfrm>
            <a:off x="3088040" y="3762916"/>
            <a:ext cx="800000" cy="240000"/>
          </a:xfrm>
          <a:prstGeom prst="rect">
            <a:avLst/>
          </a:prstGeom>
          <a:noFill/>
          <a:ln/>
        </p:spPr>
        <p:txBody>
          <a:bodyPr wrap="square" lIns="0" tIns="0" rIns="0" bIns="0" rtlCol="0" anchor="ctr"/>
          <a:lstStyle/>
          <a:p>
            <a:pPr marL="0" indent="0" algn="ctr">
              <a:buNone/>
            </a:pPr>
            <a:r>
              <a:rPr lang="en-US" sz="850" b="1" kern="0">
                <a:solidFill>
                  <a:srgbClr val="334155"/>
                </a:solidFill>
                <a:latin typeface="Consolas" pitchFamily="34" charset="0"/>
                <a:ea typeface="Consolas" pitchFamily="34" charset="-122"/>
                <a:cs typeface="Consolas" pitchFamily="34" charset="-120"/>
              </a:rPr>
              <a:t>125.7</a:t>
            </a:r>
            <a:endParaRPr lang="en-US" sz="1000"/>
          </a:p>
        </p:txBody>
      </p:sp>
      <p:sp>
        <p:nvSpPr>
          <p:cNvPr id="43" name="ybar lab"/>
          <p:cNvSpPr/>
          <p:nvPr/>
        </p:nvSpPr>
        <p:spPr>
          <a:xfrm>
            <a:off x="3088040" y="5800000"/>
            <a:ext cx="800000" cy="230000"/>
          </a:xfrm>
          <a:prstGeom prst="rect">
            <a:avLst/>
          </a:prstGeom>
          <a:noFill/>
          <a:ln/>
        </p:spPr>
        <p:txBody>
          <a:bodyPr wrap="square" lIns="0" tIns="0" rIns="0" bIns="0" rtlCol="0" anchor="ctr"/>
          <a:lstStyle/>
          <a:p>
            <a:pPr marL="0" indent="0" algn="ctr">
              <a:buNone/>
            </a:pPr>
            <a:r>
              <a:rPr lang="en-US" sz="850" kern="0">
                <a:solidFill>
                  <a:srgbClr val="7C7E96"/>
                </a:solidFill>
                <a:latin typeface="Calibri" pitchFamily="34" charset="0"/>
                <a:ea typeface="Calibri" pitchFamily="34" charset="-122"/>
                <a:cs typeface="Calibri" pitchFamily="34" charset="-120"/>
              </a:rPr>
              <a:t>2023</a:t>
            </a:r>
            <a:endParaRPr lang="en-US" sz="1000"/>
          </a:p>
        </p:txBody>
      </p:sp>
      <p:sp>
        <p:nvSpPr>
          <p:cNvPr id="44" name="ybar">
            <a:extLst>
              <a:ext uri="{C183D7F6-B498-43B3-948B-1728B52AA6E4}">
                <adec:decorative xmlns:adec="http://schemas.microsoft.com/office/drawing/2017/decorative" val="1"/>
              </a:ext>
            </a:extLst>
          </p:cNvPr>
          <p:cNvSpPr/>
          <p:nvPr/>
        </p:nvSpPr>
        <p:spPr>
          <a:xfrm>
            <a:off x="4746680" y="3940000"/>
            <a:ext cx="600000" cy="1820000"/>
          </a:xfrm>
          <a:prstGeom prst="rect">
            <a:avLst/>
          </a:prstGeom>
          <a:solidFill>
            <a:srgbClr val="6BA5D7"/>
          </a:solidFill>
          <a:ln/>
        </p:spPr>
        <p:txBody>
          <a:bodyPr/>
          <a:lstStyle/>
          <a:p>
            <a:endParaRPr lang="en-US"/>
          </a:p>
        </p:txBody>
      </p:sp>
      <p:sp>
        <p:nvSpPr>
          <p:cNvPr id="45" name="ybar val"/>
          <p:cNvSpPr/>
          <p:nvPr/>
        </p:nvSpPr>
        <p:spPr>
          <a:xfrm>
            <a:off x="4646680" y="3680000"/>
            <a:ext cx="800000" cy="240000"/>
          </a:xfrm>
          <a:prstGeom prst="rect">
            <a:avLst/>
          </a:prstGeom>
          <a:noFill/>
          <a:ln/>
        </p:spPr>
        <p:txBody>
          <a:bodyPr wrap="square" lIns="0" tIns="0" rIns="0" bIns="0" rtlCol="0" anchor="ctr"/>
          <a:lstStyle/>
          <a:p>
            <a:pPr marL="0" indent="0" algn="ctr">
              <a:buNone/>
            </a:pPr>
            <a:r>
              <a:rPr lang="en-US" sz="850" b="1" kern="0">
                <a:solidFill>
                  <a:srgbClr val="4E79A7"/>
                </a:solidFill>
                <a:latin typeface="Consolas" pitchFamily="34" charset="0"/>
                <a:ea typeface="Consolas" pitchFamily="34" charset="-122"/>
                <a:cs typeface="Consolas" pitchFamily="34" charset="-120"/>
              </a:rPr>
              <a:t>131.7</a:t>
            </a:r>
            <a:endParaRPr lang="en-US" sz="1000"/>
          </a:p>
        </p:txBody>
      </p:sp>
      <p:sp>
        <p:nvSpPr>
          <p:cNvPr id="46" name="ybar lab"/>
          <p:cNvSpPr/>
          <p:nvPr/>
        </p:nvSpPr>
        <p:spPr>
          <a:xfrm>
            <a:off x="4646680" y="5800000"/>
            <a:ext cx="800000" cy="230000"/>
          </a:xfrm>
          <a:prstGeom prst="rect">
            <a:avLst/>
          </a:prstGeom>
          <a:noFill/>
          <a:ln/>
        </p:spPr>
        <p:txBody>
          <a:bodyPr wrap="square" lIns="0" tIns="0" rIns="0" bIns="0" rtlCol="0" anchor="ctr"/>
          <a:lstStyle/>
          <a:p>
            <a:pPr marL="0" indent="0" algn="ctr">
              <a:buNone/>
            </a:pPr>
            <a:r>
              <a:rPr lang="en-US" sz="850" kern="0">
                <a:solidFill>
                  <a:srgbClr val="7C7E96"/>
                </a:solidFill>
                <a:latin typeface="Calibri" pitchFamily="34" charset="0"/>
                <a:ea typeface="Calibri" pitchFamily="34" charset="-122"/>
                <a:cs typeface="Calibri" pitchFamily="34" charset="-120"/>
              </a:rPr>
              <a:t>2024</a:t>
            </a:r>
            <a:endParaRPr lang="en-US" sz="1000"/>
          </a:p>
        </p:txBody>
      </p:sp>
      <p:sp>
        <p:nvSpPr>
          <p:cNvPr id="47" name="rp title"/>
          <p:cNvSpPr/>
          <p:nvPr/>
        </p:nvSpPr>
        <p:spPr>
          <a:xfrm>
            <a:off x="6206000" y="3460000"/>
            <a:ext cx="5175920" cy="260000"/>
          </a:xfrm>
          <a:prstGeom prst="rect">
            <a:avLst/>
          </a:prstGeom>
          <a:noFill/>
          <a:ln/>
        </p:spPr>
        <p:txBody>
          <a:bodyPr wrap="square" lIns="0" tIns="0" rIns="0" bIns="0" rtlCol="0" anchor="ctr"/>
          <a:lstStyle/>
          <a:p>
            <a:pPr marL="0" indent="0" algn="l">
              <a:buNone/>
            </a:pPr>
            <a:r>
              <a:rPr lang="en-US" sz="900" b="1" kern="0" spc="100">
                <a:solidFill>
                  <a:srgbClr val="2B2A45"/>
                </a:solidFill>
                <a:latin typeface="Trebuchet MS" pitchFamily="34" charset="0"/>
                <a:ea typeface="Trebuchet MS" pitchFamily="34" charset="-122"/>
                <a:cs typeface="Trebuchet MS" pitchFamily="34" charset="-120"/>
              </a:rPr>
              <a:t>TOP SPECIALTIES BY PAYMENT ($B, CY22)</a:t>
            </a:r>
            <a:endParaRPr lang="en-US" sz="1000"/>
          </a:p>
        </p:txBody>
      </p:sp>
      <p:sp>
        <p:nvSpPr>
          <p:cNvPr id="48" name="spec name"/>
          <p:cNvSpPr/>
          <p:nvPr/>
        </p:nvSpPr>
        <p:spPr>
          <a:xfrm>
            <a:off x="6226000" y="3820000"/>
            <a:ext cx="1740000" cy="372000"/>
          </a:xfrm>
          <a:prstGeom prst="rect">
            <a:avLst/>
          </a:prstGeom>
          <a:noFill/>
          <a:ln/>
        </p:spPr>
        <p:txBody>
          <a:bodyPr wrap="square" lIns="0" tIns="0" rIns="0" bIns="0" rtlCol="0" anchor="ctr"/>
          <a:lstStyle/>
          <a:p>
            <a:pPr marL="0" indent="0" algn="l">
              <a:buNone/>
            </a:pPr>
            <a:r>
              <a:rPr lang="en-US" sz="800" kern="0">
                <a:solidFill>
                  <a:srgbClr val="2B2A45"/>
                </a:solidFill>
                <a:latin typeface="Calibri" pitchFamily="34" charset="0"/>
                <a:ea typeface="Calibri" pitchFamily="34" charset="-122"/>
                <a:cs typeface="Calibri" pitchFamily="34" charset="-120"/>
              </a:rPr>
              <a:t>Internal Medicine</a:t>
            </a:r>
            <a:endParaRPr lang="en-US" sz="1000"/>
          </a:p>
        </p:txBody>
      </p:sp>
      <p:sp>
        <p:nvSpPr>
          <p:cNvPr id="49" name="spec bar">
            <a:extLst>
              <a:ext uri="{C183D7F6-B498-43B3-948B-1728B52AA6E4}">
                <adec:decorative xmlns:adec="http://schemas.microsoft.com/office/drawing/2017/decorative" val="1"/>
              </a:ext>
            </a:extLst>
          </p:cNvPr>
          <p:cNvSpPr/>
          <p:nvPr/>
        </p:nvSpPr>
        <p:spPr>
          <a:xfrm>
            <a:off x="7986000" y="3906000"/>
            <a:ext cx="2675920" cy="200000"/>
          </a:xfrm>
          <a:prstGeom prst="rect">
            <a:avLst/>
          </a:prstGeom>
          <a:solidFill>
            <a:srgbClr val="6BA5D7"/>
          </a:solidFill>
          <a:ln/>
        </p:spPr>
        <p:txBody>
          <a:bodyPr/>
          <a:lstStyle/>
          <a:p>
            <a:endParaRPr lang="en-US"/>
          </a:p>
        </p:txBody>
      </p:sp>
      <p:sp>
        <p:nvSpPr>
          <p:cNvPr id="50" name="spec val"/>
          <p:cNvSpPr/>
          <p:nvPr/>
        </p:nvSpPr>
        <p:spPr>
          <a:xfrm>
            <a:off x="10701920" y="3820000"/>
            <a:ext cx="520000" cy="372000"/>
          </a:xfrm>
          <a:prstGeom prst="rect">
            <a:avLst/>
          </a:prstGeom>
          <a:noFill/>
          <a:ln/>
        </p:spPr>
        <p:txBody>
          <a:bodyPr wrap="square" lIns="0" tIns="0" rIns="0" bIns="0" rtlCol="0" anchor="ctr"/>
          <a:lstStyle/>
          <a:p>
            <a:pPr marL="0" indent="0" algn="l">
              <a:buNone/>
            </a:pPr>
            <a:r>
              <a:rPr lang="en-US" sz="750" b="1" kern="0">
                <a:solidFill>
                  <a:srgbClr val="4E79A7"/>
                </a:solidFill>
                <a:latin typeface="Consolas" pitchFamily="34" charset="0"/>
                <a:ea typeface="Consolas" pitchFamily="34" charset="-122"/>
                <a:cs typeface="Consolas" pitchFamily="34" charset="-120"/>
              </a:rPr>
              <a:t>7.29</a:t>
            </a:r>
            <a:endParaRPr lang="en-US" sz="1000"/>
          </a:p>
        </p:txBody>
      </p:sp>
      <p:sp>
        <p:nvSpPr>
          <p:cNvPr id="51" name="spec name"/>
          <p:cNvSpPr/>
          <p:nvPr/>
        </p:nvSpPr>
        <p:spPr>
          <a:xfrm>
            <a:off x="6226000" y="4192000"/>
            <a:ext cx="1740000" cy="372000"/>
          </a:xfrm>
          <a:prstGeom prst="rect">
            <a:avLst/>
          </a:prstGeom>
          <a:noFill/>
          <a:ln/>
        </p:spPr>
        <p:txBody>
          <a:bodyPr wrap="square" lIns="0" tIns="0" rIns="0" bIns="0" rtlCol="0" anchor="ctr"/>
          <a:lstStyle/>
          <a:p>
            <a:pPr marL="0" indent="0" algn="l">
              <a:buNone/>
            </a:pPr>
            <a:r>
              <a:rPr lang="en-US" sz="800" kern="0">
                <a:solidFill>
                  <a:srgbClr val="2B2A45"/>
                </a:solidFill>
                <a:latin typeface="Calibri" pitchFamily="34" charset="0"/>
                <a:ea typeface="Calibri" pitchFamily="34" charset="-122"/>
                <a:cs typeface="Calibri" pitchFamily="34" charset="-120"/>
              </a:rPr>
              <a:t>Ophthalmology</a:t>
            </a:r>
            <a:endParaRPr lang="en-US" sz="1000"/>
          </a:p>
        </p:txBody>
      </p:sp>
      <p:sp>
        <p:nvSpPr>
          <p:cNvPr id="52" name="spec bar">
            <a:extLst>
              <a:ext uri="{C183D7F6-B498-43B3-948B-1728B52AA6E4}">
                <adec:decorative xmlns:adec="http://schemas.microsoft.com/office/drawing/2017/decorative" val="1"/>
              </a:ext>
            </a:extLst>
          </p:cNvPr>
          <p:cNvSpPr/>
          <p:nvPr/>
        </p:nvSpPr>
        <p:spPr>
          <a:xfrm>
            <a:off x="7986000" y="4278000"/>
            <a:ext cx="2661237" cy="200000"/>
          </a:xfrm>
          <a:prstGeom prst="rect">
            <a:avLst/>
          </a:prstGeom>
          <a:solidFill>
            <a:srgbClr val="6BA5D7"/>
          </a:solidFill>
          <a:ln/>
        </p:spPr>
        <p:txBody>
          <a:bodyPr/>
          <a:lstStyle/>
          <a:p>
            <a:endParaRPr lang="en-US"/>
          </a:p>
        </p:txBody>
      </p:sp>
      <p:sp>
        <p:nvSpPr>
          <p:cNvPr id="53" name="spec val"/>
          <p:cNvSpPr/>
          <p:nvPr/>
        </p:nvSpPr>
        <p:spPr>
          <a:xfrm>
            <a:off x="10687237" y="4192000"/>
            <a:ext cx="520000" cy="372000"/>
          </a:xfrm>
          <a:prstGeom prst="rect">
            <a:avLst/>
          </a:prstGeom>
          <a:noFill/>
          <a:ln/>
        </p:spPr>
        <p:txBody>
          <a:bodyPr wrap="square" lIns="0" tIns="0" rIns="0" bIns="0" rtlCol="0" anchor="ctr"/>
          <a:lstStyle/>
          <a:p>
            <a:pPr marL="0" indent="0" algn="l">
              <a:buNone/>
            </a:pPr>
            <a:r>
              <a:rPr lang="en-US" sz="750" b="1" kern="0">
                <a:solidFill>
                  <a:srgbClr val="4E79A7"/>
                </a:solidFill>
                <a:latin typeface="Consolas" pitchFamily="34" charset="0"/>
                <a:ea typeface="Consolas" pitchFamily="34" charset="-122"/>
                <a:cs typeface="Consolas" pitchFamily="34" charset="-120"/>
              </a:rPr>
              <a:t>7.25</a:t>
            </a:r>
            <a:endParaRPr lang="en-US" sz="1000"/>
          </a:p>
        </p:txBody>
      </p:sp>
      <p:sp>
        <p:nvSpPr>
          <p:cNvPr id="54" name="spec name"/>
          <p:cNvSpPr/>
          <p:nvPr/>
        </p:nvSpPr>
        <p:spPr>
          <a:xfrm>
            <a:off x="6226000" y="4564000"/>
            <a:ext cx="1740000" cy="372000"/>
          </a:xfrm>
          <a:prstGeom prst="rect">
            <a:avLst/>
          </a:prstGeom>
          <a:noFill/>
          <a:ln/>
        </p:spPr>
        <p:txBody>
          <a:bodyPr wrap="square" lIns="0" tIns="0" rIns="0" bIns="0" rtlCol="0" anchor="ctr"/>
          <a:lstStyle/>
          <a:p>
            <a:pPr marL="0" indent="0" algn="l">
              <a:buNone/>
            </a:pPr>
            <a:r>
              <a:rPr lang="en-US" sz="800" kern="0">
                <a:solidFill>
                  <a:srgbClr val="2B2A45"/>
                </a:solidFill>
                <a:latin typeface="Calibri" pitchFamily="34" charset="0"/>
                <a:ea typeface="Calibri" pitchFamily="34" charset="-122"/>
                <a:cs typeface="Calibri" pitchFamily="34" charset="-120"/>
              </a:rPr>
              <a:t>Clinical Laboratory</a:t>
            </a:r>
            <a:endParaRPr lang="en-US" sz="1000"/>
          </a:p>
        </p:txBody>
      </p:sp>
      <p:sp>
        <p:nvSpPr>
          <p:cNvPr id="55" name="spec bar">
            <a:extLst>
              <a:ext uri="{C183D7F6-B498-43B3-948B-1728B52AA6E4}">
                <adec:decorative xmlns:adec="http://schemas.microsoft.com/office/drawing/2017/decorative" val="1"/>
              </a:ext>
            </a:extLst>
          </p:cNvPr>
          <p:cNvSpPr/>
          <p:nvPr/>
        </p:nvSpPr>
        <p:spPr>
          <a:xfrm>
            <a:off x="7986000" y="4650000"/>
            <a:ext cx="2367583" cy="200000"/>
          </a:xfrm>
          <a:prstGeom prst="rect">
            <a:avLst/>
          </a:prstGeom>
          <a:solidFill>
            <a:srgbClr val="6BA5D7"/>
          </a:solidFill>
          <a:ln/>
        </p:spPr>
        <p:txBody>
          <a:bodyPr/>
          <a:lstStyle/>
          <a:p>
            <a:endParaRPr lang="en-US"/>
          </a:p>
        </p:txBody>
      </p:sp>
      <p:sp>
        <p:nvSpPr>
          <p:cNvPr id="56" name="spec val"/>
          <p:cNvSpPr/>
          <p:nvPr/>
        </p:nvSpPr>
        <p:spPr>
          <a:xfrm>
            <a:off x="10393583" y="4564000"/>
            <a:ext cx="520000" cy="372000"/>
          </a:xfrm>
          <a:prstGeom prst="rect">
            <a:avLst/>
          </a:prstGeom>
          <a:noFill/>
          <a:ln/>
        </p:spPr>
        <p:txBody>
          <a:bodyPr wrap="square" lIns="0" tIns="0" rIns="0" bIns="0" rtlCol="0" anchor="ctr"/>
          <a:lstStyle/>
          <a:p>
            <a:pPr marL="0" indent="0" algn="l">
              <a:buNone/>
            </a:pPr>
            <a:r>
              <a:rPr lang="en-US" sz="750" b="1" kern="0">
                <a:solidFill>
                  <a:srgbClr val="4E79A7"/>
                </a:solidFill>
                <a:latin typeface="Consolas" pitchFamily="34" charset="0"/>
                <a:ea typeface="Consolas" pitchFamily="34" charset="-122"/>
                <a:cs typeface="Consolas" pitchFamily="34" charset="-120"/>
              </a:rPr>
              <a:t>6.45</a:t>
            </a:r>
            <a:endParaRPr lang="en-US" sz="1000"/>
          </a:p>
        </p:txBody>
      </p:sp>
      <p:sp>
        <p:nvSpPr>
          <p:cNvPr id="57" name="spec name"/>
          <p:cNvSpPr/>
          <p:nvPr/>
        </p:nvSpPr>
        <p:spPr>
          <a:xfrm>
            <a:off x="6226000" y="4936000"/>
            <a:ext cx="1740000" cy="372000"/>
          </a:xfrm>
          <a:prstGeom prst="rect">
            <a:avLst/>
          </a:prstGeom>
          <a:noFill/>
          <a:ln/>
        </p:spPr>
        <p:txBody>
          <a:bodyPr wrap="square" lIns="0" tIns="0" rIns="0" bIns="0" rtlCol="0" anchor="ctr"/>
          <a:lstStyle/>
          <a:p>
            <a:pPr marL="0" indent="0" algn="l">
              <a:buNone/>
            </a:pPr>
            <a:r>
              <a:rPr lang="en-US" sz="800" kern="0">
                <a:solidFill>
                  <a:srgbClr val="2B2A45"/>
                </a:solidFill>
                <a:latin typeface="Calibri" pitchFamily="34" charset="0"/>
                <a:ea typeface="Calibri" pitchFamily="34" charset="-122"/>
                <a:cs typeface="Calibri" pitchFamily="34" charset="-120"/>
              </a:rPr>
              <a:t>Hematology/Oncology</a:t>
            </a:r>
            <a:endParaRPr lang="en-US" sz="1000"/>
          </a:p>
        </p:txBody>
      </p:sp>
      <p:sp>
        <p:nvSpPr>
          <p:cNvPr id="58" name="spec bar">
            <a:extLst>
              <a:ext uri="{C183D7F6-B498-43B3-948B-1728B52AA6E4}">
                <adec:decorative xmlns:adec="http://schemas.microsoft.com/office/drawing/2017/decorative" val="1"/>
              </a:ext>
            </a:extLst>
          </p:cNvPr>
          <p:cNvSpPr/>
          <p:nvPr/>
        </p:nvSpPr>
        <p:spPr>
          <a:xfrm>
            <a:off x="7986000" y="5022000"/>
            <a:ext cx="2312523" cy="200000"/>
          </a:xfrm>
          <a:prstGeom prst="rect">
            <a:avLst/>
          </a:prstGeom>
          <a:solidFill>
            <a:srgbClr val="6BA5D7"/>
          </a:solidFill>
          <a:ln/>
        </p:spPr>
        <p:txBody>
          <a:bodyPr/>
          <a:lstStyle/>
          <a:p>
            <a:endParaRPr lang="en-US"/>
          </a:p>
        </p:txBody>
      </p:sp>
      <p:sp>
        <p:nvSpPr>
          <p:cNvPr id="59" name="spec val"/>
          <p:cNvSpPr/>
          <p:nvPr/>
        </p:nvSpPr>
        <p:spPr>
          <a:xfrm>
            <a:off x="10338523" y="4936000"/>
            <a:ext cx="520000" cy="372000"/>
          </a:xfrm>
          <a:prstGeom prst="rect">
            <a:avLst/>
          </a:prstGeom>
          <a:noFill/>
          <a:ln/>
        </p:spPr>
        <p:txBody>
          <a:bodyPr wrap="square" lIns="0" tIns="0" rIns="0" bIns="0" rtlCol="0" anchor="ctr"/>
          <a:lstStyle/>
          <a:p>
            <a:pPr marL="0" indent="0" algn="l">
              <a:buNone/>
            </a:pPr>
            <a:r>
              <a:rPr lang="en-US" sz="750" b="1" kern="0">
                <a:solidFill>
                  <a:srgbClr val="4E79A7"/>
                </a:solidFill>
                <a:latin typeface="Consolas" pitchFamily="34" charset="0"/>
                <a:ea typeface="Consolas" pitchFamily="34" charset="-122"/>
                <a:cs typeface="Consolas" pitchFamily="34" charset="-120"/>
              </a:rPr>
              <a:t>6.30</a:t>
            </a:r>
            <a:endParaRPr lang="en-US" sz="1000"/>
          </a:p>
        </p:txBody>
      </p:sp>
      <p:sp>
        <p:nvSpPr>
          <p:cNvPr id="60" name="spec name"/>
          <p:cNvSpPr/>
          <p:nvPr/>
        </p:nvSpPr>
        <p:spPr>
          <a:xfrm>
            <a:off x="6226000" y="5308000"/>
            <a:ext cx="1740000" cy="372000"/>
          </a:xfrm>
          <a:prstGeom prst="rect">
            <a:avLst/>
          </a:prstGeom>
          <a:noFill/>
          <a:ln/>
        </p:spPr>
        <p:txBody>
          <a:bodyPr wrap="square" lIns="0" tIns="0" rIns="0" bIns="0" rtlCol="0" anchor="ctr"/>
          <a:lstStyle/>
          <a:p>
            <a:pPr marL="0" indent="0" algn="l">
              <a:buNone/>
            </a:pPr>
            <a:r>
              <a:rPr lang="en-US" sz="800" kern="0">
                <a:solidFill>
                  <a:srgbClr val="2B2A45"/>
                </a:solidFill>
                <a:latin typeface="Calibri" pitchFamily="34" charset="0"/>
                <a:ea typeface="Calibri" pitchFamily="34" charset="-122"/>
                <a:cs typeface="Calibri" pitchFamily="34" charset="-120"/>
              </a:rPr>
              <a:t>Nurse Practitioner</a:t>
            </a:r>
            <a:endParaRPr lang="en-US" sz="1000"/>
          </a:p>
        </p:txBody>
      </p:sp>
      <p:sp>
        <p:nvSpPr>
          <p:cNvPr id="61" name="spec bar">
            <a:extLst>
              <a:ext uri="{C183D7F6-B498-43B3-948B-1728B52AA6E4}">
                <adec:decorative xmlns:adec="http://schemas.microsoft.com/office/drawing/2017/decorative" val="1"/>
              </a:ext>
            </a:extLst>
          </p:cNvPr>
          <p:cNvSpPr/>
          <p:nvPr/>
        </p:nvSpPr>
        <p:spPr>
          <a:xfrm>
            <a:off x="7986000" y="5394000"/>
            <a:ext cx="2037223" cy="200000"/>
          </a:xfrm>
          <a:prstGeom prst="rect">
            <a:avLst/>
          </a:prstGeom>
          <a:solidFill>
            <a:srgbClr val="6BA5D7"/>
          </a:solidFill>
          <a:ln/>
        </p:spPr>
        <p:txBody>
          <a:bodyPr/>
          <a:lstStyle/>
          <a:p>
            <a:endParaRPr lang="en-US"/>
          </a:p>
        </p:txBody>
      </p:sp>
      <p:sp>
        <p:nvSpPr>
          <p:cNvPr id="62" name="spec val"/>
          <p:cNvSpPr/>
          <p:nvPr/>
        </p:nvSpPr>
        <p:spPr>
          <a:xfrm>
            <a:off x="10063223" y="5308000"/>
            <a:ext cx="520000" cy="372000"/>
          </a:xfrm>
          <a:prstGeom prst="rect">
            <a:avLst/>
          </a:prstGeom>
          <a:noFill/>
          <a:ln/>
        </p:spPr>
        <p:txBody>
          <a:bodyPr wrap="square" lIns="0" tIns="0" rIns="0" bIns="0" rtlCol="0" anchor="ctr"/>
          <a:lstStyle/>
          <a:p>
            <a:pPr marL="0" indent="0" algn="l">
              <a:buNone/>
            </a:pPr>
            <a:r>
              <a:rPr lang="en-US" sz="750" b="1" kern="0">
                <a:solidFill>
                  <a:srgbClr val="4E79A7"/>
                </a:solidFill>
                <a:latin typeface="Consolas" pitchFamily="34" charset="0"/>
                <a:ea typeface="Consolas" pitchFamily="34" charset="-122"/>
                <a:cs typeface="Consolas" pitchFamily="34" charset="-120"/>
              </a:rPr>
              <a:t>5.55</a:t>
            </a:r>
            <a:endParaRPr lang="en-US" sz="1000"/>
          </a:p>
        </p:txBody>
      </p:sp>
      <p:sp>
        <p:nvSpPr>
          <p:cNvPr id="63" name="spec name"/>
          <p:cNvSpPr/>
          <p:nvPr/>
        </p:nvSpPr>
        <p:spPr>
          <a:xfrm>
            <a:off x="6226000" y="5680000"/>
            <a:ext cx="1740000" cy="372000"/>
          </a:xfrm>
          <a:prstGeom prst="rect">
            <a:avLst/>
          </a:prstGeom>
          <a:noFill/>
          <a:ln/>
        </p:spPr>
        <p:txBody>
          <a:bodyPr wrap="square" lIns="0" tIns="0" rIns="0" bIns="0" rtlCol="0" anchor="ctr"/>
          <a:lstStyle/>
          <a:p>
            <a:pPr marL="0" indent="0" algn="l">
              <a:buNone/>
            </a:pPr>
            <a:r>
              <a:rPr lang="en-US" sz="800" kern="0">
                <a:solidFill>
                  <a:srgbClr val="2B2A45"/>
                </a:solidFill>
                <a:latin typeface="Calibri" pitchFamily="34" charset="0"/>
                <a:ea typeface="Calibri" pitchFamily="34" charset="-122"/>
                <a:cs typeface="Calibri" pitchFamily="34" charset="-120"/>
              </a:rPr>
              <a:t>Ambulatory Surgical Ctr</a:t>
            </a:r>
            <a:endParaRPr lang="en-US" sz="1000"/>
          </a:p>
        </p:txBody>
      </p:sp>
      <p:sp>
        <p:nvSpPr>
          <p:cNvPr id="64" name="spec bar">
            <a:extLst>
              <a:ext uri="{C183D7F6-B498-43B3-948B-1728B52AA6E4}">
                <adec:decorative xmlns:adec="http://schemas.microsoft.com/office/drawing/2017/decorative" val="1"/>
              </a:ext>
            </a:extLst>
          </p:cNvPr>
          <p:cNvSpPr/>
          <p:nvPr/>
        </p:nvSpPr>
        <p:spPr>
          <a:xfrm>
            <a:off x="7986000" y="5766000"/>
            <a:ext cx="1758251" cy="200000"/>
          </a:xfrm>
          <a:prstGeom prst="rect">
            <a:avLst/>
          </a:prstGeom>
          <a:solidFill>
            <a:srgbClr val="6BA5D7"/>
          </a:solidFill>
          <a:ln/>
        </p:spPr>
        <p:txBody>
          <a:bodyPr/>
          <a:lstStyle/>
          <a:p>
            <a:endParaRPr lang="en-US"/>
          </a:p>
        </p:txBody>
      </p:sp>
      <p:sp>
        <p:nvSpPr>
          <p:cNvPr id="65" name="spec val"/>
          <p:cNvSpPr/>
          <p:nvPr/>
        </p:nvSpPr>
        <p:spPr>
          <a:xfrm>
            <a:off x="9784251" y="5680000"/>
            <a:ext cx="520000" cy="372000"/>
          </a:xfrm>
          <a:prstGeom prst="rect">
            <a:avLst/>
          </a:prstGeom>
          <a:noFill/>
          <a:ln/>
        </p:spPr>
        <p:txBody>
          <a:bodyPr wrap="square" lIns="0" tIns="0" rIns="0" bIns="0" rtlCol="0" anchor="ctr"/>
          <a:lstStyle/>
          <a:p>
            <a:pPr marL="0" indent="0" algn="l">
              <a:buNone/>
            </a:pPr>
            <a:r>
              <a:rPr lang="en-US" sz="750" b="1" kern="0">
                <a:solidFill>
                  <a:srgbClr val="4E79A7"/>
                </a:solidFill>
                <a:latin typeface="Consolas" pitchFamily="34" charset="0"/>
                <a:ea typeface="Consolas" pitchFamily="34" charset="-122"/>
                <a:cs typeface="Consolas" pitchFamily="34" charset="-120"/>
              </a:rPr>
              <a:t>4.79</a:t>
            </a:r>
            <a:endParaRPr lang="en-US" sz="1000"/>
          </a:p>
        </p:txBody>
      </p:sp>
      <p:sp>
        <p:nvSpPr>
          <p:cNvPr id="66" name="footer"/>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a:solidFill>
                  <a:srgbClr val="7C7E96"/>
                </a:solidFill>
                <a:latin typeface="Trebuchet MS" pitchFamily="34" charset="0"/>
                <a:ea typeface="Trebuchet MS" pitchFamily="34" charset="-122"/>
                <a:cs typeface="Trebuchet MS" pitchFamily="34" charset="-120"/>
              </a:rPr>
              <a:t>CMS MEDICARE PART B  ·  CY 2022–2024</a:t>
            </a:r>
            <a:endParaRPr lang="en-US" sz="1000"/>
          </a:p>
        </p:txBody>
      </p:sp>
      <p:sp>
        <p:nvSpPr>
          <p:cNvPr id="67" name="page"/>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kern="0">
                <a:solidFill>
                  <a:srgbClr val="4E79A7"/>
                </a:solidFill>
                <a:latin typeface="Consolas" pitchFamily="34" charset="0"/>
                <a:ea typeface="Consolas" pitchFamily="34" charset="-122"/>
                <a:cs typeface="Consolas" pitchFamily="34" charset="-120"/>
              </a:rPr>
              <a:t>20</a:t>
            </a:r>
            <a:endParaRPr lang="en-US" sz="10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40080" y="406908"/>
            <a:ext cx="201168" cy="128016"/>
          </a:xfrm>
          <a:prstGeom prst="rect">
            <a:avLst/>
          </a:prstGeom>
          <a:solidFill>
            <a:srgbClr val="6BA5D7"/>
          </a:solidFill>
          <a:ln/>
        </p:spPr>
        <p:txBody>
          <a:bodyPr/>
          <a:lstStyle/>
          <a:p>
            <a:endParaRPr lang="en-US"/>
          </a:p>
        </p:txBody>
      </p:sp>
      <p:sp>
        <p:nvSpPr>
          <p:cNvPr id="3" name="kicker"/>
          <p:cNvSpPr/>
          <p:nvPr/>
        </p:nvSpPr>
        <p:spPr>
          <a:xfrm>
            <a:off x="932688" y="310896"/>
            <a:ext cx="8229600" cy="310896"/>
          </a:xfrm>
          <a:prstGeom prst="rect">
            <a:avLst/>
          </a:prstGeom>
          <a:noFill/>
          <a:ln/>
        </p:spPr>
        <p:txBody>
          <a:bodyPr wrap="square" lIns="0" tIns="0" rIns="0" bIns="0" rtlCol="0" anchor="ctr"/>
          <a:lstStyle/>
          <a:p>
            <a:pPr marL="0" indent="0" algn="l">
              <a:buNone/>
            </a:pPr>
            <a:r>
              <a:rPr lang="en-US" sz="1250" b="1" kern="0" spc="300">
                <a:solidFill>
                  <a:srgbClr val="4E79A7"/>
                </a:solidFill>
                <a:latin typeface="Trebuchet MS" pitchFamily="34" charset="0"/>
                <a:ea typeface="Trebuchet MS" pitchFamily="34" charset="-122"/>
                <a:cs typeface="Trebuchet MS" pitchFamily="34" charset="-120"/>
              </a:rPr>
              <a:t>DASHBOARD VIEW · SCATTER</a:t>
            </a:r>
            <a:endParaRPr lang="en-US" sz="1000"/>
          </a:p>
        </p:txBody>
      </p:sp>
      <p:sp>
        <p:nvSpPr>
          <p:cNvPr id="4" name="Title"/>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3200" b="1" kern="0">
                <a:solidFill>
                  <a:srgbClr val="2B2A45"/>
                </a:solidFill>
                <a:latin typeface="Trebuchet MS" pitchFamily="34" charset="0"/>
                <a:ea typeface="Trebuchet MS" pitchFamily="34" charset="-122"/>
                <a:cs typeface="Trebuchet MS" pitchFamily="34" charset="-120"/>
              </a:rPr>
              <a:t>Cost Intensity — The Dashboard Scatter</a:t>
            </a:r>
            <a:endParaRPr lang="en-US" sz="3200"/>
          </a:p>
        </p:txBody>
      </p:sp>
      <p:sp>
        <p:nvSpPr>
          <p:cNvPr id="5" name="subtitle">
            <a:extLst>
              <a:ext uri="{C183D7F6-B498-43B3-948B-1728B52AA6E4}">
                <adec:decorative xmlns:adec="http://schemas.microsoft.com/office/drawing/2017/decorative" val="1"/>
              </a:ext>
            </a:extLst>
          </p:cNvPr>
          <p:cNvSpPr/>
          <p:nvPr/>
        </p:nvSpPr>
        <p:spPr>
          <a:xfrm>
            <a:off x="640080" y="1325880"/>
            <a:ext cx="10972800" cy="329184"/>
          </a:xfrm>
          <a:prstGeom prst="rect">
            <a:avLst/>
          </a:prstGeom>
          <a:noFill/>
          <a:ln/>
        </p:spPr>
        <p:txBody>
          <a:bodyPr wrap="square" lIns="0" tIns="0" rIns="0" bIns="0" rtlCol="0" anchor="ctr"/>
          <a:lstStyle/>
          <a:p>
            <a:pPr marL="0" indent="0" algn="l">
              <a:buNone/>
            </a:pPr>
            <a:r>
              <a:rPr lang="en-US" sz="1300" kern="0">
                <a:solidFill>
                  <a:srgbClr val="7C7E96"/>
                </a:solidFill>
                <a:latin typeface="Calibri" pitchFamily="34" charset="0"/>
                <a:ea typeface="Calibri" pitchFamily="34" charset="-122"/>
                <a:cs typeface="Calibri" pitchFamily="34" charset="-120"/>
              </a:rPr>
              <a:t>The scatter view from the published workbook — annual service volume against payment per service, every specialty on one canvas.</a:t>
            </a:r>
            <a:endParaRPr lang="en-US" sz="1000"/>
          </a:p>
        </p:txBody>
      </p:sp>
      <p:sp>
        <p:nvSpPr>
          <p:cNvPr id="6" name="canvas">
            <a:extLst>
              <a:ext uri="{C183D7F6-B498-43B3-948B-1728B52AA6E4}">
                <adec:decorative xmlns:adec="http://schemas.microsoft.com/office/drawing/2017/decorative" val="1"/>
              </a:ext>
            </a:extLst>
          </p:cNvPr>
          <p:cNvSpPr/>
          <p:nvPr/>
        </p:nvSpPr>
        <p:spPr>
          <a:xfrm>
            <a:off x="640080" y="1700000"/>
            <a:ext cx="10911840" cy="4560000"/>
          </a:xfrm>
          <a:prstGeom prst="rect">
            <a:avLst/>
          </a:prstGeom>
          <a:solidFill>
            <a:srgbClr val="FFFFFF"/>
          </a:solidFill>
          <a:ln w="9525">
            <a:solidFill>
              <a:srgbClr val="E2E8F0"/>
            </a:solidFill>
          </a:ln>
          <a:effectLst>
            <a:outerShdw blurRad="114300" dist="38100" dir="5400000" algn="bl" rotWithShape="0">
              <a:srgbClr val="43426A">
                <a:alpha val="16000"/>
              </a:srgbClr>
            </a:outerShdw>
          </a:effectLst>
        </p:spPr>
        <p:txBody>
          <a:bodyPr/>
          <a:lstStyle/>
          <a:p>
            <a:endParaRPr lang="en-US"/>
          </a:p>
        </p:txBody>
      </p:sp>
      <p:sp>
        <p:nvSpPr>
          <p:cNvPr id="7" name="titlebar">
            <a:extLst>
              <a:ext uri="{C183D7F6-B498-43B3-948B-1728B52AA6E4}">
                <adec:decorative xmlns:adec="http://schemas.microsoft.com/office/drawing/2017/decorative" val="1"/>
              </a:ext>
            </a:extLst>
          </p:cNvPr>
          <p:cNvSpPr/>
          <p:nvPr/>
        </p:nvSpPr>
        <p:spPr>
          <a:xfrm>
            <a:off x="640080" y="1700000"/>
            <a:ext cx="10911840" cy="372000"/>
          </a:xfrm>
          <a:prstGeom prst="rect">
            <a:avLst/>
          </a:prstGeom>
          <a:solidFill>
            <a:srgbClr val="2B2A45"/>
          </a:solidFill>
          <a:ln/>
        </p:spPr>
        <p:txBody>
          <a:bodyPr/>
          <a:lstStyle/>
          <a:p>
            <a:endParaRPr lang="en-US"/>
          </a:p>
        </p:txBody>
      </p:sp>
      <p:sp>
        <p:nvSpPr>
          <p:cNvPr id="8" name="app title"/>
          <p:cNvSpPr/>
          <p:nvPr/>
        </p:nvSpPr>
        <p:spPr>
          <a:xfrm>
            <a:off x="810080" y="1700000"/>
            <a:ext cx="7000000" cy="372000"/>
          </a:xfrm>
          <a:prstGeom prst="rect">
            <a:avLst/>
          </a:prstGeom>
          <a:noFill/>
          <a:ln/>
        </p:spPr>
        <p:txBody>
          <a:bodyPr wrap="square" lIns="0" tIns="0" rIns="0" bIns="0" rtlCol="0" anchor="ctr"/>
          <a:lstStyle/>
          <a:p>
            <a:pPr marL="0" indent="0" algn="l">
              <a:buNone/>
            </a:pPr>
            <a:r>
              <a:rPr lang="en-US" sz="1050" b="1" kern="0" spc="150">
                <a:solidFill>
                  <a:srgbClr val="FFFFFF"/>
                </a:solidFill>
                <a:latin typeface="Trebuchet MS" pitchFamily="34" charset="0"/>
                <a:ea typeface="Trebuchet MS" pitchFamily="34" charset="-122"/>
                <a:cs typeface="Trebuchet MS" pitchFamily="34" charset="-120"/>
              </a:rPr>
              <a:t>PART B UTILIZATION &amp; COST EXPLORER</a:t>
            </a:r>
            <a:endParaRPr lang="en-US" sz="1000"/>
          </a:p>
        </p:txBody>
      </p:sp>
      <p:sp>
        <p:nvSpPr>
          <p:cNvPr id="9" name="live pill">
            <a:extLst>
              <a:ext uri="{C183D7F6-B498-43B3-948B-1728B52AA6E4}">
                <adec:decorative xmlns:adec="http://schemas.microsoft.com/office/drawing/2017/decorative" val="1"/>
              </a:ext>
            </a:extLst>
          </p:cNvPr>
          <p:cNvSpPr/>
          <p:nvPr/>
        </p:nvSpPr>
        <p:spPr>
          <a:xfrm>
            <a:off x="10051920" y="1780000"/>
            <a:ext cx="1330000" cy="212000"/>
          </a:xfrm>
          <a:prstGeom prst="rect">
            <a:avLst/>
          </a:prstGeom>
          <a:solidFill>
            <a:srgbClr val="6BA5D7"/>
          </a:solidFill>
          <a:ln/>
        </p:spPr>
        <p:txBody>
          <a:bodyPr/>
          <a:lstStyle/>
          <a:p>
            <a:endParaRPr lang="en-US"/>
          </a:p>
        </p:txBody>
      </p:sp>
      <p:sp>
        <p:nvSpPr>
          <p:cNvPr id="10" name="live text"/>
          <p:cNvSpPr/>
          <p:nvPr/>
        </p:nvSpPr>
        <p:spPr>
          <a:xfrm>
            <a:off x="10051920" y="1780000"/>
            <a:ext cx="1330000" cy="212000"/>
          </a:xfrm>
          <a:prstGeom prst="rect">
            <a:avLst/>
          </a:prstGeom>
          <a:noFill/>
          <a:ln/>
        </p:spPr>
        <p:txBody>
          <a:bodyPr wrap="square" lIns="0" tIns="0" rIns="0" bIns="0" rtlCol="0" anchor="ctr"/>
          <a:lstStyle/>
          <a:p>
            <a:pPr marL="0" indent="0" algn="ctr">
              <a:buNone/>
            </a:pPr>
            <a:r>
              <a:rPr lang="en-US" sz="800" b="1" kern="0" spc="100">
                <a:solidFill>
                  <a:srgbClr val="2B2A45"/>
                </a:solidFill>
                <a:latin typeface="Trebuchet MS" pitchFamily="34" charset="0"/>
                <a:ea typeface="Trebuchet MS" pitchFamily="34" charset="-122"/>
                <a:cs typeface="Trebuchet MS" pitchFamily="34" charset="-120"/>
              </a:rPr>
              <a:t>TABLEAU · LIVE</a:t>
            </a:r>
            <a:endParaRPr lang="en-US" sz="1000"/>
          </a:p>
        </p:txBody>
      </p:sp>
      <p:sp>
        <p:nvSpPr>
          <p:cNvPr id="11" name="chip">
            <a:extLst>
              <a:ext uri="{C183D7F6-B498-43B3-948B-1728B52AA6E4}">
                <adec:decorative xmlns:adec="http://schemas.microsoft.com/office/drawing/2017/decorative" val="1"/>
              </a:ext>
            </a:extLst>
          </p:cNvPr>
          <p:cNvSpPr/>
          <p:nvPr/>
        </p:nvSpPr>
        <p:spPr>
          <a:xfrm>
            <a:off x="810080" y="2160000"/>
            <a:ext cx="2492960" cy="300000"/>
          </a:xfrm>
          <a:prstGeom prst="rect">
            <a:avLst/>
          </a:prstGeom>
          <a:solidFill>
            <a:srgbClr val="F1F5F9"/>
          </a:solidFill>
          <a:ln w="9525">
            <a:solidFill>
              <a:srgbClr val="CBD5E1"/>
            </a:solidFill>
          </a:ln>
        </p:spPr>
        <p:txBody>
          <a:bodyPr/>
          <a:lstStyle/>
          <a:p>
            <a:endParaRPr lang="en-US"/>
          </a:p>
        </p:txBody>
      </p:sp>
      <p:sp>
        <p:nvSpPr>
          <p:cNvPr id="12" name="chip text"/>
          <p:cNvSpPr/>
          <p:nvPr/>
        </p:nvSpPr>
        <p:spPr>
          <a:xfrm>
            <a:off x="930080" y="2160000"/>
            <a:ext cx="2252960" cy="300000"/>
          </a:xfrm>
          <a:prstGeom prst="rect">
            <a:avLst/>
          </a:prstGeom>
          <a:noFill/>
          <a:ln/>
        </p:spPr>
        <p:txBody>
          <a:bodyPr wrap="square" lIns="0" tIns="0" rIns="0" bIns="0" rtlCol="0" anchor="ctr"/>
          <a:lstStyle/>
          <a:p>
            <a:pPr marL="0" indent="0" algn="l">
              <a:buNone/>
            </a:pPr>
            <a:r>
              <a:rPr lang="en-US" sz="900" b="1" kern="0">
                <a:solidFill>
                  <a:srgbClr val="334155"/>
                </a:solidFill>
                <a:latin typeface="Calibri" pitchFamily="34" charset="0"/>
                <a:ea typeface="Calibri" pitchFamily="34" charset="-122"/>
                <a:cs typeface="Calibri" pitchFamily="34" charset="-120"/>
              </a:rPr>
              <a:t>Year:  2024   </a:t>
            </a:r>
            <a:r>
              <a:rPr lang="en-US" sz="900" kern="0">
                <a:solidFill>
                  <a:srgbClr val="7C7E96"/>
                </a:solidFill>
                <a:latin typeface="Calibri" pitchFamily="34" charset="0"/>
                <a:ea typeface="Calibri" pitchFamily="34" charset="-122"/>
                <a:cs typeface="Calibri" pitchFamily="34" charset="-120"/>
              </a:rPr>
              <a:t>▾</a:t>
            </a:r>
            <a:endParaRPr lang="en-US" sz="1000"/>
          </a:p>
        </p:txBody>
      </p:sp>
      <p:sp>
        <p:nvSpPr>
          <p:cNvPr id="13" name="chip">
            <a:extLst>
              <a:ext uri="{C183D7F6-B498-43B3-948B-1728B52AA6E4}">
                <adec:decorative xmlns:adec="http://schemas.microsoft.com/office/drawing/2017/decorative" val="1"/>
              </a:ext>
            </a:extLst>
          </p:cNvPr>
          <p:cNvSpPr/>
          <p:nvPr/>
        </p:nvSpPr>
        <p:spPr>
          <a:xfrm>
            <a:off x="3503040" y="2160000"/>
            <a:ext cx="2492960" cy="300000"/>
          </a:xfrm>
          <a:prstGeom prst="rect">
            <a:avLst/>
          </a:prstGeom>
          <a:solidFill>
            <a:srgbClr val="F1F5F9"/>
          </a:solidFill>
          <a:ln w="9525">
            <a:solidFill>
              <a:srgbClr val="CBD5E1"/>
            </a:solidFill>
          </a:ln>
        </p:spPr>
        <p:txBody>
          <a:bodyPr/>
          <a:lstStyle/>
          <a:p>
            <a:endParaRPr lang="en-US"/>
          </a:p>
        </p:txBody>
      </p:sp>
      <p:sp>
        <p:nvSpPr>
          <p:cNvPr id="14" name="chip text"/>
          <p:cNvSpPr/>
          <p:nvPr/>
        </p:nvSpPr>
        <p:spPr>
          <a:xfrm>
            <a:off x="3623040" y="2160000"/>
            <a:ext cx="2252960" cy="300000"/>
          </a:xfrm>
          <a:prstGeom prst="rect">
            <a:avLst/>
          </a:prstGeom>
          <a:noFill/>
          <a:ln/>
        </p:spPr>
        <p:txBody>
          <a:bodyPr wrap="square" lIns="0" tIns="0" rIns="0" bIns="0" rtlCol="0" anchor="ctr"/>
          <a:lstStyle/>
          <a:p>
            <a:pPr marL="0" indent="0" algn="l">
              <a:buNone/>
            </a:pPr>
            <a:r>
              <a:rPr lang="en-US" sz="900" b="1" kern="0">
                <a:solidFill>
                  <a:srgbClr val="334155"/>
                </a:solidFill>
                <a:latin typeface="Calibri" pitchFamily="34" charset="0"/>
                <a:ea typeface="Calibri" pitchFamily="34" charset="-122"/>
                <a:cs typeface="Calibri" pitchFamily="34" charset="-120"/>
              </a:rPr>
              <a:t>Specialty:  All   </a:t>
            </a:r>
            <a:r>
              <a:rPr lang="en-US" sz="900" kern="0">
                <a:solidFill>
                  <a:srgbClr val="7C7E96"/>
                </a:solidFill>
                <a:latin typeface="Calibri" pitchFamily="34" charset="0"/>
                <a:ea typeface="Calibri" pitchFamily="34" charset="-122"/>
                <a:cs typeface="Calibri" pitchFamily="34" charset="-120"/>
              </a:rPr>
              <a:t>▾</a:t>
            </a:r>
            <a:endParaRPr lang="en-US" sz="1000"/>
          </a:p>
        </p:txBody>
      </p:sp>
      <p:sp>
        <p:nvSpPr>
          <p:cNvPr id="100" name="scope note"/>
          <p:cNvSpPr/>
          <p:nvPr/>
        </p:nvSpPr>
        <p:spPr>
          <a:xfrm>
            <a:off x="6200000" y="2160000"/>
            <a:ext cx="5181920" cy="300000"/>
          </a:xfrm>
          <a:prstGeom prst="rect">
            <a:avLst/>
          </a:prstGeom>
          <a:noFill/>
          <a:ln/>
        </p:spPr>
        <p:txBody>
          <a:bodyPr wrap="square" lIns="0" tIns="0" rIns="0" bIns="0" rtlCol="0" anchor="ctr"/>
          <a:lstStyle/>
          <a:p>
            <a:pPr marL="0" indent="0" algn="r">
              <a:buNone/>
            </a:pPr>
            <a:r>
              <a:rPr lang="en-US" sz="900" i="1" kern="0">
                <a:solidFill>
                  <a:srgbClr val="7C7E96"/>
                </a:solidFill>
                <a:latin typeface="Calibri" pitchFamily="34" charset="0"/>
                <a:ea typeface="Calibri" pitchFamily="34" charset="-122"/>
                <a:cs typeface="Calibri" pitchFamily="34" charset="-120"/>
              </a:rPr>
              <a:t>National summary data — no state or service-category breakdown available in this extract.</a:t>
            </a:r>
            <a:endParaRPr lang="en-US" sz="900"/>
          </a:p>
        </p:txBody>
      </p:sp>
      <p:sp>
        <p:nvSpPr>
          <p:cNvPr id="200" name="sc title"/>
          <p:cNvSpPr txBox="1"/>
          <p:nvPr/>
        </p:nvSpPr>
        <p:spPr>
          <a:xfrm>
            <a:off x="810080" y="2560000"/>
            <a:ext cx="5000000" cy="260000"/>
          </a:xfrm>
          <a:prstGeom prst="rect">
            <a:avLst/>
          </a:prstGeom>
          <a:noFill/>
        </p:spPr>
        <p:txBody>
          <a:bodyPr wrap="square" lIns="0" tIns="0" rIns="0" bIns="0" anchor="ctr">
            <a:noAutofit/>
          </a:bodyPr>
          <a:lstStyle/>
          <a:p>
            <a:pPr algn="l"/>
            <a:r>
              <a:rPr lang="en-US" sz="900" b="1" i="0" spc="120" dirty="0">
                <a:solidFill>
                  <a:srgbClr val="43426A"/>
                </a:solidFill>
                <a:latin typeface="+mn-lt"/>
              </a:rPr>
              <a:t>COST INTENSITY SCATTERPLOT  ·  CY 2022</a:t>
            </a:r>
          </a:p>
        </p:txBody>
      </p:sp>
      <p:sp>
        <p:nvSpPr>
          <p:cNvPr id="201" name="sc tag"/>
          <p:cNvSpPr txBox="1"/>
          <p:nvPr/>
        </p:nvSpPr>
        <p:spPr>
          <a:xfrm>
            <a:off x="6600000" y="2560000"/>
            <a:ext cx="4781920" cy="260000"/>
          </a:xfrm>
          <a:prstGeom prst="rect">
            <a:avLst/>
          </a:prstGeom>
          <a:noFill/>
        </p:spPr>
        <p:txBody>
          <a:bodyPr wrap="square" lIns="0" tIns="0" rIns="0" bIns="0" anchor="ctr">
            <a:noAutofit/>
          </a:bodyPr>
          <a:lstStyle/>
          <a:p>
            <a:pPr algn="r"/>
            <a:r>
              <a:rPr lang="en-US" sz="900" b="0" i="1" spc="0" dirty="0">
                <a:solidFill>
                  <a:srgbClr val="7C7E96"/>
                </a:solidFill>
                <a:latin typeface="+mn-lt"/>
              </a:rPr>
              <a:t>Bubble size = total Medicare payment</a:t>
            </a:r>
          </a:p>
        </p:txBody>
      </p:sp>
      <p:sp>
        <p:nvSpPr>
          <p:cNvPr id="202" name="x axis"/>
          <p:cNvSpPr/>
          <p:nvPr/>
        </p:nvSpPr>
        <p:spPr>
          <a:xfrm>
            <a:off x="1500000" y="5860000"/>
            <a:ext cx="9000000" cy="9525"/>
          </a:xfrm>
          <a:prstGeom prst="rect">
            <a:avLst/>
          </a:prstGeom>
          <a:solidFill>
            <a:srgbClr val="CBD9E9"/>
          </a:solidFill>
          <a:ln>
            <a:noFill/>
          </a:ln>
        </p:spPr>
        <p:txBody>
          <a:bodyPr/>
          <a:lstStyle/>
          <a:p>
            <a:endParaRPr/>
          </a:p>
        </p:txBody>
      </p:sp>
      <p:sp>
        <p:nvSpPr>
          <p:cNvPr id="203" name="y axis"/>
          <p:cNvSpPr/>
          <p:nvPr/>
        </p:nvSpPr>
        <p:spPr>
          <a:xfrm>
            <a:off x="1500000" y="2980000"/>
            <a:ext cx="9525" cy="2880000"/>
          </a:xfrm>
          <a:prstGeom prst="rect">
            <a:avLst/>
          </a:prstGeom>
          <a:solidFill>
            <a:srgbClr val="CBD9E9"/>
          </a:solidFill>
          <a:ln>
            <a:noFill/>
          </a:ln>
        </p:spPr>
        <p:txBody>
          <a:bodyPr/>
          <a:lstStyle/>
          <a:p>
            <a:endParaRPr/>
          </a:p>
        </p:txBody>
      </p:sp>
      <p:sp>
        <p:nvSpPr>
          <p:cNvPr id="204" name="gridx"/>
          <p:cNvSpPr/>
          <p:nvPr/>
        </p:nvSpPr>
        <p:spPr>
          <a:xfrm>
            <a:off x="2737049" y="2980000"/>
            <a:ext cx="9525" cy="2880000"/>
          </a:xfrm>
          <a:prstGeom prst="rect">
            <a:avLst/>
          </a:prstGeom>
          <a:solidFill>
            <a:srgbClr val="EEF2F6"/>
          </a:solidFill>
          <a:ln>
            <a:noFill/>
          </a:ln>
        </p:spPr>
        <p:txBody>
          <a:bodyPr/>
          <a:lstStyle/>
          <a:p>
            <a:endParaRPr/>
          </a:p>
        </p:txBody>
      </p:sp>
      <p:sp>
        <p:nvSpPr>
          <p:cNvPr id="205" name="xlab"/>
          <p:cNvSpPr txBox="1"/>
          <p:nvPr/>
        </p:nvSpPr>
        <p:spPr>
          <a:xfrm>
            <a:off x="2437049" y="5920000"/>
            <a:ext cx="600000" cy="200000"/>
          </a:xfrm>
          <a:prstGeom prst="rect">
            <a:avLst/>
          </a:prstGeom>
          <a:noFill/>
        </p:spPr>
        <p:txBody>
          <a:bodyPr wrap="square" lIns="0" tIns="0" rIns="0" bIns="0" anchor="ctr">
            <a:noAutofit/>
          </a:bodyPr>
          <a:lstStyle/>
          <a:p>
            <a:pPr algn="ctr"/>
            <a:r>
              <a:rPr lang="en-US" sz="800" b="0" i="0" spc="0" dirty="0">
                <a:solidFill>
                  <a:srgbClr val="7C7E96"/>
                </a:solidFill>
                <a:latin typeface="+mn-lt"/>
              </a:rPr>
              <a:t>1M</a:t>
            </a:r>
          </a:p>
        </p:txBody>
      </p:sp>
      <p:sp>
        <p:nvSpPr>
          <p:cNvPr id="206" name="gridx"/>
          <p:cNvSpPr/>
          <p:nvPr/>
        </p:nvSpPr>
        <p:spPr>
          <a:xfrm>
            <a:off x="4791745" y="2980000"/>
            <a:ext cx="9525" cy="2880000"/>
          </a:xfrm>
          <a:prstGeom prst="rect">
            <a:avLst/>
          </a:prstGeom>
          <a:solidFill>
            <a:srgbClr val="EEF2F6"/>
          </a:solidFill>
          <a:ln>
            <a:noFill/>
          </a:ln>
        </p:spPr>
        <p:txBody>
          <a:bodyPr/>
          <a:lstStyle/>
          <a:p>
            <a:endParaRPr/>
          </a:p>
        </p:txBody>
      </p:sp>
      <p:sp>
        <p:nvSpPr>
          <p:cNvPr id="207" name="xlab"/>
          <p:cNvSpPr txBox="1"/>
          <p:nvPr/>
        </p:nvSpPr>
        <p:spPr>
          <a:xfrm>
            <a:off x="4491745" y="5920000"/>
            <a:ext cx="600000" cy="200000"/>
          </a:xfrm>
          <a:prstGeom prst="rect">
            <a:avLst/>
          </a:prstGeom>
          <a:noFill/>
        </p:spPr>
        <p:txBody>
          <a:bodyPr wrap="square" lIns="0" tIns="0" rIns="0" bIns="0" anchor="ctr">
            <a:noAutofit/>
          </a:bodyPr>
          <a:lstStyle/>
          <a:p>
            <a:pPr algn="ctr"/>
            <a:r>
              <a:rPr lang="en-US" sz="800" b="0" i="0" spc="0" dirty="0">
                <a:solidFill>
                  <a:srgbClr val="7C7E96"/>
                </a:solidFill>
                <a:latin typeface="+mn-lt"/>
              </a:rPr>
              <a:t>10M</a:t>
            </a:r>
          </a:p>
        </p:txBody>
      </p:sp>
      <p:sp>
        <p:nvSpPr>
          <p:cNvPr id="208" name="gridx"/>
          <p:cNvSpPr/>
          <p:nvPr/>
        </p:nvSpPr>
        <p:spPr>
          <a:xfrm>
            <a:off x="6846440" y="2980000"/>
            <a:ext cx="9525" cy="2880000"/>
          </a:xfrm>
          <a:prstGeom prst="rect">
            <a:avLst/>
          </a:prstGeom>
          <a:solidFill>
            <a:srgbClr val="EEF2F6"/>
          </a:solidFill>
          <a:ln>
            <a:noFill/>
          </a:ln>
        </p:spPr>
        <p:txBody>
          <a:bodyPr/>
          <a:lstStyle/>
          <a:p>
            <a:endParaRPr/>
          </a:p>
        </p:txBody>
      </p:sp>
      <p:sp>
        <p:nvSpPr>
          <p:cNvPr id="209" name="xlab"/>
          <p:cNvSpPr txBox="1"/>
          <p:nvPr/>
        </p:nvSpPr>
        <p:spPr>
          <a:xfrm>
            <a:off x="6546440" y="5920000"/>
            <a:ext cx="600000" cy="200000"/>
          </a:xfrm>
          <a:prstGeom prst="rect">
            <a:avLst/>
          </a:prstGeom>
          <a:noFill/>
        </p:spPr>
        <p:txBody>
          <a:bodyPr wrap="square" lIns="0" tIns="0" rIns="0" bIns="0" anchor="ctr">
            <a:noAutofit/>
          </a:bodyPr>
          <a:lstStyle/>
          <a:p>
            <a:pPr algn="ctr"/>
            <a:r>
              <a:rPr lang="en-US" sz="800" b="0" i="0" spc="0" dirty="0">
                <a:solidFill>
                  <a:srgbClr val="7C7E96"/>
                </a:solidFill>
                <a:latin typeface="+mn-lt"/>
              </a:rPr>
              <a:t>100M</a:t>
            </a:r>
          </a:p>
        </p:txBody>
      </p:sp>
      <p:sp>
        <p:nvSpPr>
          <p:cNvPr id="210" name="gridx"/>
          <p:cNvSpPr/>
          <p:nvPr/>
        </p:nvSpPr>
        <p:spPr>
          <a:xfrm>
            <a:off x="8901136" y="2980000"/>
            <a:ext cx="9525" cy="2880000"/>
          </a:xfrm>
          <a:prstGeom prst="rect">
            <a:avLst/>
          </a:prstGeom>
          <a:solidFill>
            <a:srgbClr val="EEF2F6"/>
          </a:solidFill>
          <a:ln>
            <a:noFill/>
          </a:ln>
        </p:spPr>
        <p:txBody>
          <a:bodyPr/>
          <a:lstStyle/>
          <a:p>
            <a:endParaRPr/>
          </a:p>
        </p:txBody>
      </p:sp>
      <p:sp>
        <p:nvSpPr>
          <p:cNvPr id="211" name="xlab"/>
          <p:cNvSpPr txBox="1"/>
          <p:nvPr/>
        </p:nvSpPr>
        <p:spPr>
          <a:xfrm>
            <a:off x="8601136" y="5920000"/>
            <a:ext cx="600000" cy="200000"/>
          </a:xfrm>
          <a:prstGeom prst="rect">
            <a:avLst/>
          </a:prstGeom>
          <a:noFill/>
        </p:spPr>
        <p:txBody>
          <a:bodyPr wrap="square" lIns="0" tIns="0" rIns="0" bIns="0" anchor="ctr">
            <a:noAutofit/>
          </a:bodyPr>
          <a:lstStyle/>
          <a:p>
            <a:pPr algn="ctr"/>
            <a:r>
              <a:rPr lang="en-US" sz="800" b="0" i="0" spc="0" dirty="0">
                <a:solidFill>
                  <a:srgbClr val="7C7E96"/>
                </a:solidFill>
                <a:latin typeface="+mn-lt"/>
              </a:rPr>
              <a:t>1B</a:t>
            </a:r>
          </a:p>
        </p:txBody>
      </p:sp>
      <p:sp>
        <p:nvSpPr>
          <p:cNvPr id="212" name="gridy"/>
          <p:cNvSpPr/>
          <p:nvPr/>
        </p:nvSpPr>
        <p:spPr>
          <a:xfrm>
            <a:off x="1500000" y="5860000"/>
            <a:ext cx="9000000" cy="9525"/>
          </a:xfrm>
          <a:prstGeom prst="rect">
            <a:avLst/>
          </a:prstGeom>
          <a:solidFill>
            <a:srgbClr val="EEF2F6"/>
          </a:solidFill>
          <a:ln>
            <a:noFill/>
          </a:ln>
        </p:spPr>
        <p:txBody>
          <a:bodyPr/>
          <a:lstStyle/>
          <a:p>
            <a:endParaRPr/>
          </a:p>
        </p:txBody>
      </p:sp>
      <p:sp>
        <p:nvSpPr>
          <p:cNvPr id="213" name="ylab"/>
          <p:cNvSpPr txBox="1"/>
          <p:nvPr/>
        </p:nvSpPr>
        <p:spPr>
          <a:xfrm>
            <a:off x="800000" y="5760000"/>
            <a:ext cx="620000" cy="200000"/>
          </a:xfrm>
          <a:prstGeom prst="rect">
            <a:avLst/>
          </a:prstGeom>
          <a:noFill/>
        </p:spPr>
        <p:txBody>
          <a:bodyPr wrap="square" lIns="0" tIns="0" rIns="0" bIns="0" anchor="ctr">
            <a:noAutofit/>
          </a:bodyPr>
          <a:lstStyle/>
          <a:p>
            <a:pPr algn="r"/>
            <a:r>
              <a:rPr lang="en-US" sz="800" b="0" i="0" spc="0" dirty="0">
                <a:solidFill>
                  <a:srgbClr val="7C7E96"/>
                </a:solidFill>
                <a:latin typeface="+mn-lt"/>
              </a:rPr>
              <a:t>$1</a:t>
            </a:r>
          </a:p>
        </p:txBody>
      </p:sp>
      <p:sp>
        <p:nvSpPr>
          <p:cNvPr id="214" name="gridy"/>
          <p:cNvSpPr/>
          <p:nvPr/>
        </p:nvSpPr>
        <p:spPr>
          <a:xfrm>
            <a:off x="1500000" y="4792926"/>
            <a:ext cx="9000000" cy="9525"/>
          </a:xfrm>
          <a:prstGeom prst="rect">
            <a:avLst/>
          </a:prstGeom>
          <a:solidFill>
            <a:srgbClr val="EEF2F6"/>
          </a:solidFill>
          <a:ln>
            <a:noFill/>
          </a:ln>
        </p:spPr>
        <p:txBody>
          <a:bodyPr/>
          <a:lstStyle/>
          <a:p>
            <a:endParaRPr/>
          </a:p>
        </p:txBody>
      </p:sp>
      <p:sp>
        <p:nvSpPr>
          <p:cNvPr id="215" name="ylab"/>
          <p:cNvSpPr txBox="1"/>
          <p:nvPr/>
        </p:nvSpPr>
        <p:spPr>
          <a:xfrm>
            <a:off x="800000" y="4692926"/>
            <a:ext cx="620000" cy="200000"/>
          </a:xfrm>
          <a:prstGeom prst="rect">
            <a:avLst/>
          </a:prstGeom>
          <a:noFill/>
        </p:spPr>
        <p:txBody>
          <a:bodyPr wrap="square" lIns="0" tIns="0" rIns="0" bIns="0" anchor="ctr">
            <a:noAutofit/>
          </a:bodyPr>
          <a:lstStyle/>
          <a:p>
            <a:pPr algn="r"/>
            <a:r>
              <a:rPr lang="en-US" sz="800" b="0" i="0" spc="0" dirty="0">
                <a:solidFill>
                  <a:srgbClr val="7C7E96"/>
                </a:solidFill>
                <a:latin typeface="+mn-lt"/>
              </a:rPr>
              <a:t>$10</a:t>
            </a:r>
          </a:p>
        </p:txBody>
      </p:sp>
      <p:sp>
        <p:nvSpPr>
          <p:cNvPr id="216" name="gridy"/>
          <p:cNvSpPr/>
          <p:nvPr/>
        </p:nvSpPr>
        <p:spPr>
          <a:xfrm>
            <a:off x="1500000" y="3725852"/>
            <a:ext cx="9000000" cy="9525"/>
          </a:xfrm>
          <a:prstGeom prst="rect">
            <a:avLst/>
          </a:prstGeom>
          <a:solidFill>
            <a:srgbClr val="EEF2F6"/>
          </a:solidFill>
          <a:ln>
            <a:noFill/>
          </a:ln>
        </p:spPr>
        <p:txBody>
          <a:bodyPr/>
          <a:lstStyle/>
          <a:p>
            <a:endParaRPr/>
          </a:p>
        </p:txBody>
      </p:sp>
      <p:sp>
        <p:nvSpPr>
          <p:cNvPr id="217" name="ylab"/>
          <p:cNvSpPr txBox="1"/>
          <p:nvPr/>
        </p:nvSpPr>
        <p:spPr>
          <a:xfrm>
            <a:off x="800000" y="3625852"/>
            <a:ext cx="620000" cy="200000"/>
          </a:xfrm>
          <a:prstGeom prst="rect">
            <a:avLst/>
          </a:prstGeom>
          <a:noFill/>
        </p:spPr>
        <p:txBody>
          <a:bodyPr wrap="square" lIns="0" tIns="0" rIns="0" bIns="0" anchor="ctr">
            <a:noAutofit/>
          </a:bodyPr>
          <a:lstStyle/>
          <a:p>
            <a:pPr algn="r"/>
            <a:r>
              <a:rPr lang="en-US" sz="800" b="0" i="0" spc="0" dirty="0">
                <a:solidFill>
                  <a:srgbClr val="7C7E96"/>
                </a:solidFill>
                <a:latin typeface="+mn-lt"/>
              </a:rPr>
              <a:t>$100</a:t>
            </a:r>
          </a:p>
        </p:txBody>
      </p:sp>
      <p:sp>
        <p:nvSpPr>
          <p:cNvPr id="218" name="xtitle"/>
          <p:cNvSpPr txBox="1"/>
          <p:nvPr/>
        </p:nvSpPr>
        <p:spPr>
          <a:xfrm>
            <a:off x="1500000" y="6080000"/>
            <a:ext cx="9000000" cy="220000"/>
          </a:xfrm>
          <a:prstGeom prst="rect">
            <a:avLst/>
          </a:prstGeom>
          <a:noFill/>
        </p:spPr>
        <p:txBody>
          <a:bodyPr wrap="square" lIns="0" tIns="0" rIns="0" bIns="0" anchor="ctr">
            <a:noAutofit/>
          </a:bodyPr>
          <a:lstStyle/>
          <a:p>
            <a:pPr algn="ctr"/>
            <a:r>
              <a:rPr lang="en-US" sz="800" b="1" i="0" spc="80" dirty="0">
                <a:solidFill>
                  <a:srgbClr val="7C7E96"/>
                </a:solidFill>
                <a:latin typeface="+mn-lt"/>
              </a:rPr>
              <a:t>ALLOWED SERVICES (log scale)</a:t>
            </a:r>
          </a:p>
        </p:txBody>
      </p:sp>
      <p:sp>
        <p:nvSpPr>
          <p:cNvPr id="219" name="ytitle"/>
          <p:cNvSpPr txBox="1"/>
          <p:nvPr/>
        </p:nvSpPr>
        <p:spPr>
          <a:xfrm>
            <a:off x="810080" y="2940000"/>
            <a:ext cx="2200000" cy="220000"/>
          </a:xfrm>
          <a:prstGeom prst="rect">
            <a:avLst/>
          </a:prstGeom>
          <a:noFill/>
        </p:spPr>
        <p:txBody>
          <a:bodyPr wrap="square" lIns="0" tIns="0" rIns="0" bIns="0" anchor="ctr">
            <a:noAutofit/>
          </a:bodyPr>
          <a:lstStyle/>
          <a:p>
            <a:pPr algn="l"/>
            <a:r>
              <a:rPr lang="en-US" sz="800" b="1" i="0" spc="80" dirty="0">
                <a:solidFill>
                  <a:srgbClr val="7C7E96"/>
                </a:solidFill>
                <a:latin typeface="+mn-lt"/>
              </a:rPr>
              <a:t>PAYMENT / SERVICE</a:t>
            </a:r>
          </a:p>
        </p:txBody>
      </p:sp>
      <p:sp>
        <p:nvSpPr>
          <p:cNvPr id="220" name="pt"/>
          <p:cNvSpPr/>
          <p:nvPr/>
        </p:nvSpPr>
        <p:spPr>
          <a:xfrm>
            <a:off x="9337067" y="5474553"/>
            <a:ext cx="273644" cy="273644"/>
          </a:xfrm>
          <a:prstGeom prst="ellipse">
            <a:avLst/>
          </a:prstGeom>
          <a:solidFill>
            <a:srgbClr val="4E79A7">
              <a:alpha val="78000"/>
            </a:srgbClr>
          </a:solidFill>
          <a:ln w="9525">
            <a:solidFill>
              <a:srgbClr val="FFFFFF"/>
            </a:solidFill>
          </a:ln>
        </p:spPr>
        <p:txBody>
          <a:bodyPr/>
          <a:lstStyle/>
          <a:p>
            <a:endParaRPr/>
          </a:p>
        </p:txBody>
      </p:sp>
      <p:sp>
        <p:nvSpPr>
          <p:cNvPr id="221" name="pt"/>
          <p:cNvSpPr/>
          <p:nvPr/>
        </p:nvSpPr>
        <p:spPr>
          <a:xfrm>
            <a:off x="8025334" y="4652547"/>
            <a:ext cx="298538" cy="298538"/>
          </a:xfrm>
          <a:prstGeom prst="ellipse">
            <a:avLst/>
          </a:prstGeom>
          <a:solidFill>
            <a:srgbClr val="4E79A7">
              <a:alpha val="78000"/>
            </a:srgbClr>
          </a:solidFill>
          <a:ln w="9525">
            <a:solidFill>
              <a:srgbClr val="FFFFFF"/>
            </a:solidFill>
          </a:ln>
        </p:spPr>
        <p:txBody>
          <a:bodyPr/>
          <a:lstStyle/>
          <a:p>
            <a:endParaRPr/>
          </a:p>
        </p:txBody>
      </p:sp>
      <p:sp>
        <p:nvSpPr>
          <p:cNvPr id="222" name="pt"/>
          <p:cNvSpPr/>
          <p:nvPr/>
        </p:nvSpPr>
        <p:spPr>
          <a:xfrm>
            <a:off x="7961211" y="4437703"/>
            <a:ext cx="335878" cy="335878"/>
          </a:xfrm>
          <a:prstGeom prst="ellipse">
            <a:avLst/>
          </a:prstGeom>
          <a:solidFill>
            <a:srgbClr val="2E5F8A">
              <a:alpha val="78000"/>
            </a:srgbClr>
          </a:solidFill>
          <a:ln w="9525">
            <a:solidFill>
              <a:srgbClr val="FFFFFF"/>
            </a:solidFill>
          </a:ln>
        </p:spPr>
        <p:txBody>
          <a:bodyPr/>
          <a:lstStyle/>
          <a:p>
            <a:endParaRPr/>
          </a:p>
        </p:txBody>
      </p:sp>
      <p:sp>
        <p:nvSpPr>
          <p:cNvPr id="223" name="pt"/>
          <p:cNvSpPr/>
          <p:nvPr/>
        </p:nvSpPr>
        <p:spPr>
          <a:xfrm>
            <a:off x="7701071" y="4292374"/>
            <a:ext cx="338492" cy="338492"/>
          </a:xfrm>
          <a:prstGeom prst="ellipse">
            <a:avLst/>
          </a:prstGeom>
          <a:solidFill>
            <a:srgbClr val="2E5F8A">
              <a:alpha val="78000"/>
            </a:srgbClr>
          </a:solidFill>
          <a:ln w="9525">
            <a:solidFill>
              <a:srgbClr val="FFFFFF"/>
            </a:solidFill>
          </a:ln>
        </p:spPr>
        <p:txBody>
          <a:bodyPr/>
          <a:lstStyle/>
          <a:p>
            <a:endParaRPr/>
          </a:p>
        </p:txBody>
      </p:sp>
      <p:sp>
        <p:nvSpPr>
          <p:cNvPr id="224" name="pt"/>
          <p:cNvSpPr/>
          <p:nvPr/>
        </p:nvSpPr>
        <p:spPr>
          <a:xfrm>
            <a:off x="7332531" y="4329941"/>
            <a:ext cx="291439" cy="291439"/>
          </a:xfrm>
          <a:prstGeom prst="ellipse">
            <a:avLst/>
          </a:prstGeom>
          <a:solidFill>
            <a:srgbClr val="4E79A7">
              <a:alpha val="78000"/>
            </a:srgbClr>
          </a:solidFill>
          <a:ln w="9525">
            <a:solidFill>
              <a:srgbClr val="FFFFFF"/>
            </a:solidFill>
          </a:ln>
        </p:spPr>
        <p:txBody>
          <a:bodyPr/>
          <a:lstStyle/>
          <a:p>
            <a:endParaRPr/>
          </a:p>
        </p:txBody>
      </p:sp>
      <p:sp>
        <p:nvSpPr>
          <p:cNvPr id="225" name="pt"/>
          <p:cNvSpPr/>
          <p:nvPr/>
        </p:nvSpPr>
        <p:spPr>
          <a:xfrm>
            <a:off x="7170529" y="3956119"/>
            <a:ext cx="352600" cy="352600"/>
          </a:xfrm>
          <a:prstGeom prst="ellipse">
            <a:avLst/>
          </a:prstGeom>
          <a:solidFill>
            <a:srgbClr val="2E5F8A">
              <a:alpha val="78000"/>
            </a:srgbClr>
          </a:solidFill>
          <a:ln w="9525">
            <a:solidFill>
              <a:srgbClr val="FFFFFF"/>
            </a:solidFill>
          </a:ln>
        </p:spPr>
        <p:txBody>
          <a:bodyPr/>
          <a:lstStyle/>
          <a:p>
            <a:endParaRPr/>
          </a:p>
        </p:txBody>
      </p:sp>
      <p:sp>
        <p:nvSpPr>
          <p:cNvPr id="226" name="pt"/>
          <p:cNvSpPr/>
          <p:nvPr/>
        </p:nvSpPr>
        <p:spPr>
          <a:xfrm>
            <a:off x="6192043" y="3450490"/>
            <a:ext cx="351947" cy="351947"/>
          </a:xfrm>
          <a:prstGeom prst="ellipse">
            <a:avLst/>
          </a:prstGeom>
          <a:solidFill>
            <a:srgbClr val="2E5F8A">
              <a:alpha val="78000"/>
            </a:srgbClr>
          </a:solidFill>
          <a:ln w="9525">
            <a:solidFill>
              <a:srgbClr val="FFFFFF"/>
            </a:solidFill>
          </a:ln>
        </p:spPr>
        <p:txBody>
          <a:bodyPr/>
          <a:lstStyle/>
          <a:p>
            <a:endParaRPr/>
          </a:p>
        </p:txBody>
      </p:sp>
      <p:sp>
        <p:nvSpPr>
          <p:cNvPr id="227" name="pt"/>
          <p:cNvSpPr/>
          <p:nvPr/>
        </p:nvSpPr>
        <p:spPr>
          <a:xfrm>
            <a:off x="5524267" y="3306637"/>
            <a:ext cx="307597" cy="307597"/>
          </a:xfrm>
          <a:prstGeom prst="ellipse">
            <a:avLst/>
          </a:prstGeom>
          <a:solidFill>
            <a:srgbClr val="4E79A7">
              <a:alpha val="78000"/>
            </a:srgbClr>
          </a:solidFill>
          <a:ln w="9525">
            <a:solidFill>
              <a:srgbClr val="FFFFFF"/>
            </a:solidFill>
          </a:ln>
        </p:spPr>
        <p:txBody>
          <a:bodyPr/>
          <a:lstStyle/>
          <a:p>
            <a:endParaRPr/>
          </a:p>
        </p:txBody>
      </p:sp>
      <p:sp>
        <p:nvSpPr>
          <p:cNvPr id="228" name="pt"/>
          <p:cNvSpPr/>
          <p:nvPr/>
        </p:nvSpPr>
        <p:spPr>
          <a:xfrm>
            <a:off x="5030916" y="3621204"/>
            <a:ext cx="221330" cy="221330"/>
          </a:xfrm>
          <a:prstGeom prst="ellipse">
            <a:avLst/>
          </a:prstGeom>
          <a:solidFill>
            <a:srgbClr val="8FBBDF">
              <a:alpha val="78000"/>
            </a:srgbClr>
          </a:solidFill>
          <a:ln w="9525">
            <a:solidFill>
              <a:srgbClr val="FFFFFF"/>
            </a:solidFill>
          </a:ln>
        </p:spPr>
        <p:txBody>
          <a:bodyPr/>
          <a:lstStyle/>
          <a:p>
            <a:endParaRPr/>
          </a:p>
        </p:txBody>
      </p:sp>
      <p:sp>
        <p:nvSpPr>
          <p:cNvPr id="229" name="pt"/>
          <p:cNvSpPr/>
          <p:nvPr/>
        </p:nvSpPr>
        <p:spPr>
          <a:xfrm>
            <a:off x="3532944" y="3294894"/>
            <a:ext cx="180853" cy="180853"/>
          </a:xfrm>
          <a:prstGeom prst="ellipse">
            <a:avLst/>
          </a:prstGeom>
          <a:solidFill>
            <a:srgbClr val="8FBBDF">
              <a:alpha val="78000"/>
            </a:srgbClr>
          </a:solidFill>
          <a:ln w="9525">
            <a:solidFill>
              <a:srgbClr val="FFFFFF"/>
            </a:solidFill>
          </a:ln>
        </p:spPr>
        <p:txBody>
          <a:bodyPr/>
          <a:lstStyle/>
          <a:p>
            <a:endParaRPr/>
          </a:p>
        </p:txBody>
      </p:sp>
      <p:sp>
        <p:nvSpPr>
          <p:cNvPr id="230" name="pt"/>
          <p:cNvSpPr/>
          <p:nvPr/>
        </p:nvSpPr>
        <p:spPr>
          <a:xfrm>
            <a:off x="2563532" y="3175249"/>
            <a:ext cx="159000" cy="159000"/>
          </a:xfrm>
          <a:prstGeom prst="ellipse">
            <a:avLst/>
          </a:prstGeom>
          <a:solidFill>
            <a:srgbClr val="8FBBDF">
              <a:alpha val="78000"/>
            </a:srgbClr>
          </a:solidFill>
          <a:ln w="9525">
            <a:solidFill>
              <a:srgbClr val="FFFFFF"/>
            </a:solidFill>
          </a:ln>
        </p:spPr>
        <p:txBody>
          <a:bodyPr/>
          <a:lstStyle/>
          <a:p>
            <a:endParaRPr/>
          </a:p>
        </p:txBody>
      </p:sp>
      <p:sp>
        <p:nvSpPr>
          <p:cNvPr id="231" name="pt"/>
          <p:cNvSpPr/>
          <p:nvPr/>
        </p:nvSpPr>
        <p:spPr>
          <a:xfrm>
            <a:off x="2044561" y="3188717"/>
            <a:ext cx="147926" cy="147926"/>
          </a:xfrm>
          <a:prstGeom prst="ellipse">
            <a:avLst/>
          </a:prstGeom>
          <a:solidFill>
            <a:srgbClr val="8FBBDF">
              <a:alpha val="78000"/>
            </a:srgbClr>
          </a:solidFill>
          <a:ln w="9525">
            <a:solidFill>
              <a:srgbClr val="FFFFFF"/>
            </a:solidFill>
          </a:ln>
        </p:spPr>
        <p:txBody>
          <a:bodyPr/>
          <a:lstStyle/>
          <a:p>
            <a:endParaRPr/>
          </a:p>
        </p:txBody>
      </p:sp>
      <p:sp>
        <p:nvSpPr>
          <p:cNvPr id="232" name="ptlab"/>
          <p:cNvSpPr txBox="1"/>
          <p:nvPr/>
        </p:nvSpPr>
        <p:spPr>
          <a:xfrm>
            <a:off x="8573889" y="5254553"/>
            <a:ext cx="1800000" cy="190000"/>
          </a:xfrm>
          <a:prstGeom prst="rect">
            <a:avLst/>
          </a:prstGeom>
          <a:noFill/>
        </p:spPr>
        <p:txBody>
          <a:bodyPr wrap="square" lIns="0" tIns="0" rIns="0" bIns="0" anchor="ctr">
            <a:noAutofit/>
          </a:bodyPr>
          <a:lstStyle/>
          <a:p>
            <a:pPr algn="ctr"/>
            <a:r>
              <a:rPr lang="en-US" sz="800" b="1" i="0" spc="0" dirty="0">
                <a:solidFill>
                  <a:srgbClr val="43426A"/>
                </a:solidFill>
                <a:latin typeface="+mn-lt"/>
              </a:rPr>
              <a:t>Pharmacy</a:t>
            </a:r>
          </a:p>
        </p:txBody>
      </p:sp>
      <p:sp>
        <p:nvSpPr>
          <p:cNvPr id="233" name="ptlab"/>
          <p:cNvSpPr txBox="1"/>
          <p:nvPr/>
        </p:nvSpPr>
        <p:spPr>
          <a:xfrm>
            <a:off x="6446829" y="3736119"/>
            <a:ext cx="1800000" cy="190000"/>
          </a:xfrm>
          <a:prstGeom prst="rect">
            <a:avLst/>
          </a:prstGeom>
          <a:noFill/>
        </p:spPr>
        <p:txBody>
          <a:bodyPr wrap="square" lIns="0" tIns="0" rIns="0" bIns="0" anchor="ctr">
            <a:noAutofit/>
          </a:bodyPr>
          <a:lstStyle/>
          <a:p>
            <a:pPr algn="ctr"/>
            <a:r>
              <a:rPr lang="en-US" sz="800" b="1" i="0" spc="0" dirty="0">
                <a:solidFill>
                  <a:srgbClr val="43426A"/>
                </a:solidFill>
                <a:latin typeface="+mn-lt"/>
              </a:rPr>
              <a:t>Internal Medicine</a:t>
            </a:r>
          </a:p>
        </p:txBody>
      </p:sp>
      <p:sp>
        <p:nvSpPr>
          <p:cNvPr id="234" name="ptlab"/>
          <p:cNvSpPr txBox="1"/>
          <p:nvPr/>
        </p:nvSpPr>
        <p:spPr>
          <a:xfrm>
            <a:off x="5468016" y="3230490"/>
            <a:ext cx="1800000" cy="190000"/>
          </a:xfrm>
          <a:prstGeom prst="rect">
            <a:avLst/>
          </a:prstGeom>
          <a:noFill/>
        </p:spPr>
        <p:txBody>
          <a:bodyPr wrap="square" lIns="0" tIns="0" rIns="0" bIns="0" anchor="ctr">
            <a:noAutofit/>
          </a:bodyPr>
          <a:lstStyle/>
          <a:p>
            <a:pPr algn="ctr"/>
            <a:r>
              <a:rPr lang="en-US" sz="800" b="1" i="0" spc="0" dirty="0">
                <a:solidFill>
                  <a:srgbClr val="43426A"/>
                </a:solidFill>
                <a:latin typeface="+mn-lt"/>
              </a:rPr>
              <a:t>Ophthalmology</a:t>
            </a:r>
          </a:p>
        </p:txBody>
      </p:sp>
      <p:sp>
        <p:nvSpPr>
          <p:cNvPr id="235" name="ptlab"/>
          <p:cNvSpPr txBox="1"/>
          <p:nvPr/>
        </p:nvSpPr>
        <p:spPr>
          <a:xfrm>
            <a:off x="1743032" y="2955249"/>
            <a:ext cx="1800000" cy="190000"/>
          </a:xfrm>
          <a:prstGeom prst="rect">
            <a:avLst/>
          </a:prstGeom>
          <a:noFill/>
        </p:spPr>
        <p:txBody>
          <a:bodyPr wrap="square" lIns="0" tIns="0" rIns="0" bIns="0" anchor="ctr">
            <a:noAutofit/>
          </a:bodyPr>
          <a:lstStyle/>
          <a:p>
            <a:pPr algn="ctr"/>
            <a:r>
              <a:rPr lang="en-US" sz="800" b="1" i="0" spc="0" dirty="0">
                <a:solidFill>
                  <a:srgbClr val="43426A"/>
                </a:solidFill>
                <a:latin typeface="+mn-lt"/>
              </a:rPr>
              <a:t>Thoracic Surgery</a:t>
            </a:r>
          </a:p>
        </p:txBody>
      </p:sp>
      <p:sp>
        <p:nvSpPr>
          <p:cNvPr id="66" name="footer"/>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a:solidFill>
                  <a:srgbClr val="7C7E96"/>
                </a:solidFill>
                <a:latin typeface="Trebuchet MS" pitchFamily="34" charset="0"/>
                <a:ea typeface="Trebuchet MS" pitchFamily="34" charset="-122"/>
                <a:cs typeface="Trebuchet MS" pitchFamily="34" charset="-120"/>
              </a:rPr>
              <a:t>CMS MEDICARE PART B  ·  CY 2022–2024</a:t>
            </a:r>
            <a:endParaRPr lang="en-US" sz="1000"/>
          </a:p>
        </p:txBody>
      </p:sp>
      <p:sp>
        <p:nvSpPr>
          <p:cNvPr id="67" name="page"/>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kern="0">
                <a:solidFill>
                  <a:srgbClr val="4E79A7"/>
                </a:solidFill>
                <a:latin typeface="Consolas" pitchFamily="34" charset="0"/>
                <a:ea typeface="Consolas" pitchFamily="34" charset="-122"/>
                <a:cs typeface="Consolas" pitchFamily="34" charset="-120"/>
              </a:rPr>
              <a:t>21</a:t>
            </a:r>
            <a:endParaRPr lang="en-US" sz="10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40080" y="406908"/>
            <a:ext cx="201168" cy="128016"/>
          </a:xfrm>
          <a:prstGeom prst="rect">
            <a:avLst/>
          </a:prstGeom>
          <a:solidFill>
            <a:srgbClr val="6BA5D7"/>
          </a:solidFill>
          <a:ln/>
        </p:spPr>
        <p:txBody>
          <a:bodyPr/>
          <a:lstStyle/>
          <a:p>
            <a:endParaRPr lang="en-US"/>
          </a:p>
        </p:txBody>
      </p:sp>
      <p:sp>
        <p:nvSpPr>
          <p:cNvPr id="3" name="kicker"/>
          <p:cNvSpPr/>
          <p:nvPr/>
        </p:nvSpPr>
        <p:spPr>
          <a:xfrm>
            <a:off x="932688" y="310896"/>
            <a:ext cx="8229600" cy="310896"/>
          </a:xfrm>
          <a:prstGeom prst="rect">
            <a:avLst/>
          </a:prstGeom>
          <a:noFill/>
          <a:ln/>
        </p:spPr>
        <p:txBody>
          <a:bodyPr wrap="square" lIns="0" tIns="0" rIns="0" bIns="0" rtlCol="0" anchor="ctr"/>
          <a:lstStyle/>
          <a:p>
            <a:pPr marL="0" indent="0" algn="l">
              <a:buNone/>
            </a:pPr>
            <a:r>
              <a:rPr lang="en-US" sz="1250" b="1" kern="0" spc="300">
                <a:solidFill>
                  <a:srgbClr val="4E79A7"/>
                </a:solidFill>
                <a:latin typeface="Trebuchet MS" pitchFamily="34" charset="0"/>
                <a:ea typeface="Trebuchet MS" pitchFamily="34" charset="-122"/>
                <a:cs typeface="Trebuchet MS" pitchFamily="34" charset="-120"/>
              </a:rPr>
              <a:t>BUILD SPEC</a:t>
            </a:r>
            <a:endParaRPr lang="en-US" sz="1000"/>
          </a:p>
        </p:txBody>
      </p:sp>
      <p:sp>
        <p:nvSpPr>
          <p:cNvPr id="4" name="Title"/>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3200" b="1" kern="0">
                <a:solidFill>
                  <a:srgbClr val="2B2A45"/>
                </a:solidFill>
                <a:latin typeface="Trebuchet MS" pitchFamily="34" charset="0"/>
                <a:ea typeface="Trebuchet MS" pitchFamily="34" charset="-122"/>
                <a:cs typeface="Trebuchet MS" pitchFamily="34" charset="-120"/>
              </a:rPr>
              <a:t>Tableau Build Blueprint</a:t>
            </a:r>
            <a:endParaRPr lang="en-US" sz="3200"/>
          </a:p>
        </p:txBody>
      </p:sp>
      <p:sp>
        <p:nvSpPr>
          <p:cNvPr id="5" name="subtitle">
            <a:extLst>
              <a:ext uri="{C183D7F6-B498-43B3-948B-1728B52AA6E4}">
                <adec:decorative xmlns:adec="http://schemas.microsoft.com/office/drawing/2017/decorative" val="1"/>
              </a:ext>
            </a:extLst>
          </p:cNvPr>
          <p:cNvSpPr/>
          <p:nvPr/>
        </p:nvSpPr>
        <p:spPr>
          <a:xfrm>
            <a:off x="640080" y="1325880"/>
            <a:ext cx="10972800" cy="329184"/>
          </a:xfrm>
          <a:prstGeom prst="rect">
            <a:avLst/>
          </a:prstGeom>
          <a:noFill/>
          <a:ln/>
        </p:spPr>
        <p:txBody>
          <a:bodyPr wrap="square" lIns="0" tIns="0" rIns="0" bIns="0" rtlCol="0" anchor="ctr"/>
          <a:lstStyle/>
          <a:p>
            <a:pPr marL="0" indent="0" algn="l">
              <a:buNone/>
            </a:pPr>
            <a:r>
              <a:rPr lang="en-US" sz="1300" kern="0">
                <a:solidFill>
                  <a:srgbClr val="7C7E96"/>
                </a:solidFill>
                <a:latin typeface="Calibri" pitchFamily="34" charset="0"/>
                <a:ea typeface="Calibri" pitchFamily="34" charset="-122"/>
                <a:cs typeface="Calibri" pitchFamily="34" charset="-120"/>
              </a:rPr>
              <a:t>A step-by-step recipe to reproduce this dashboard — data source, four worksheets, and the assembled canvas.</a:t>
            </a:r>
            <a:endParaRPr lang="en-US" sz="1000"/>
          </a:p>
        </p:txBody>
      </p:sp>
      <p:sp>
        <p:nvSpPr>
          <p:cNvPr id="6" name="card">
            <a:extLst>
              <a:ext uri="{C183D7F6-B498-43B3-948B-1728B52AA6E4}">
                <adec:decorative xmlns:adec="http://schemas.microsoft.com/office/drawing/2017/decorative" val="1"/>
              </a:ext>
            </a:extLst>
          </p:cNvPr>
          <p:cNvSpPr/>
          <p:nvPr/>
        </p:nvSpPr>
        <p:spPr>
          <a:xfrm>
            <a:off x="640080" y="1700000"/>
            <a:ext cx="3400000" cy="2900000"/>
          </a:xfrm>
          <a:prstGeom prst="rect">
            <a:avLst/>
          </a:prstGeom>
          <a:solidFill>
            <a:srgbClr val="FFFFFF"/>
          </a:solidFill>
          <a:ln w="9525">
            <a:solidFill>
              <a:srgbClr val="E2E8F0"/>
            </a:solidFill>
          </a:ln>
          <a:effectLst>
            <a:outerShdw blurRad="114300" dist="38100" dir="5400000" algn="bl" rotWithShape="0">
              <a:srgbClr val="43426A">
                <a:alpha val="16000"/>
              </a:srgbClr>
            </a:outerShdw>
          </a:effectLst>
        </p:spPr>
        <p:txBody>
          <a:bodyPr/>
          <a:lstStyle/>
          <a:p>
            <a:endParaRPr lang="en-US"/>
          </a:p>
        </p:txBody>
      </p:sp>
      <p:sp>
        <p:nvSpPr>
          <p:cNvPr id="7" name="card top">
            <a:extLst>
              <a:ext uri="{C183D7F6-B498-43B3-948B-1728B52AA6E4}">
                <adec:decorative xmlns:adec="http://schemas.microsoft.com/office/drawing/2017/decorative" val="1"/>
              </a:ext>
            </a:extLst>
          </p:cNvPr>
          <p:cNvSpPr/>
          <p:nvPr/>
        </p:nvSpPr>
        <p:spPr>
          <a:xfrm>
            <a:off x="640080" y="1700000"/>
            <a:ext cx="3400000" cy="58000"/>
          </a:xfrm>
          <a:prstGeom prst="rect">
            <a:avLst/>
          </a:prstGeom>
          <a:solidFill>
            <a:srgbClr val="6BA5D7"/>
          </a:solidFill>
          <a:ln/>
        </p:spPr>
        <p:txBody>
          <a:bodyPr/>
          <a:lstStyle/>
          <a:p>
            <a:endParaRPr lang="en-US"/>
          </a:p>
        </p:txBody>
      </p:sp>
      <p:sp>
        <p:nvSpPr>
          <p:cNvPr id="8" name="card title"/>
          <p:cNvSpPr/>
          <p:nvPr/>
        </p:nvSpPr>
        <p:spPr>
          <a:xfrm>
            <a:off x="840080" y="1850000"/>
            <a:ext cx="3040000" cy="300000"/>
          </a:xfrm>
          <a:prstGeom prst="rect">
            <a:avLst/>
          </a:prstGeom>
          <a:noFill/>
          <a:ln/>
        </p:spPr>
        <p:txBody>
          <a:bodyPr wrap="square" lIns="0" tIns="0" rIns="0" bIns="0" rtlCol="0" anchor="t"/>
          <a:lstStyle/>
          <a:p>
            <a:pPr marL="0" indent="0" algn="l">
              <a:buNone/>
            </a:pPr>
            <a:r>
              <a:rPr lang="en-US" sz="950" b="1" kern="0" spc="80">
                <a:solidFill>
                  <a:srgbClr val="4E79A7"/>
                </a:solidFill>
                <a:latin typeface="Trebuchet MS" pitchFamily="34" charset="0"/>
                <a:ea typeface="Trebuchet MS" pitchFamily="34" charset="-122"/>
                <a:cs typeface="Trebuchet MS" pitchFamily="34" charset="-120"/>
              </a:rPr>
              <a:t>1 · DATA SOURCE &amp; FIELDS</a:t>
            </a:r>
            <a:endParaRPr lang="en-US" sz="1000"/>
          </a:p>
        </p:txBody>
      </p:sp>
      <p:sp>
        <p:nvSpPr>
          <p:cNvPr id="9" name="card body"/>
          <p:cNvSpPr/>
          <p:nvPr/>
        </p:nvSpPr>
        <p:spPr>
          <a:xfrm>
            <a:off x="840080" y="2220000"/>
            <a:ext cx="3040000" cy="2260000"/>
          </a:xfrm>
          <a:prstGeom prst="rect">
            <a:avLst/>
          </a:prstGeom>
          <a:noFill/>
          <a:ln/>
        </p:spPr>
        <p:txBody>
          <a:bodyPr wrap="square" lIns="0" tIns="0" rIns="0" bIns="0" rtlCol="0" anchor="t"/>
          <a:lstStyle/>
          <a:p>
            <a:pPr marL="0" indent="0" algn="l">
              <a:spcAft>
                <a:spcPts val="400"/>
              </a:spcAft>
              <a:buNone/>
            </a:pPr>
            <a:r>
              <a:rPr lang="en-US" sz="850" b="1" kern="0">
                <a:solidFill>
                  <a:srgbClr val="6BA5D7"/>
                </a:solidFill>
                <a:latin typeface="Calibri" pitchFamily="34" charset="0"/>
                <a:ea typeface="Calibri" pitchFamily="34" charset="-122"/>
                <a:cs typeface="Calibri" pitchFamily="34" charset="-120"/>
              </a:rPr>
              <a:t>▪  </a:t>
            </a:r>
            <a:r>
              <a:rPr lang="en-US" sz="850" kern="0">
                <a:solidFill>
                  <a:srgbClr val="334155"/>
                </a:solidFill>
                <a:latin typeface="Calibri" pitchFamily="34" charset="0"/>
                <a:ea typeface="Calibri" pitchFamily="34" charset="-122"/>
                <a:cs typeface="Calibri" pitchFamily="34" charset="-120"/>
              </a:rPr>
              <a:t>Connect CMS PBAR national summary files (CY 2022–2024).</a:t>
            </a:r>
            <a:endParaRPr lang="en-US" sz="1000"/>
          </a:p>
          <a:p>
            <a:pPr marL="0" indent="0" algn="l">
              <a:spcAft>
                <a:spcPts val="400"/>
              </a:spcAft>
              <a:buNone/>
            </a:pPr>
            <a:r>
              <a:rPr lang="en-US" sz="850" b="1" kern="0">
                <a:solidFill>
                  <a:srgbClr val="6BA5D7"/>
                </a:solidFill>
                <a:latin typeface="Calibri" pitchFamily="34" charset="0"/>
                <a:ea typeface="Calibri" pitchFamily="34" charset="-122"/>
                <a:cs typeface="Calibri" pitchFamily="34" charset="-120"/>
              </a:rPr>
              <a:t>▪  </a:t>
            </a:r>
            <a:r>
              <a:rPr lang="en-US" sz="850" kern="0">
                <a:solidFill>
                  <a:srgbClr val="334155"/>
                </a:solidFill>
                <a:latin typeface="Calibri" pitchFamily="34" charset="0"/>
                <a:ea typeface="Calibri" pitchFamily="34" charset="-122"/>
                <a:cs typeface="Calibri" pitchFamily="34" charset="-120"/>
              </a:rPr>
              <a:t>Union the three yearly files into one specialty-year table.</a:t>
            </a:r>
            <a:endParaRPr lang="en-US" sz="1000"/>
          </a:p>
          <a:p>
            <a:pPr marL="0" indent="0" algn="l">
              <a:spcAft>
                <a:spcPts val="300"/>
              </a:spcAft>
              <a:buNone/>
            </a:pPr>
            <a:r>
              <a:rPr lang="en-US" sz="850" b="1" kern="0">
                <a:solidFill>
                  <a:srgbClr val="4E79A7"/>
                </a:solidFill>
                <a:latin typeface="Trebuchet MS" pitchFamily="34" charset="0"/>
                <a:ea typeface="Trebuchet MS" pitchFamily="34" charset="-122"/>
                <a:cs typeface="Trebuchet MS" pitchFamily="34" charset="-120"/>
              </a:rPr>
              <a:t>Dimensions:</a:t>
            </a:r>
            <a:r>
              <a:rPr lang="en-US" sz="850" kern="0">
                <a:solidFill>
                  <a:srgbClr val="334155"/>
                </a:solidFill>
                <a:latin typeface="Calibri" pitchFamily="34" charset="0"/>
                <a:ea typeface="Calibri" pitchFamily="34" charset="-122"/>
                <a:cs typeface="Calibri" pitchFamily="34" charset="-120"/>
              </a:rPr>
              <a:t>  Specialty, Year</a:t>
            </a:r>
            <a:endParaRPr lang="en-US" sz="1000"/>
          </a:p>
          <a:p>
            <a:pPr marL="0" indent="0" algn="l">
              <a:spcAft>
                <a:spcPts val="300"/>
              </a:spcAft>
              <a:buNone/>
            </a:pPr>
            <a:r>
              <a:rPr lang="en-US" sz="850" b="1" kern="0">
                <a:solidFill>
                  <a:srgbClr val="4E79A7"/>
                </a:solidFill>
                <a:latin typeface="Trebuchet MS" pitchFamily="34" charset="0"/>
                <a:ea typeface="Trebuchet MS" pitchFamily="34" charset="-122"/>
                <a:cs typeface="Trebuchet MS" pitchFamily="34" charset="-120"/>
              </a:rPr>
              <a:t>Measures:</a:t>
            </a:r>
            <a:r>
              <a:rPr lang="en-US" sz="850" kern="0">
                <a:solidFill>
                  <a:srgbClr val="334155"/>
                </a:solidFill>
                <a:latin typeface="Calibri" pitchFamily="34" charset="0"/>
                <a:ea typeface="Calibri" pitchFamily="34" charset="-122"/>
                <a:cs typeface="Calibri" pitchFamily="34" charset="-120"/>
              </a:rPr>
              <a:t>  Allowed Services, Allowed Charges, Payment</a:t>
            </a:r>
            <a:endParaRPr lang="en-US" sz="1000"/>
          </a:p>
          <a:p>
            <a:pPr marL="0" indent="0" algn="l">
              <a:spcAft>
                <a:spcPts val="300"/>
              </a:spcAft>
              <a:buNone/>
            </a:pPr>
            <a:r>
              <a:rPr lang="en-US" sz="850" b="1" kern="0">
                <a:solidFill>
                  <a:srgbClr val="4E79A7"/>
                </a:solidFill>
                <a:latin typeface="Trebuchet MS" pitchFamily="34" charset="0"/>
                <a:ea typeface="Trebuchet MS" pitchFamily="34" charset="-122"/>
                <a:cs typeface="Trebuchet MS" pitchFamily="34" charset="-120"/>
              </a:rPr>
              <a:t>Calc — Pay/Svc:</a:t>
            </a:r>
            <a:r>
              <a:rPr lang="en-US" sz="850" kern="0">
                <a:solidFill>
                  <a:srgbClr val="334155"/>
                </a:solidFill>
                <a:latin typeface="Calibri" pitchFamily="34" charset="0"/>
                <a:ea typeface="Calibri" pitchFamily="34" charset="-122"/>
                <a:cs typeface="Calibri" pitchFamily="34" charset="-120"/>
              </a:rPr>
              <a:t>  SUM([Payment]) / SUM([Services])</a:t>
            </a:r>
            <a:endParaRPr lang="en-US" sz="1000"/>
          </a:p>
          <a:p>
            <a:pPr marL="0" indent="0" algn="l">
              <a:spcAft>
                <a:spcPts val="300"/>
              </a:spcAft>
              <a:buNone/>
            </a:pPr>
            <a:r>
              <a:rPr lang="en-US" sz="850" b="1" kern="0">
                <a:solidFill>
                  <a:srgbClr val="4E79A7"/>
                </a:solidFill>
                <a:latin typeface="Trebuchet MS" pitchFamily="34" charset="0"/>
                <a:ea typeface="Trebuchet MS" pitchFamily="34" charset="-122"/>
                <a:cs typeface="Trebuchet MS" pitchFamily="34" charset="-120"/>
              </a:rPr>
              <a:t>Calc — Rate:</a:t>
            </a:r>
            <a:r>
              <a:rPr lang="en-US" sz="850" kern="0">
                <a:solidFill>
                  <a:srgbClr val="334155"/>
                </a:solidFill>
                <a:latin typeface="Calibri" pitchFamily="34" charset="0"/>
                <a:ea typeface="Calibri" pitchFamily="34" charset="-122"/>
                <a:cs typeface="Calibri" pitchFamily="34" charset="-120"/>
              </a:rPr>
              <a:t>  SUM([Payment]) / SUM([Allowed Charges])</a:t>
            </a:r>
            <a:endParaRPr lang="en-US" sz="1000"/>
          </a:p>
          <a:p>
            <a:pPr marL="0" indent="0" algn="l">
              <a:spcAft>
                <a:spcPts val="400"/>
              </a:spcAft>
              <a:buNone/>
            </a:pPr>
            <a:r>
              <a:rPr lang="en-US" sz="850" b="1" kern="0">
                <a:solidFill>
                  <a:srgbClr val="6BA5D7"/>
                </a:solidFill>
                <a:latin typeface="Calibri" pitchFamily="34" charset="0"/>
                <a:ea typeface="Calibri" pitchFamily="34" charset="-122"/>
                <a:cs typeface="Calibri" pitchFamily="34" charset="-120"/>
              </a:rPr>
              <a:t>▪  </a:t>
            </a:r>
            <a:r>
              <a:rPr lang="en-US" sz="850" kern="0">
                <a:solidFill>
                  <a:srgbClr val="334155"/>
                </a:solidFill>
                <a:latin typeface="Calibri" pitchFamily="34" charset="0"/>
                <a:ea typeface="Calibri" pitchFamily="34" charset="-122"/>
                <a:cs typeface="Calibri" pitchFamily="34" charset="-120"/>
              </a:rPr>
              <a:t>Exclude aggregate / “All” / source rows.</a:t>
            </a:r>
            <a:endParaRPr lang="en-US" sz="1000"/>
          </a:p>
        </p:txBody>
      </p:sp>
      <p:sp>
        <p:nvSpPr>
          <p:cNvPr id="10" name="card">
            <a:extLst>
              <a:ext uri="{C183D7F6-B498-43B3-948B-1728B52AA6E4}">
                <adec:decorative xmlns:adec="http://schemas.microsoft.com/office/drawing/2017/decorative" val="1"/>
              </a:ext>
            </a:extLst>
          </p:cNvPr>
          <p:cNvSpPr/>
          <p:nvPr/>
        </p:nvSpPr>
        <p:spPr>
          <a:xfrm>
            <a:off x="4280080" y="1700000"/>
            <a:ext cx="3535920" cy="1350000"/>
          </a:xfrm>
          <a:prstGeom prst="rect">
            <a:avLst/>
          </a:prstGeom>
          <a:solidFill>
            <a:srgbClr val="FFFFFF"/>
          </a:solidFill>
          <a:ln w="9525">
            <a:solidFill>
              <a:srgbClr val="E2E8F0"/>
            </a:solidFill>
          </a:ln>
          <a:effectLst>
            <a:outerShdw blurRad="114300" dist="38100" dir="5400000" algn="bl" rotWithShape="0">
              <a:srgbClr val="43426A">
                <a:alpha val="16000"/>
              </a:srgbClr>
            </a:outerShdw>
          </a:effectLst>
        </p:spPr>
        <p:txBody>
          <a:bodyPr/>
          <a:lstStyle/>
          <a:p>
            <a:endParaRPr lang="en-US"/>
          </a:p>
        </p:txBody>
      </p:sp>
      <p:sp>
        <p:nvSpPr>
          <p:cNvPr id="11" name="card top">
            <a:extLst>
              <a:ext uri="{C183D7F6-B498-43B3-948B-1728B52AA6E4}">
                <adec:decorative xmlns:adec="http://schemas.microsoft.com/office/drawing/2017/decorative" val="1"/>
              </a:ext>
            </a:extLst>
          </p:cNvPr>
          <p:cNvSpPr/>
          <p:nvPr/>
        </p:nvSpPr>
        <p:spPr>
          <a:xfrm>
            <a:off x="4280080" y="1700000"/>
            <a:ext cx="3535920" cy="58000"/>
          </a:xfrm>
          <a:prstGeom prst="rect">
            <a:avLst/>
          </a:prstGeom>
          <a:solidFill>
            <a:srgbClr val="6BA5D7"/>
          </a:solidFill>
          <a:ln/>
        </p:spPr>
        <p:txBody>
          <a:bodyPr/>
          <a:lstStyle/>
          <a:p>
            <a:endParaRPr lang="en-US"/>
          </a:p>
        </p:txBody>
      </p:sp>
      <p:sp>
        <p:nvSpPr>
          <p:cNvPr id="12" name="card title"/>
          <p:cNvSpPr/>
          <p:nvPr/>
        </p:nvSpPr>
        <p:spPr>
          <a:xfrm>
            <a:off x="4480080" y="1850000"/>
            <a:ext cx="3175920" cy="300000"/>
          </a:xfrm>
          <a:prstGeom prst="rect">
            <a:avLst/>
          </a:prstGeom>
          <a:noFill/>
          <a:ln/>
        </p:spPr>
        <p:txBody>
          <a:bodyPr wrap="square" lIns="0" tIns="0" rIns="0" bIns="0" rtlCol="0" anchor="t"/>
          <a:lstStyle/>
          <a:p>
            <a:pPr marL="0" indent="0" algn="l">
              <a:buNone/>
            </a:pPr>
            <a:r>
              <a:rPr lang="en-US" sz="950" b="1" kern="0" spc="80">
                <a:solidFill>
                  <a:srgbClr val="4E79A7"/>
                </a:solidFill>
                <a:latin typeface="Trebuchet MS" pitchFamily="34" charset="0"/>
                <a:ea typeface="Trebuchet MS" pitchFamily="34" charset="-122"/>
                <a:cs typeface="Trebuchet MS" pitchFamily="34" charset="-120"/>
              </a:rPr>
              <a:t>2 · SHEET: KPI TILES</a:t>
            </a:r>
            <a:endParaRPr lang="en-US" sz="1000"/>
          </a:p>
        </p:txBody>
      </p:sp>
      <p:sp>
        <p:nvSpPr>
          <p:cNvPr id="13" name="card body"/>
          <p:cNvSpPr/>
          <p:nvPr/>
        </p:nvSpPr>
        <p:spPr>
          <a:xfrm>
            <a:off x="4480080" y="2220000"/>
            <a:ext cx="3175920" cy="710000"/>
          </a:xfrm>
          <a:prstGeom prst="rect">
            <a:avLst/>
          </a:prstGeom>
          <a:noFill/>
          <a:ln/>
        </p:spPr>
        <p:txBody>
          <a:bodyPr wrap="square" lIns="0" tIns="0" rIns="0" bIns="0" rtlCol="0" anchor="t"/>
          <a:lstStyle/>
          <a:p>
            <a:pPr marL="0" indent="0" algn="l">
              <a:spcAft>
                <a:spcPts val="300"/>
              </a:spcAft>
              <a:buNone/>
            </a:pPr>
            <a:r>
              <a:rPr lang="en-US" sz="850" b="1" kern="0">
                <a:solidFill>
                  <a:srgbClr val="4E79A7"/>
                </a:solidFill>
                <a:latin typeface="Trebuchet MS" pitchFamily="34" charset="0"/>
                <a:ea typeface="Trebuchet MS" pitchFamily="34" charset="-122"/>
                <a:cs typeface="Trebuchet MS" pitchFamily="34" charset="-120"/>
              </a:rPr>
              <a:t>Marks:</a:t>
            </a:r>
            <a:r>
              <a:rPr lang="en-US" sz="850" kern="0">
                <a:solidFill>
                  <a:srgbClr val="334155"/>
                </a:solidFill>
                <a:latin typeface="Calibri" pitchFamily="34" charset="0"/>
                <a:ea typeface="Calibri" pitchFamily="34" charset="-122"/>
                <a:cs typeface="Calibri" pitchFamily="34" charset="-120"/>
              </a:rPr>
              <a:t>  Text (BAN)</a:t>
            </a:r>
            <a:endParaRPr lang="en-US" sz="1000"/>
          </a:p>
          <a:p>
            <a:pPr marL="0" indent="0" algn="l">
              <a:spcAft>
                <a:spcPts val="300"/>
              </a:spcAft>
              <a:buNone/>
            </a:pPr>
            <a:r>
              <a:rPr lang="en-US" sz="850" b="1" kern="0">
                <a:solidFill>
                  <a:srgbClr val="4E79A7"/>
                </a:solidFill>
                <a:latin typeface="Trebuchet MS" pitchFamily="34" charset="0"/>
                <a:ea typeface="Trebuchet MS" pitchFamily="34" charset="-122"/>
                <a:cs typeface="Trebuchet MS" pitchFamily="34" charset="-120"/>
              </a:rPr>
              <a:t>Text:</a:t>
            </a:r>
            <a:r>
              <a:rPr lang="en-US" sz="850" kern="0">
                <a:solidFill>
                  <a:srgbClr val="334155"/>
                </a:solidFill>
                <a:latin typeface="Calibri" pitchFamily="34" charset="0"/>
                <a:ea typeface="Calibri" pitchFamily="34" charset="-122"/>
                <a:cs typeface="Calibri" pitchFamily="34" charset="-120"/>
              </a:rPr>
              <a:t>  Payment, Services, Pay/Svc, Rate</a:t>
            </a:r>
            <a:endParaRPr lang="en-US" sz="1000"/>
          </a:p>
          <a:p>
            <a:pPr marL="0" indent="0" algn="l">
              <a:spcAft>
                <a:spcPts val="300"/>
              </a:spcAft>
              <a:buNone/>
            </a:pPr>
            <a:r>
              <a:rPr lang="en-US" sz="850" b="1" kern="0">
                <a:solidFill>
                  <a:srgbClr val="4E79A7"/>
                </a:solidFill>
                <a:latin typeface="Trebuchet MS" pitchFamily="34" charset="0"/>
                <a:ea typeface="Trebuchet MS" pitchFamily="34" charset="-122"/>
                <a:cs typeface="Trebuchet MS" pitchFamily="34" charset="-120"/>
              </a:rPr>
              <a:t>Layout:</a:t>
            </a:r>
            <a:r>
              <a:rPr lang="en-US" sz="850" kern="0">
                <a:solidFill>
                  <a:srgbClr val="334155"/>
                </a:solidFill>
                <a:latin typeface="Calibri" pitchFamily="34" charset="0"/>
                <a:ea typeface="Calibri" pitchFamily="34" charset="-122"/>
                <a:cs typeface="Calibri" pitchFamily="34" charset="-120"/>
              </a:rPr>
              <a:t>  one BAN per KPI, 4 across</a:t>
            </a:r>
            <a:endParaRPr lang="en-US" sz="1000"/>
          </a:p>
        </p:txBody>
      </p:sp>
      <p:sp>
        <p:nvSpPr>
          <p:cNvPr id="14" name="card">
            <a:extLst>
              <a:ext uri="{C183D7F6-B498-43B3-948B-1728B52AA6E4}">
                <adec:decorative xmlns:adec="http://schemas.microsoft.com/office/drawing/2017/decorative" val="1"/>
              </a:ext>
            </a:extLst>
          </p:cNvPr>
          <p:cNvSpPr/>
          <p:nvPr/>
        </p:nvSpPr>
        <p:spPr>
          <a:xfrm>
            <a:off x="8016000" y="1700000"/>
            <a:ext cx="3535920" cy="1350000"/>
          </a:xfrm>
          <a:prstGeom prst="rect">
            <a:avLst/>
          </a:prstGeom>
          <a:solidFill>
            <a:srgbClr val="FFFFFF"/>
          </a:solidFill>
          <a:ln w="9525">
            <a:solidFill>
              <a:srgbClr val="E2E8F0"/>
            </a:solidFill>
          </a:ln>
          <a:effectLst>
            <a:outerShdw blurRad="114300" dist="38100" dir="5400000" algn="bl" rotWithShape="0">
              <a:srgbClr val="43426A">
                <a:alpha val="16000"/>
              </a:srgbClr>
            </a:outerShdw>
          </a:effectLst>
        </p:spPr>
        <p:txBody>
          <a:bodyPr/>
          <a:lstStyle/>
          <a:p>
            <a:endParaRPr lang="en-US"/>
          </a:p>
        </p:txBody>
      </p:sp>
      <p:sp>
        <p:nvSpPr>
          <p:cNvPr id="15" name="card top">
            <a:extLst>
              <a:ext uri="{C183D7F6-B498-43B3-948B-1728B52AA6E4}">
                <adec:decorative xmlns:adec="http://schemas.microsoft.com/office/drawing/2017/decorative" val="1"/>
              </a:ext>
            </a:extLst>
          </p:cNvPr>
          <p:cNvSpPr/>
          <p:nvPr/>
        </p:nvSpPr>
        <p:spPr>
          <a:xfrm>
            <a:off x="8016000" y="1700000"/>
            <a:ext cx="3535920" cy="58000"/>
          </a:xfrm>
          <a:prstGeom prst="rect">
            <a:avLst/>
          </a:prstGeom>
          <a:solidFill>
            <a:srgbClr val="6BA5D7"/>
          </a:solidFill>
          <a:ln/>
        </p:spPr>
        <p:txBody>
          <a:bodyPr/>
          <a:lstStyle/>
          <a:p>
            <a:endParaRPr lang="en-US"/>
          </a:p>
        </p:txBody>
      </p:sp>
      <p:sp>
        <p:nvSpPr>
          <p:cNvPr id="16" name="card title"/>
          <p:cNvSpPr/>
          <p:nvPr/>
        </p:nvSpPr>
        <p:spPr>
          <a:xfrm>
            <a:off x="8216000" y="1850000"/>
            <a:ext cx="3175920" cy="300000"/>
          </a:xfrm>
          <a:prstGeom prst="rect">
            <a:avLst/>
          </a:prstGeom>
          <a:noFill/>
          <a:ln/>
        </p:spPr>
        <p:txBody>
          <a:bodyPr wrap="square" lIns="0" tIns="0" rIns="0" bIns="0" rtlCol="0" anchor="t"/>
          <a:lstStyle/>
          <a:p>
            <a:pPr marL="0" indent="0" algn="l">
              <a:buNone/>
            </a:pPr>
            <a:r>
              <a:rPr lang="en-US" sz="950" b="1" kern="0" spc="80">
                <a:solidFill>
                  <a:srgbClr val="4E79A7"/>
                </a:solidFill>
                <a:latin typeface="Trebuchet MS" pitchFamily="34" charset="0"/>
                <a:ea typeface="Trebuchet MS" pitchFamily="34" charset="-122"/>
                <a:cs typeface="Trebuchet MS" pitchFamily="34" charset="-120"/>
              </a:rPr>
              <a:t>3 · SHEET: PAYMENTS BY YEAR</a:t>
            </a:r>
            <a:endParaRPr lang="en-US" sz="1000"/>
          </a:p>
        </p:txBody>
      </p:sp>
      <p:sp>
        <p:nvSpPr>
          <p:cNvPr id="17" name="card body"/>
          <p:cNvSpPr/>
          <p:nvPr/>
        </p:nvSpPr>
        <p:spPr>
          <a:xfrm>
            <a:off x="8216000" y="2220000"/>
            <a:ext cx="3175920" cy="710000"/>
          </a:xfrm>
          <a:prstGeom prst="rect">
            <a:avLst/>
          </a:prstGeom>
          <a:noFill/>
          <a:ln/>
        </p:spPr>
        <p:txBody>
          <a:bodyPr wrap="square" lIns="0" tIns="0" rIns="0" bIns="0" rtlCol="0" anchor="t"/>
          <a:lstStyle/>
          <a:p>
            <a:pPr marL="0" indent="0" algn="l">
              <a:spcAft>
                <a:spcPts val="300"/>
              </a:spcAft>
              <a:buNone/>
            </a:pPr>
            <a:r>
              <a:rPr lang="en-US" sz="850" b="1" kern="0">
                <a:solidFill>
                  <a:srgbClr val="4E79A7"/>
                </a:solidFill>
                <a:latin typeface="Trebuchet MS" pitchFamily="34" charset="0"/>
                <a:ea typeface="Trebuchet MS" pitchFamily="34" charset="-122"/>
                <a:cs typeface="Trebuchet MS" pitchFamily="34" charset="-120"/>
              </a:rPr>
              <a:t>Marks:</a:t>
            </a:r>
            <a:r>
              <a:rPr lang="en-US" sz="850" kern="0">
                <a:solidFill>
                  <a:srgbClr val="334155"/>
                </a:solidFill>
                <a:latin typeface="Calibri" pitchFamily="34" charset="0"/>
                <a:ea typeface="Calibri" pitchFamily="34" charset="-122"/>
                <a:cs typeface="Calibri" pitchFamily="34" charset="-120"/>
              </a:rPr>
              <a:t>  Bar</a:t>
            </a:r>
            <a:endParaRPr lang="en-US" sz="1000"/>
          </a:p>
          <a:p>
            <a:pPr marL="0" indent="0" algn="l">
              <a:spcAft>
                <a:spcPts val="300"/>
              </a:spcAft>
              <a:buNone/>
            </a:pPr>
            <a:r>
              <a:rPr lang="en-US" sz="850" b="1" kern="0">
                <a:solidFill>
                  <a:srgbClr val="4E79A7"/>
                </a:solidFill>
                <a:latin typeface="Trebuchet MS" pitchFamily="34" charset="0"/>
                <a:ea typeface="Trebuchet MS" pitchFamily="34" charset="-122"/>
                <a:cs typeface="Trebuchet MS" pitchFamily="34" charset="-120"/>
              </a:rPr>
              <a:t>Columns:</a:t>
            </a:r>
            <a:r>
              <a:rPr lang="en-US" sz="850" kern="0">
                <a:solidFill>
                  <a:srgbClr val="334155"/>
                </a:solidFill>
                <a:latin typeface="Calibri" pitchFamily="34" charset="0"/>
                <a:ea typeface="Calibri" pitchFamily="34" charset="-122"/>
                <a:cs typeface="Calibri" pitchFamily="34" charset="-120"/>
              </a:rPr>
              <a:t>  YEAR(Year)</a:t>
            </a:r>
            <a:endParaRPr lang="en-US" sz="1000"/>
          </a:p>
          <a:p>
            <a:pPr marL="0" indent="0" algn="l">
              <a:spcAft>
                <a:spcPts val="300"/>
              </a:spcAft>
              <a:buNone/>
            </a:pPr>
            <a:r>
              <a:rPr lang="en-US" sz="850" b="1" kern="0">
                <a:solidFill>
                  <a:srgbClr val="4E79A7"/>
                </a:solidFill>
                <a:latin typeface="Trebuchet MS" pitchFamily="34" charset="0"/>
                <a:ea typeface="Trebuchet MS" pitchFamily="34" charset="-122"/>
                <a:cs typeface="Trebuchet MS" pitchFamily="34" charset="-120"/>
              </a:rPr>
              <a:t>Rows:</a:t>
            </a:r>
            <a:r>
              <a:rPr lang="en-US" sz="850" kern="0">
                <a:solidFill>
                  <a:srgbClr val="334155"/>
                </a:solidFill>
                <a:latin typeface="Calibri" pitchFamily="34" charset="0"/>
                <a:ea typeface="Calibri" pitchFamily="34" charset="-122"/>
                <a:cs typeface="Calibri" pitchFamily="34" charset="-120"/>
              </a:rPr>
              <a:t>  SUM([Payment])</a:t>
            </a:r>
            <a:endParaRPr lang="en-US" sz="1000"/>
          </a:p>
          <a:p>
            <a:pPr marL="0" indent="0" algn="l">
              <a:spcAft>
                <a:spcPts val="300"/>
              </a:spcAft>
              <a:buNone/>
            </a:pPr>
            <a:r>
              <a:rPr lang="en-US" sz="850" b="1" kern="0">
                <a:solidFill>
                  <a:srgbClr val="4E79A7"/>
                </a:solidFill>
                <a:latin typeface="Trebuchet MS" pitchFamily="34" charset="0"/>
                <a:ea typeface="Trebuchet MS" pitchFamily="34" charset="-122"/>
                <a:cs typeface="Trebuchet MS" pitchFamily="34" charset="-120"/>
              </a:rPr>
              <a:t>Label:</a:t>
            </a:r>
            <a:r>
              <a:rPr lang="en-US" sz="850" kern="0">
                <a:solidFill>
                  <a:srgbClr val="334155"/>
                </a:solidFill>
                <a:latin typeface="Calibri" pitchFamily="34" charset="0"/>
                <a:ea typeface="Calibri" pitchFamily="34" charset="-122"/>
                <a:cs typeface="Calibri" pitchFamily="34" charset="-120"/>
              </a:rPr>
              <a:t>  SUM([Payment]); green fill</a:t>
            </a:r>
            <a:endParaRPr lang="en-US" sz="1000"/>
          </a:p>
        </p:txBody>
      </p:sp>
      <p:sp>
        <p:nvSpPr>
          <p:cNvPr id="18" name="card">
            <a:extLst>
              <a:ext uri="{C183D7F6-B498-43B3-948B-1728B52AA6E4}">
                <adec:decorative xmlns:adec="http://schemas.microsoft.com/office/drawing/2017/decorative" val="1"/>
              </a:ext>
            </a:extLst>
          </p:cNvPr>
          <p:cNvSpPr/>
          <p:nvPr/>
        </p:nvSpPr>
        <p:spPr>
          <a:xfrm>
            <a:off x="4280080" y="3250000"/>
            <a:ext cx="3535920" cy="1350000"/>
          </a:xfrm>
          <a:prstGeom prst="rect">
            <a:avLst/>
          </a:prstGeom>
          <a:solidFill>
            <a:srgbClr val="FFFFFF"/>
          </a:solidFill>
          <a:ln w="9525">
            <a:solidFill>
              <a:srgbClr val="E2E8F0"/>
            </a:solidFill>
          </a:ln>
          <a:effectLst>
            <a:outerShdw blurRad="114300" dist="38100" dir="5400000" algn="bl" rotWithShape="0">
              <a:srgbClr val="43426A">
                <a:alpha val="16000"/>
              </a:srgbClr>
            </a:outerShdw>
          </a:effectLst>
        </p:spPr>
        <p:txBody>
          <a:bodyPr/>
          <a:lstStyle/>
          <a:p>
            <a:endParaRPr lang="en-US"/>
          </a:p>
        </p:txBody>
      </p:sp>
      <p:sp>
        <p:nvSpPr>
          <p:cNvPr id="19" name="card top">
            <a:extLst>
              <a:ext uri="{C183D7F6-B498-43B3-948B-1728B52AA6E4}">
                <adec:decorative xmlns:adec="http://schemas.microsoft.com/office/drawing/2017/decorative" val="1"/>
              </a:ext>
            </a:extLst>
          </p:cNvPr>
          <p:cNvSpPr/>
          <p:nvPr/>
        </p:nvSpPr>
        <p:spPr>
          <a:xfrm>
            <a:off x="4280080" y="3250000"/>
            <a:ext cx="3535920" cy="58000"/>
          </a:xfrm>
          <a:prstGeom prst="rect">
            <a:avLst/>
          </a:prstGeom>
          <a:solidFill>
            <a:srgbClr val="6BA5D7"/>
          </a:solidFill>
          <a:ln/>
        </p:spPr>
        <p:txBody>
          <a:bodyPr/>
          <a:lstStyle/>
          <a:p>
            <a:endParaRPr lang="en-US"/>
          </a:p>
        </p:txBody>
      </p:sp>
      <p:sp>
        <p:nvSpPr>
          <p:cNvPr id="20" name="card title"/>
          <p:cNvSpPr/>
          <p:nvPr/>
        </p:nvSpPr>
        <p:spPr>
          <a:xfrm>
            <a:off x="4480080" y="3400000"/>
            <a:ext cx="3175920" cy="300000"/>
          </a:xfrm>
          <a:prstGeom prst="rect">
            <a:avLst/>
          </a:prstGeom>
          <a:noFill/>
          <a:ln/>
        </p:spPr>
        <p:txBody>
          <a:bodyPr wrap="square" lIns="0" tIns="0" rIns="0" bIns="0" rtlCol="0" anchor="t"/>
          <a:lstStyle/>
          <a:p>
            <a:pPr marL="0" indent="0" algn="l">
              <a:buNone/>
            </a:pPr>
            <a:r>
              <a:rPr lang="en-US" sz="950" b="1" kern="0" spc="80">
                <a:solidFill>
                  <a:srgbClr val="4E79A7"/>
                </a:solidFill>
                <a:latin typeface="Trebuchet MS" pitchFamily="34" charset="0"/>
                <a:ea typeface="Trebuchet MS" pitchFamily="34" charset="-122"/>
                <a:cs typeface="Trebuchet MS" pitchFamily="34" charset="-120"/>
              </a:rPr>
              <a:t>4 · SHEET: TOP SPECIALTIES</a:t>
            </a:r>
            <a:endParaRPr lang="en-US" sz="1000"/>
          </a:p>
        </p:txBody>
      </p:sp>
      <p:sp>
        <p:nvSpPr>
          <p:cNvPr id="21" name="card body"/>
          <p:cNvSpPr/>
          <p:nvPr/>
        </p:nvSpPr>
        <p:spPr>
          <a:xfrm>
            <a:off x="4480080" y="3770000"/>
            <a:ext cx="3175920" cy="710000"/>
          </a:xfrm>
          <a:prstGeom prst="rect">
            <a:avLst/>
          </a:prstGeom>
          <a:noFill/>
          <a:ln/>
        </p:spPr>
        <p:txBody>
          <a:bodyPr wrap="square" lIns="0" tIns="0" rIns="0" bIns="0" rtlCol="0" anchor="t"/>
          <a:lstStyle/>
          <a:p>
            <a:pPr marL="0" indent="0" algn="l">
              <a:spcAft>
                <a:spcPts val="300"/>
              </a:spcAft>
              <a:buNone/>
            </a:pPr>
            <a:r>
              <a:rPr lang="en-US" sz="850" b="1" kern="0">
                <a:solidFill>
                  <a:srgbClr val="4E79A7"/>
                </a:solidFill>
                <a:latin typeface="Trebuchet MS" pitchFamily="34" charset="0"/>
                <a:ea typeface="Trebuchet MS" pitchFamily="34" charset="-122"/>
                <a:cs typeface="Trebuchet MS" pitchFamily="34" charset="-120"/>
              </a:rPr>
              <a:t>Marks:</a:t>
            </a:r>
            <a:r>
              <a:rPr lang="en-US" sz="850" kern="0">
                <a:solidFill>
                  <a:srgbClr val="334155"/>
                </a:solidFill>
                <a:latin typeface="Calibri" pitchFamily="34" charset="0"/>
                <a:ea typeface="Calibri" pitchFamily="34" charset="-122"/>
                <a:cs typeface="Calibri" pitchFamily="34" charset="-120"/>
              </a:rPr>
              <a:t>  Bar (horizontal)</a:t>
            </a:r>
            <a:endParaRPr lang="en-US" sz="1000"/>
          </a:p>
          <a:p>
            <a:pPr marL="0" indent="0" algn="l">
              <a:spcAft>
                <a:spcPts val="300"/>
              </a:spcAft>
              <a:buNone/>
            </a:pPr>
            <a:r>
              <a:rPr lang="en-US" sz="850" b="1" kern="0">
                <a:solidFill>
                  <a:srgbClr val="4E79A7"/>
                </a:solidFill>
                <a:latin typeface="Trebuchet MS" pitchFamily="34" charset="0"/>
                <a:ea typeface="Trebuchet MS" pitchFamily="34" charset="-122"/>
                <a:cs typeface="Trebuchet MS" pitchFamily="34" charset="-120"/>
              </a:rPr>
              <a:t>Rows:</a:t>
            </a:r>
            <a:r>
              <a:rPr lang="en-US" sz="850" kern="0">
                <a:solidFill>
                  <a:srgbClr val="334155"/>
                </a:solidFill>
                <a:latin typeface="Calibri" pitchFamily="34" charset="0"/>
                <a:ea typeface="Calibri" pitchFamily="34" charset="-122"/>
                <a:cs typeface="Calibri" pitchFamily="34" charset="-120"/>
              </a:rPr>
              <a:t>  Specialty (sort desc)</a:t>
            </a:r>
            <a:endParaRPr lang="en-US" sz="1000"/>
          </a:p>
          <a:p>
            <a:pPr marL="0" indent="0" algn="l">
              <a:spcAft>
                <a:spcPts val="300"/>
              </a:spcAft>
              <a:buNone/>
            </a:pPr>
            <a:r>
              <a:rPr lang="en-US" sz="850" b="1" kern="0">
                <a:solidFill>
                  <a:srgbClr val="4E79A7"/>
                </a:solidFill>
                <a:latin typeface="Trebuchet MS" pitchFamily="34" charset="0"/>
                <a:ea typeface="Trebuchet MS" pitchFamily="34" charset="-122"/>
                <a:cs typeface="Trebuchet MS" pitchFamily="34" charset="-120"/>
              </a:rPr>
              <a:t>Columns:</a:t>
            </a:r>
            <a:r>
              <a:rPr lang="en-US" sz="850" kern="0">
                <a:solidFill>
                  <a:srgbClr val="334155"/>
                </a:solidFill>
                <a:latin typeface="Calibri" pitchFamily="34" charset="0"/>
                <a:ea typeface="Calibri" pitchFamily="34" charset="-122"/>
                <a:cs typeface="Calibri" pitchFamily="34" charset="-120"/>
              </a:rPr>
              <a:t>  SUM([Payment])</a:t>
            </a:r>
            <a:endParaRPr lang="en-US" sz="1000"/>
          </a:p>
          <a:p>
            <a:pPr marL="0" indent="0" algn="l">
              <a:spcAft>
                <a:spcPts val="300"/>
              </a:spcAft>
              <a:buNone/>
            </a:pPr>
            <a:r>
              <a:rPr lang="en-US" sz="850" b="1" kern="0">
                <a:solidFill>
                  <a:srgbClr val="4E79A7"/>
                </a:solidFill>
                <a:latin typeface="Trebuchet MS" pitchFamily="34" charset="0"/>
                <a:ea typeface="Trebuchet MS" pitchFamily="34" charset="-122"/>
                <a:cs typeface="Trebuchet MS" pitchFamily="34" charset="-120"/>
              </a:rPr>
              <a:t>Filter:</a:t>
            </a:r>
            <a:r>
              <a:rPr lang="en-US" sz="850" kern="0">
                <a:solidFill>
                  <a:srgbClr val="334155"/>
                </a:solidFill>
                <a:latin typeface="Calibri" pitchFamily="34" charset="0"/>
                <a:ea typeface="Calibri" pitchFamily="34" charset="-122"/>
                <a:cs typeface="Calibri" pitchFamily="34" charset="-120"/>
              </a:rPr>
              <a:t>  Top 10 by Payment</a:t>
            </a:r>
            <a:endParaRPr lang="en-US" sz="1000"/>
          </a:p>
        </p:txBody>
      </p:sp>
      <p:sp>
        <p:nvSpPr>
          <p:cNvPr id="22" name="card">
            <a:extLst>
              <a:ext uri="{C183D7F6-B498-43B3-948B-1728B52AA6E4}">
                <adec:decorative xmlns:adec="http://schemas.microsoft.com/office/drawing/2017/decorative" val="1"/>
              </a:ext>
            </a:extLst>
          </p:cNvPr>
          <p:cNvSpPr/>
          <p:nvPr/>
        </p:nvSpPr>
        <p:spPr>
          <a:xfrm>
            <a:off x="8016000" y="3250000"/>
            <a:ext cx="3535920" cy="1350000"/>
          </a:xfrm>
          <a:prstGeom prst="rect">
            <a:avLst/>
          </a:prstGeom>
          <a:solidFill>
            <a:srgbClr val="FFFFFF"/>
          </a:solidFill>
          <a:ln w="9525">
            <a:solidFill>
              <a:srgbClr val="E2E8F0"/>
            </a:solidFill>
          </a:ln>
          <a:effectLst>
            <a:outerShdw blurRad="114300" dist="38100" dir="5400000" algn="bl" rotWithShape="0">
              <a:srgbClr val="43426A">
                <a:alpha val="16000"/>
              </a:srgbClr>
            </a:outerShdw>
          </a:effectLst>
        </p:spPr>
        <p:txBody>
          <a:bodyPr/>
          <a:lstStyle/>
          <a:p>
            <a:endParaRPr lang="en-US"/>
          </a:p>
        </p:txBody>
      </p:sp>
      <p:sp>
        <p:nvSpPr>
          <p:cNvPr id="23" name="card top">
            <a:extLst>
              <a:ext uri="{C183D7F6-B498-43B3-948B-1728B52AA6E4}">
                <adec:decorative xmlns:adec="http://schemas.microsoft.com/office/drawing/2017/decorative" val="1"/>
              </a:ext>
            </a:extLst>
          </p:cNvPr>
          <p:cNvSpPr/>
          <p:nvPr/>
        </p:nvSpPr>
        <p:spPr>
          <a:xfrm>
            <a:off x="8016000" y="3250000"/>
            <a:ext cx="3535920" cy="58000"/>
          </a:xfrm>
          <a:prstGeom prst="rect">
            <a:avLst/>
          </a:prstGeom>
          <a:solidFill>
            <a:srgbClr val="6BA5D7"/>
          </a:solidFill>
          <a:ln/>
        </p:spPr>
        <p:txBody>
          <a:bodyPr/>
          <a:lstStyle/>
          <a:p>
            <a:endParaRPr lang="en-US"/>
          </a:p>
        </p:txBody>
      </p:sp>
      <p:sp>
        <p:nvSpPr>
          <p:cNvPr id="24" name="card title"/>
          <p:cNvSpPr/>
          <p:nvPr/>
        </p:nvSpPr>
        <p:spPr>
          <a:xfrm>
            <a:off x="8216000" y="3400000"/>
            <a:ext cx="3175920" cy="300000"/>
          </a:xfrm>
          <a:prstGeom prst="rect">
            <a:avLst/>
          </a:prstGeom>
          <a:noFill/>
          <a:ln/>
        </p:spPr>
        <p:txBody>
          <a:bodyPr wrap="square" lIns="0" tIns="0" rIns="0" bIns="0" rtlCol="0" anchor="t"/>
          <a:lstStyle/>
          <a:p>
            <a:pPr marL="0" indent="0" algn="l">
              <a:buNone/>
            </a:pPr>
            <a:r>
              <a:rPr lang="en-US" sz="950" b="1" kern="0" spc="80">
                <a:solidFill>
                  <a:srgbClr val="4E79A7"/>
                </a:solidFill>
                <a:latin typeface="Trebuchet MS" pitchFamily="34" charset="0"/>
                <a:ea typeface="Trebuchet MS" pitchFamily="34" charset="-122"/>
                <a:cs typeface="Trebuchet MS" pitchFamily="34" charset="-120"/>
              </a:rPr>
              <a:t>5 · SHEET: COST INTENSITY</a:t>
            </a:r>
            <a:endParaRPr lang="en-US" sz="1000"/>
          </a:p>
        </p:txBody>
      </p:sp>
      <p:sp>
        <p:nvSpPr>
          <p:cNvPr id="25" name="card body"/>
          <p:cNvSpPr/>
          <p:nvPr/>
        </p:nvSpPr>
        <p:spPr>
          <a:xfrm>
            <a:off x="8216000" y="3770000"/>
            <a:ext cx="3175920" cy="710000"/>
          </a:xfrm>
          <a:prstGeom prst="rect">
            <a:avLst/>
          </a:prstGeom>
          <a:noFill/>
          <a:ln/>
        </p:spPr>
        <p:txBody>
          <a:bodyPr wrap="square" lIns="0" tIns="0" rIns="0" bIns="0" rtlCol="0" anchor="t"/>
          <a:lstStyle/>
          <a:p>
            <a:pPr marL="0" indent="0" algn="l">
              <a:spcAft>
                <a:spcPts val="300"/>
              </a:spcAft>
              <a:buNone/>
            </a:pPr>
            <a:r>
              <a:rPr lang="en-US" sz="850" b="1" kern="0">
                <a:solidFill>
                  <a:srgbClr val="4E79A7"/>
                </a:solidFill>
                <a:latin typeface="Trebuchet MS" pitchFamily="34" charset="0"/>
                <a:ea typeface="Trebuchet MS" pitchFamily="34" charset="-122"/>
                <a:cs typeface="Trebuchet MS" pitchFamily="34" charset="-120"/>
              </a:rPr>
              <a:t>Marks:</a:t>
            </a:r>
            <a:r>
              <a:rPr lang="en-US" sz="850" kern="0">
                <a:solidFill>
                  <a:srgbClr val="334155"/>
                </a:solidFill>
                <a:latin typeface="Calibri" pitchFamily="34" charset="0"/>
                <a:ea typeface="Calibri" pitchFamily="34" charset="-122"/>
                <a:cs typeface="Calibri" pitchFamily="34" charset="-120"/>
              </a:rPr>
              <a:t>  Circle (scatter)</a:t>
            </a:r>
            <a:endParaRPr lang="en-US" sz="1000"/>
          </a:p>
          <a:p>
            <a:pPr marL="0" indent="0" algn="l">
              <a:spcAft>
                <a:spcPts val="300"/>
              </a:spcAft>
              <a:buNone/>
            </a:pPr>
            <a:r>
              <a:rPr lang="en-US" sz="850" b="1" kern="0">
                <a:solidFill>
                  <a:srgbClr val="4E79A7"/>
                </a:solidFill>
                <a:latin typeface="Trebuchet MS" pitchFamily="34" charset="0"/>
                <a:ea typeface="Trebuchet MS" pitchFamily="34" charset="-122"/>
                <a:cs typeface="Trebuchet MS" pitchFamily="34" charset="-120"/>
              </a:rPr>
              <a:t>Columns:</a:t>
            </a:r>
            <a:r>
              <a:rPr lang="en-US" sz="850" kern="0">
                <a:solidFill>
                  <a:srgbClr val="334155"/>
                </a:solidFill>
                <a:latin typeface="Calibri" pitchFamily="34" charset="0"/>
                <a:ea typeface="Calibri" pitchFamily="34" charset="-122"/>
                <a:cs typeface="Calibri" pitchFamily="34" charset="-120"/>
              </a:rPr>
              <a:t>  SUM([Services])</a:t>
            </a:r>
            <a:endParaRPr lang="en-US" sz="1000"/>
          </a:p>
          <a:p>
            <a:pPr marL="0" indent="0" algn="l">
              <a:spcAft>
                <a:spcPts val="300"/>
              </a:spcAft>
              <a:buNone/>
            </a:pPr>
            <a:r>
              <a:rPr lang="en-US" sz="850" b="1" kern="0">
                <a:solidFill>
                  <a:srgbClr val="4E79A7"/>
                </a:solidFill>
                <a:latin typeface="Trebuchet MS" pitchFamily="34" charset="0"/>
                <a:ea typeface="Trebuchet MS" pitchFamily="34" charset="-122"/>
                <a:cs typeface="Trebuchet MS" pitchFamily="34" charset="-120"/>
              </a:rPr>
              <a:t>Rows:</a:t>
            </a:r>
            <a:r>
              <a:rPr lang="en-US" sz="850" kern="0">
                <a:solidFill>
                  <a:srgbClr val="334155"/>
                </a:solidFill>
                <a:latin typeface="Calibri" pitchFamily="34" charset="0"/>
                <a:ea typeface="Calibri" pitchFamily="34" charset="-122"/>
                <a:cs typeface="Calibri" pitchFamily="34" charset="-120"/>
              </a:rPr>
              <a:t>  Payment / Service</a:t>
            </a:r>
            <a:endParaRPr lang="en-US" sz="1000"/>
          </a:p>
          <a:p>
            <a:pPr marL="0" indent="0" algn="l">
              <a:spcAft>
                <a:spcPts val="300"/>
              </a:spcAft>
              <a:buNone/>
            </a:pPr>
            <a:r>
              <a:rPr lang="en-US" sz="850" b="1" kern="0">
                <a:solidFill>
                  <a:srgbClr val="4E79A7"/>
                </a:solidFill>
                <a:latin typeface="Trebuchet MS" pitchFamily="34" charset="0"/>
                <a:ea typeface="Trebuchet MS" pitchFamily="34" charset="-122"/>
                <a:cs typeface="Trebuchet MS" pitchFamily="34" charset="-120"/>
              </a:rPr>
              <a:t>Detail / Size:</a:t>
            </a:r>
            <a:r>
              <a:rPr lang="en-US" sz="850" kern="0">
                <a:solidFill>
                  <a:srgbClr val="334155"/>
                </a:solidFill>
                <a:latin typeface="Calibri" pitchFamily="34" charset="0"/>
                <a:ea typeface="Calibri" pitchFamily="34" charset="-122"/>
                <a:cs typeface="Calibri" pitchFamily="34" charset="-120"/>
              </a:rPr>
              <a:t>  Specialty / Payment</a:t>
            </a:r>
            <a:endParaRPr lang="en-US" sz="1000"/>
          </a:p>
        </p:txBody>
      </p:sp>
      <p:sp>
        <p:nvSpPr>
          <p:cNvPr id="26" name="assembly">
            <a:extLst>
              <a:ext uri="{C183D7F6-B498-43B3-948B-1728B52AA6E4}">
                <adec:decorative xmlns:adec="http://schemas.microsoft.com/office/drawing/2017/decorative" val="1"/>
              </a:ext>
            </a:extLst>
          </p:cNvPr>
          <p:cNvSpPr/>
          <p:nvPr/>
        </p:nvSpPr>
        <p:spPr>
          <a:xfrm>
            <a:off x="640080" y="4780000"/>
            <a:ext cx="10911840" cy="1500000"/>
          </a:xfrm>
          <a:prstGeom prst="rect">
            <a:avLst/>
          </a:prstGeom>
          <a:solidFill>
            <a:srgbClr val="2B2A45"/>
          </a:solidFill>
          <a:ln/>
        </p:spPr>
        <p:txBody>
          <a:bodyPr/>
          <a:lstStyle/>
          <a:p>
            <a:endParaRPr lang="en-US"/>
          </a:p>
        </p:txBody>
      </p:sp>
      <p:sp>
        <p:nvSpPr>
          <p:cNvPr id="27" name="assembly accent">
            <a:extLst>
              <a:ext uri="{C183D7F6-B498-43B3-948B-1728B52AA6E4}">
                <adec:decorative xmlns:adec="http://schemas.microsoft.com/office/drawing/2017/decorative" val="1"/>
              </a:ext>
            </a:extLst>
          </p:cNvPr>
          <p:cNvSpPr/>
          <p:nvPr/>
        </p:nvSpPr>
        <p:spPr>
          <a:xfrm>
            <a:off x="640080" y="4780000"/>
            <a:ext cx="58000" cy="1500000"/>
          </a:xfrm>
          <a:prstGeom prst="rect">
            <a:avLst/>
          </a:prstGeom>
          <a:solidFill>
            <a:srgbClr val="6BA5D7"/>
          </a:solidFill>
          <a:ln/>
        </p:spPr>
        <p:txBody>
          <a:bodyPr/>
          <a:lstStyle/>
          <a:p>
            <a:endParaRPr lang="en-US"/>
          </a:p>
        </p:txBody>
      </p:sp>
      <p:sp>
        <p:nvSpPr>
          <p:cNvPr id="28" name="asm title"/>
          <p:cNvSpPr/>
          <p:nvPr/>
        </p:nvSpPr>
        <p:spPr>
          <a:xfrm>
            <a:off x="860080" y="4900000"/>
            <a:ext cx="10471840" cy="300000"/>
          </a:xfrm>
          <a:prstGeom prst="rect">
            <a:avLst/>
          </a:prstGeom>
          <a:noFill/>
          <a:ln/>
        </p:spPr>
        <p:txBody>
          <a:bodyPr wrap="square" lIns="0" tIns="0" rIns="0" bIns="0" rtlCol="0" anchor="t"/>
          <a:lstStyle/>
          <a:p>
            <a:pPr marL="0" indent="0" algn="l">
              <a:buNone/>
            </a:pPr>
            <a:r>
              <a:rPr lang="en-US" sz="950" b="1" kern="0" spc="80">
                <a:solidFill>
                  <a:srgbClr val="6BA5D7"/>
                </a:solidFill>
                <a:latin typeface="Trebuchet MS" pitchFamily="34" charset="0"/>
                <a:ea typeface="Trebuchet MS" pitchFamily="34" charset="-122"/>
                <a:cs typeface="Trebuchet MS" pitchFamily="34" charset="-120"/>
              </a:rPr>
              <a:t>6 · DASHBOARD ASSEMBLY</a:t>
            </a:r>
            <a:endParaRPr lang="en-US" sz="1000"/>
          </a:p>
        </p:txBody>
      </p:sp>
      <p:sp>
        <p:nvSpPr>
          <p:cNvPr id="29" name="asm h"/>
          <p:cNvSpPr/>
          <p:nvPr/>
        </p:nvSpPr>
        <p:spPr>
          <a:xfrm>
            <a:off x="860080" y="5250000"/>
            <a:ext cx="3290613" cy="240000"/>
          </a:xfrm>
          <a:prstGeom prst="rect">
            <a:avLst/>
          </a:prstGeom>
          <a:noFill/>
          <a:ln/>
        </p:spPr>
        <p:txBody>
          <a:bodyPr wrap="square" lIns="0" tIns="0" rIns="0" bIns="0" rtlCol="0" anchor="t"/>
          <a:lstStyle/>
          <a:p>
            <a:pPr marL="0" indent="0" algn="l">
              <a:buNone/>
            </a:pPr>
            <a:r>
              <a:rPr lang="en-US" sz="800" b="1" kern="0" spc="100">
                <a:solidFill>
                  <a:srgbClr val="6BA5D7"/>
                </a:solidFill>
                <a:latin typeface="Trebuchet MS" pitchFamily="34" charset="0"/>
                <a:ea typeface="Trebuchet MS" pitchFamily="34" charset="-122"/>
                <a:cs typeface="Trebuchet MS" pitchFamily="34" charset="-120"/>
              </a:rPr>
              <a:t>LAYOUT</a:t>
            </a:r>
            <a:endParaRPr lang="en-US" sz="1000"/>
          </a:p>
        </p:txBody>
      </p:sp>
      <p:sp>
        <p:nvSpPr>
          <p:cNvPr id="30" name="asm t"/>
          <p:cNvSpPr/>
          <p:nvPr/>
        </p:nvSpPr>
        <p:spPr>
          <a:xfrm>
            <a:off x="860080" y="5520000"/>
            <a:ext cx="3290613" cy="780000"/>
          </a:xfrm>
          <a:prstGeom prst="rect">
            <a:avLst/>
          </a:prstGeom>
          <a:noFill/>
          <a:ln/>
        </p:spPr>
        <p:txBody>
          <a:bodyPr wrap="square" lIns="0" tIns="0" rIns="0" bIns="0" rtlCol="0" anchor="t"/>
          <a:lstStyle/>
          <a:p>
            <a:pPr marL="0" indent="0" algn="l">
              <a:buNone/>
            </a:pPr>
            <a:r>
              <a:rPr lang="en-US" sz="830" kern="0">
                <a:solidFill>
                  <a:srgbClr val="CBD5E1"/>
                </a:solidFill>
                <a:latin typeface="Calibri" pitchFamily="34" charset="0"/>
                <a:ea typeface="Calibri" pitchFamily="34" charset="-122"/>
                <a:cs typeface="Calibri" pitchFamily="34" charset="-120"/>
              </a:rPr>
              <a:t>Tiled container: KPI row on top, trend + top-specialties in the middle band, cost-intensity scatter below.</a:t>
            </a:r>
            <a:endParaRPr lang="en-US" sz="1000"/>
          </a:p>
        </p:txBody>
      </p:sp>
      <p:sp>
        <p:nvSpPr>
          <p:cNvPr id="31" name="asm h"/>
          <p:cNvSpPr/>
          <p:nvPr/>
        </p:nvSpPr>
        <p:spPr>
          <a:xfrm>
            <a:off x="4450693" y="5250000"/>
            <a:ext cx="3290613" cy="240000"/>
          </a:xfrm>
          <a:prstGeom prst="rect">
            <a:avLst/>
          </a:prstGeom>
          <a:noFill/>
          <a:ln/>
        </p:spPr>
        <p:txBody>
          <a:bodyPr wrap="square" lIns="0" tIns="0" rIns="0" bIns="0" rtlCol="0" anchor="t"/>
          <a:lstStyle/>
          <a:p>
            <a:pPr marL="0" indent="0" algn="l">
              <a:buNone/>
            </a:pPr>
            <a:r>
              <a:rPr lang="en-US" sz="800" b="1" kern="0" spc="100">
                <a:solidFill>
                  <a:srgbClr val="6BA5D7"/>
                </a:solidFill>
                <a:latin typeface="Trebuchet MS" pitchFamily="34" charset="0"/>
                <a:ea typeface="Trebuchet MS" pitchFamily="34" charset="-122"/>
                <a:cs typeface="Trebuchet MS" pitchFamily="34" charset="-120"/>
              </a:rPr>
              <a:t>FILTERS &amp; PARAMETERS</a:t>
            </a:r>
            <a:endParaRPr lang="en-US" sz="1000"/>
          </a:p>
        </p:txBody>
      </p:sp>
      <p:sp>
        <p:nvSpPr>
          <p:cNvPr id="32" name="asm t"/>
          <p:cNvSpPr/>
          <p:nvPr/>
        </p:nvSpPr>
        <p:spPr>
          <a:xfrm>
            <a:off x="4450693" y="5520000"/>
            <a:ext cx="3290613" cy="780000"/>
          </a:xfrm>
          <a:prstGeom prst="rect">
            <a:avLst/>
          </a:prstGeom>
          <a:noFill/>
          <a:ln/>
        </p:spPr>
        <p:txBody>
          <a:bodyPr wrap="square" lIns="0" tIns="0" rIns="0" bIns="0" rtlCol="0" anchor="t"/>
          <a:lstStyle/>
          <a:p>
            <a:pPr marL="0" indent="0" algn="l">
              <a:buNone/>
            </a:pPr>
            <a:r>
              <a:rPr lang="en-US" sz="830" kern="0">
                <a:solidFill>
                  <a:srgbClr val="CBD5E1"/>
                </a:solidFill>
                <a:latin typeface="Calibri" pitchFamily="34" charset="0"/>
                <a:ea typeface="Calibri" pitchFamily="34" charset="-122"/>
                <a:cs typeface="Calibri" pitchFamily="34" charset="-120"/>
              </a:rPr>
              <a:t>Year &amp; Specialty as dropdowns, applied to all worksheets on the dashboard.</a:t>
            </a:r>
            <a:endParaRPr lang="en-US" sz="1000"/>
          </a:p>
        </p:txBody>
      </p:sp>
      <p:sp>
        <p:nvSpPr>
          <p:cNvPr id="33" name="asm h"/>
          <p:cNvSpPr/>
          <p:nvPr/>
        </p:nvSpPr>
        <p:spPr>
          <a:xfrm>
            <a:off x="8041306" y="5250000"/>
            <a:ext cx="3290613" cy="240000"/>
          </a:xfrm>
          <a:prstGeom prst="rect">
            <a:avLst/>
          </a:prstGeom>
          <a:noFill/>
          <a:ln/>
        </p:spPr>
        <p:txBody>
          <a:bodyPr wrap="square" lIns="0" tIns="0" rIns="0" bIns="0" rtlCol="0" anchor="t"/>
          <a:lstStyle/>
          <a:p>
            <a:pPr marL="0" indent="0" algn="l">
              <a:buNone/>
            </a:pPr>
            <a:r>
              <a:rPr lang="en-US" sz="800" b="1" kern="0" spc="100">
                <a:solidFill>
                  <a:srgbClr val="6BA5D7"/>
                </a:solidFill>
                <a:latin typeface="Trebuchet MS" pitchFamily="34" charset="0"/>
                <a:ea typeface="Trebuchet MS" pitchFamily="34" charset="-122"/>
                <a:cs typeface="Trebuchet MS" pitchFamily="34" charset="-120"/>
              </a:rPr>
              <a:t>ACTIONS</a:t>
            </a:r>
            <a:endParaRPr lang="en-US" sz="1000"/>
          </a:p>
        </p:txBody>
      </p:sp>
      <p:sp>
        <p:nvSpPr>
          <p:cNvPr id="34" name="asm t"/>
          <p:cNvSpPr/>
          <p:nvPr/>
        </p:nvSpPr>
        <p:spPr>
          <a:xfrm>
            <a:off x="8041306" y="5520000"/>
            <a:ext cx="3290613" cy="780000"/>
          </a:xfrm>
          <a:prstGeom prst="rect">
            <a:avLst/>
          </a:prstGeom>
          <a:noFill/>
          <a:ln/>
        </p:spPr>
        <p:txBody>
          <a:bodyPr wrap="square" lIns="0" tIns="0" rIns="0" bIns="0" rtlCol="0" anchor="t"/>
          <a:lstStyle/>
          <a:p>
            <a:pPr marL="0" indent="0" algn="l">
              <a:buNone/>
            </a:pPr>
            <a:r>
              <a:rPr lang="en-US" sz="830" kern="0">
                <a:solidFill>
                  <a:srgbClr val="CBD5E1"/>
                </a:solidFill>
                <a:latin typeface="Calibri" pitchFamily="34" charset="0"/>
                <a:ea typeface="Calibri" pitchFamily="34" charset="-122"/>
                <a:cs typeface="Calibri" pitchFamily="34" charset="-120"/>
              </a:rPr>
              <a:t>Click a specialty bar to filter the trend and scatter (dashboard filter action) for instant drill-down.</a:t>
            </a:r>
            <a:endParaRPr lang="en-US" sz="1000"/>
          </a:p>
        </p:txBody>
      </p:sp>
      <p:sp>
        <p:nvSpPr>
          <p:cNvPr id="35" name="footer"/>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a:solidFill>
                  <a:srgbClr val="7C7E96"/>
                </a:solidFill>
                <a:latin typeface="Trebuchet MS" pitchFamily="34" charset="0"/>
                <a:ea typeface="Trebuchet MS" pitchFamily="34" charset="-122"/>
                <a:cs typeface="Trebuchet MS" pitchFamily="34" charset="-120"/>
              </a:rPr>
              <a:t>CMS MEDICARE PART B  ·  CY 2022–2024</a:t>
            </a:r>
            <a:endParaRPr lang="en-US" sz="1000"/>
          </a:p>
        </p:txBody>
      </p:sp>
      <p:sp>
        <p:nvSpPr>
          <p:cNvPr id="36" name="page"/>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kern="0">
                <a:solidFill>
                  <a:srgbClr val="4E79A7"/>
                </a:solidFill>
                <a:latin typeface="Consolas" pitchFamily="34" charset="0"/>
                <a:ea typeface="Consolas" pitchFamily="34" charset="-122"/>
                <a:cs typeface="Consolas" pitchFamily="34" charset="-120"/>
              </a:rPr>
              <a:t>22</a:t>
            </a:r>
            <a:endParaRPr lang="en-US" sz="10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40080" y="406908"/>
            <a:ext cx="201168" cy="128016"/>
          </a:xfrm>
          <a:prstGeom prst="rect">
            <a:avLst/>
          </a:prstGeom>
          <a:solidFill>
            <a:srgbClr val="6BA5D7"/>
          </a:solidFill>
          <a:ln/>
        </p:spPr>
        <p:txBody>
          <a:bodyPr/>
          <a:lstStyle/>
          <a:p>
            <a:endParaRPr lang="en-US"/>
          </a:p>
        </p:txBody>
      </p:sp>
      <p:sp>
        <p:nvSpPr>
          <p:cNvPr id="3" name="Text 1"/>
          <p:cNvSpPr/>
          <p:nvPr/>
        </p:nvSpPr>
        <p:spPr>
          <a:xfrm>
            <a:off x="932688" y="310896"/>
            <a:ext cx="8229600" cy="310896"/>
          </a:xfrm>
          <a:prstGeom prst="rect">
            <a:avLst/>
          </a:prstGeom>
          <a:noFill/>
          <a:ln/>
        </p:spPr>
        <p:txBody>
          <a:bodyPr wrap="square" lIns="0" tIns="0" rIns="0" bIns="0" rtlCol="0" anchor="ctr"/>
          <a:lstStyle/>
          <a:p>
            <a:pPr marL="0" indent="0" algn="l">
              <a:buNone/>
            </a:pPr>
            <a:r>
              <a:rPr lang="en-US" sz="1250" b="1" kern="0" spc="300">
                <a:solidFill>
                  <a:srgbClr val="4E79A7"/>
                </a:solidFill>
                <a:latin typeface="Trebuchet MS" pitchFamily="34" charset="0"/>
                <a:ea typeface="Trebuchet MS" pitchFamily="34" charset="-122"/>
                <a:cs typeface="Trebuchet MS" pitchFamily="34" charset="-120"/>
              </a:rPr>
              <a:t>METRIC FRAMEWORK</a:t>
            </a:r>
            <a:endParaRPr lang="en-US" sz="1250" dirty="0"/>
          </a:p>
        </p:txBody>
      </p:sp>
      <p:sp>
        <p:nvSpPr>
          <p:cNvPr id="4" name="Text 0"/>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3000" b="1">
                <a:solidFill>
                  <a:srgbClr val="2B2A45"/>
                </a:solidFill>
                <a:latin typeface="Trebuchet MS" pitchFamily="34" charset="0"/>
                <a:ea typeface="Trebuchet MS" pitchFamily="34" charset="-122"/>
                <a:cs typeface="Trebuchet MS" pitchFamily="34" charset="-120"/>
              </a:rPr>
              <a:t>Six Core KPIs</a:t>
            </a:r>
            <a:endParaRPr lang="en-US" sz="3000" dirty="0"/>
          </a:p>
        </p:txBody>
      </p:sp>
      <p:sp>
        <p:nvSpPr>
          <p:cNvPr id="5" name="Text 3"/>
          <p:cNvSpPr/>
          <p:nvPr/>
        </p:nvSpPr>
        <p:spPr>
          <a:xfrm>
            <a:off x="640080" y="1325880"/>
            <a:ext cx="10972800" cy="329184"/>
          </a:xfrm>
          <a:prstGeom prst="rect">
            <a:avLst/>
          </a:prstGeom>
          <a:noFill/>
          <a:ln/>
        </p:spPr>
        <p:txBody>
          <a:bodyPr wrap="square" lIns="0" tIns="0" rIns="0" bIns="0" rtlCol="0" anchor="ctr"/>
          <a:lstStyle/>
          <a:p>
            <a:pPr marL="0" indent="0">
              <a:buNone/>
            </a:pPr>
            <a:r>
              <a:rPr lang="en-US" sz="1400">
                <a:solidFill>
                  <a:srgbClr val="7C7E96"/>
                </a:solidFill>
                <a:latin typeface="Calibri" pitchFamily="34" charset="0"/>
                <a:ea typeface="Calibri" pitchFamily="34" charset="-122"/>
                <a:cs typeface="Calibri" pitchFamily="34" charset="-120"/>
              </a:rPr>
              <a:t>Every specialty-year record is measured on the same six dimensions of volume, cost, and payment.</a:t>
            </a:r>
            <a:endParaRPr lang="en-US" sz="1400" dirty="0"/>
          </a:p>
        </p:txBody>
      </p:sp>
      <p:sp>
        <p:nvSpPr>
          <p:cNvPr id="6" name="def card">
            <a:extLst>
              <a:ext uri="{C183D7F6-B498-43B3-948B-1728B52AA6E4}">
                <adec:decorative xmlns:adec="http://schemas.microsoft.com/office/drawing/2017/decorative" val="1"/>
              </a:ext>
            </a:extLst>
          </p:cNvPr>
          <p:cNvSpPr/>
          <p:nvPr/>
        </p:nvSpPr>
        <p:spPr>
          <a:xfrm>
            <a:off x="640080" y="1828800"/>
            <a:ext cx="3529584" cy="1737360"/>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7" name="def accent">
            <a:extLst>
              <a:ext uri="{C183D7F6-B498-43B3-948B-1728B52AA6E4}">
                <adec:decorative xmlns:adec="http://schemas.microsoft.com/office/drawing/2017/decorative" val="1"/>
              </a:ext>
            </a:extLst>
          </p:cNvPr>
          <p:cNvSpPr/>
          <p:nvPr/>
        </p:nvSpPr>
        <p:spPr>
          <a:xfrm>
            <a:off x="640080" y="1828800"/>
            <a:ext cx="3529584" cy="73152"/>
          </a:xfrm>
          <a:prstGeom prst="rect">
            <a:avLst/>
          </a:prstGeom>
          <a:solidFill>
            <a:srgbClr val="6BA5D7"/>
          </a:solidFill>
          <a:ln/>
        </p:spPr>
        <p:txBody>
          <a:bodyPr/>
          <a:lstStyle/>
          <a:p>
            <a:endParaRPr lang="en-US"/>
          </a:p>
        </p:txBody>
      </p:sp>
      <p:sp>
        <p:nvSpPr>
          <p:cNvPr id="8" name="Text 6"/>
          <p:cNvSpPr/>
          <p:nvPr/>
        </p:nvSpPr>
        <p:spPr>
          <a:xfrm>
            <a:off x="877824" y="2048256"/>
            <a:ext cx="3072384" cy="457200"/>
          </a:xfrm>
          <a:prstGeom prst="rect">
            <a:avLst/>
          </a:prstGeom>
          <a:noFill/>
          <a:ln/>
        </p:spPr>
        <p:txBody>
          <a:bodyPr wrap="square" lIns="0" tIns="0" rIns="0" bIns="0" rtlCol="0" anchor="ctr"/>
          <a:lstStyle/>
          <a:p>
            <a:pPr marL="0" indent="0">
              <a:buNone/>
            </a:pPr>
            <a:r>
              <a:rPr lang="en-US" sz="1550" b="1">
                <a:solidFill>
                  <a:srgbClr val="2B2A45"/>
                </a:solidFill>
                <a:latin typeface="Trebuchet MS" pitchFamily="34" charset="0"/>
                <a:ea typeface="Trebuchet MS" pitchFamily="34" charset="-122"/>
                <a:cs typeface="Trebuchet MS" pitchFamily="34" charset="-120"/>
              </a:rPr>
              <a:t>Allowed Services</a:t>
            </a:r>
            <a:endParaRPr lang="en-US" sz="1550" dirty="0"/>
          </a:p>
        </p:txBody>
      </p:sp>
      <p:sp>
        <p:nvSpPr>
          <p:cNvPr id="9" name="Text 7"/>
          <p:cNvSpPr/>
          <p:nvPr/>
        </p:nvSpPr>
        <p:spPr>
          <a:xfrm>
            <a:off x="877824" y="2560320"/>
            <a:ext cx="3072384" cy="822960"/>
          </a:xfrm>
          <a:prstGeom prst="rect">
            <a:avLst/>
          </a:prstGeom>
          <a:noFill/>
          <a:ln/>
        </p:spPr>
        <p:txBody>
          <a:bodyPr wrap="square" lIns="0" tIns="0" rIns="0" bIns="0" rtlCol="0" anchor="t"/>
          <a:lstStyle/>
          <a:p>
            <a:pPr marL="0" indent="0">
              <a:lnSpc>
                <a:spcPct val="103000"/>
              </a:lnSpc>
              <a:buNone/>
            </a:pPr>
            <a:r>
              <a:rPr lang="en-US" sz="1250">
                <a:solidFill>
                  <a:srgbClr val="7C7E96"/>
                </a:solidFill>
                <a:latin typeface="Calibri" pitchFamily="34" charset="0"/>
                <a:ea typeface="Calibri" pitchFamily="34" charset="-122"/>
                <a:cs typeface="Calibri" pitchFamily="34" charset="-120"/>
              </a:rPr>
              <a:t>Count of covered services delivered — the core utilization volume measure.</a:t>
            </a:r>
            <a:endParaRPr lang="en-US" sz="1250" dirty="0"/>
          </a:p>
        </p:txBody>
      </p:sp>
      <p:sp>
        <p:nvSpPr>
          <p:cNvPr id="10" name="def card">
            <a:extLst>
              <a:ext uri="{C183D7F6-B498-43B3-948B-1728B52AA6E4}">
                <adec:decorative xmlns:adec="http://schemas.microsoft.com/office/drawing/2017/decorative" val="1"/>
              </a:ext>
            </a:extLst>
          </p:cNvPr>
          <p:cNvSpPr/>
          <p:nvPr/>
        </p:nvSpPr>
        <p:spPr>
          <a:xfrm>
            <a:off x="4498848" y="1828800"/>
            <a:ext cx="3529584" cy="1737360"/>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11" name="def accent">
            <a:extLst>
              <a:ext uri="{C183D7F6-B498-43B3-948B-1728B52AA6E4}">
                <adec:decorative xmlns:adec="http://schemas.microsoft.com/office/drawing/2017/decorative" val="1"/>
              </a:ext>
            </a:extLst>
          </p:cNvPr>
          <p:cNvSpPr/>
          <p:nvPr/>
        </p:nvSpPr>
        <p:spPr>
          <a:xfrm>
            <a:off x="4498848" y="1828800"/>
            <a:ext cx="3529584" cy="73152"/>
          </a:xfrm>
          <a:prstGeom prst="rect">
            <a:avLst/>
          </a:prstGeom>
          <a:solidFill>
            <a:srgbClr val="6BA5D7"/>
          </a:solidFill>
          <a:ln/>
        </p:spPr>
        <p:txBody>
          <a:bodyPr/>
          <a:lstStyle/>
          <a:p>
            <a:endParaRPr lang="en-US"/>
          </a:p>
        </p:txBody>
      </p:sp>
      <p:sp>
        <p:nvSpPr>
          <p:cNvPr id="12" name="Text 10"/>
          <p:cNvSpPr/>
          <p:nvPr/>
        </p:nvSpPr>
        <p:spPr>
          <a:xfrm>
            <a:off x="4736592" y="2048256"/>
            <a:ext cx="3072384" cy="457200"/>
          </a:xfrm>
          <a:prstGeom prst="rect">
            <a:avLst/>
          </a:prstGeom>
          <a:noFill/>
          <a:ln/>
        </p:spPr>
        <p:txBody>
          <a:bodyPr wrap="square" lIns="0" tIns="0" rIns="0" bIns="0" rtlCol="0" anchor="ctr"/>
          <a:lstStyle/>
          <a:p>
            <a:pPr marL="0" indent="0">
              <a:buNone/>
            </a:pPr>
            <a:r>
              <a:rPr lang="en-US" sz="1550" b="1">
                <a:solidFill>
                  <a:srgbClr val="2B2A45"/>
                </a:solidFill>
                <a:latin typeface="Trebuchet MS" pitchFamily="34" charset="0"/>
                <a:ea typeface="Trebuchet MS" pitchFamily="34" charset="-122"/>
                <a:cs typeface="Trebuchet MS" pitchFamily="34" charset="-120"/>
              </a:rPr>
              <a:t>Allowed Charges</a:t>
            </a:r>
            <a:endParaRPr lang="en-US" sz="1550" dirty="0"/>
          </a:p>
        </p:txBody>
      </p:sp>
      <p:sp>
        <p:nvSpPr>
          <p:cNvPr id="13" name="Text 11"/>
          <p:cNvSpPr/>
          <p:nvPr/>
        </p:nvSpPr>
        <p:spPr>
          <a:xfrm>
            <a:off x="4736592" y="2560320"/>
            <a:ext cx="3072384" cy="822960"/>
          </a:xfrm>
          <a:prstGeom prst="rect">
            <a:avLst/>
          </a:prstGeom>
          <a:noFill/>
          <a:ln/>
        </p:spPr>
        <p:txBody>
          <a:bodyPr wrap="square" lIns="0" tIns="0" rIns="0" bIns="0" rtlCol="0" anchor="t"/>
          <a:lstStyle/>
          <a:p>
            <a:pPr marL="0" indent="0">
              <a:lnSpc>
                <a:spcPct val="103000"/>
              </a:lnSpc>
              <a:buNone/>
            </a:pPr>
            <a:r>
              <a:rPr lang="en-US" sz="1250">
                <a:solidFill>
                  <a:srgbClr val="7C7E96"/>
                </a:solidFill>
                <a:latin typeface="Calibri" pitchFamily="34" charset="0"/>
                <a:ea typeface="Calibri" pitchFamily="34" charset="-122"/>
                <a:cs typeface="Calibri" pitchFamily="34" charset="-120"/>
              </a:rPr>
              <a:t>Medicare-approved billed amount across all allowed services.</a:t>
            </a:r>
            <a:endParaRPr lang="en-US" sz="1250" dirty="0"/>
          </a:p>
        </p:txBody>
      </p:sp>
      <p:sp>
        <p:nvSpPr>
          <p:cNvPr id="14" name="def card">
            <a:extLst>
              <a:ext uri="{C183D7F6-B498-43B3-948B-1728B52AA6E4}">
                <adec:decorative xmlns:adec="http://schemas.microsoft.com/office/drawing/2017/decorative" val="1"/>
              </a:ext>
            </a:extLst>
          </p:cNvPr>
          <p:cNvSpPr/>
          <p:nvPr/>
        </p:nvSpPr>
        <p:spPr>
          <a:xfrm>
            <a:off x="8357616" y="1828800"/>
            <a:ext cx="3529584" cy="1737360"/>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15" name="def accent">
            <a:extLst>
              <a:ext uri="{C183D7F6-B498-43B3-948B-1728B52AA6E4}">
                <adec:decorative xmlns:adec="http://schemas.microsoft.com/office/drawing/2017/decorative" val="1"/>
              </a:ext>
            </a:extLst>
          </p:cNvPr>
          <p:cNvSpPr/>
          <p:nvPr/>
        </p:nvSpPr>
        <p:spPr>
          <a:xfrm>
            <a:off x="8357616" y="1828800"/>
            <a:ext cx="3529584" cy="73152"/>
          </a:xfrm>
          <a:prstGeom prst="rect">
            <a:avLst/>
          </a:prstGeom>
          <a:solidFill>
            <a:srgbClr val="6BA5D7"/>
          </a:solidFill>
          <a:ln/>
        </p:spPr>
        <p:txBody>
          <a:bodyPr/>
          <a:lstStyle/>
          <a:p>
            <a:endParaRPr lang="en-US"/>
          </a:p>
        </p:txBody>
      </p:sp>
      <p:sp>
        <p:nvSpPr>
          <p:cNvPr id="16" name="Text 14"/>
          <p:cNvSpPr/>
          <p:nvPr/>
        </p:nvSpPr>
        <p:spPr>
          <a:xfrm>
            <a:off x="8595360" y="2048256"/>
            <a:ext cx="3072384" cy="457200"/>
          </a:xfrm>
          <a:prstGeom prst="rect">
            <a:avLst/>
          </a:prstGeom>
          <a:noFill/>
          <a:ln/>
        </p:spPr>
        <p:txBody>
          <a:bodyPr wrap="square" lIns="0" tIns="0" rIns="0" bIns="0" rtlCol="0" anchor="ctr"/>
          <a:lstStyle/>
          <a:p>
            <a:pPr marL="0" indent="0">
              <a:buNone/>
            </a:pPr>
            <a:r>
              <a:rPr lang="en-US" sz="1550" b="1">
                <a:solidFill>
                  <a:srgbClr val="2B2A45"/>
                </a:solidFill>
                <a:latin typeface="Trebuchet MS" pitchFamily="34" charset="0"/>
                <a:ea typeface="Trebuchet MS" pitchFamily="34" charset="-122"/>
                <a:cs typeface="Trebuchet MS" pitchFamily="34" charset="-120"/>
              </a:rPr>
              <a:t>Payment Amount</a:t>
            </a:r>
            <a:endParaRPr lang="en-US" sz="1550" dirty="0"/>
          </a:p>
        </p:txBody>
      </p:sp>
      <p:sp>
        <p:nvSpPr>
          <p:cNvPr id="17" name="Text 15"/>
          <p:cNvSpPr/>
          <p:nvPr/>
        </p:nvSpPr>
        <p:spPr>
          <a:xfrm>
            <a:off x="8595360" y="2560320"/>
            <a:ext cx="3072384" cy="822960"/>
          </a:xfrm>
          <a:prstGeom prst="rect">
            <a:avLst/>
          </a:prstGeom>
          <a:noFill/>
          <a:ln/>
        </p:spPr>
        <p:txBody>
          <a:bodyPr wrap="square" lIns="0" tIns="0" rIns="0" bIns="0" rtlCol="0" anchor="t"/>
          <a:lstStyle/>
          <a:p>
            <a:pPr marL="0" indent="0">
              <a:lnSpc>
                <a:spcPct val="103000"/>
              </a:lnSpc>
              <a:buNone/>
            </a:pPr>
            <a:r>
              <a:rPr lang="en-US" sz="1250">
                <a:solidFill>
                  <a:srgbClr val="7C7E96"/>
                </a:solidFill>
                <a:latin typeface="Calibri" pitchFamily="34" charset="0"/>
                <a:ea typeface="Calibri" pitchFamily="34" charset="-122"/>
                <a:cs typeface="Calibri" pitchFamily="34" charset="-120"/>
              </a:rPr>
              <a:t>Dollars actually paid by Medicare — the spending headline.</a:t>
            </a:r>
            <a:endParaRPr lang="en-US" sz="1250" dirty="0"/>
          </a:p>
        </p:txBody>
      </p:sp>
      <p:sp>
        <p:nvSpPr>
          <p:cNvPr id="18" name="def card">
            <a:extLst>
              <a:ext uri="{C183D7F6-B498-43B3-948B-1728B52AA6E4}">
                <adec:decorative xmlns:adec="http://schemas.microsoft.com/office/drawing/2017/decorative" val="1"/>
              </a:ext>
            </a:extLst>
          </p:cNvPr>
          <p:cNvSpPr/>
          <p:nvPr/>
        </p:nvSpPr>
        <p:spPr>
          <a:xfrm>
            <a:off x="640080" y="3858768"/>
            <a:ext cx="3529584" cy="1737360"/>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19" name="def accent">
            <a:extLst>
              <a:ext uri="{C183D7F6-B498-43B3-948B-1728B52AA6E4}">
                <adec:decorative xmlns:adec="http://schemas.microsoft.com/office/drawing/2017/decorative" val="1"/>
              </a:ext>
            </a:extLst>
          </p:cNvPr>
          <p:cNvSpPr/>
          <p:nvPr/>
        </p:nvSpPr>
        <p:spPr>
          <a:xfrm>
            <a:off x="640080" y="3858768"/>
            <a:ext cx="3529584" cy="73152"/>
          </a:xfrm>
          <a:prstGeom prst="rect">
            <a:avLst/>
          </a:prstGeom>
          <a:solidFill>
            <a:srgbClr val="6BA5D7"/>
          </a:solidFill>
          <a:ln/>
        </p:spPr>
        <p:txBody>
          <a:bodyPr/>
          <a:lstStyle/>
          <a:p>
            <a:endParaRPr lang="en-US"/>
          </a:p>
        </p:txBody>
      </p:sp>
      <p:sp>
        <p:nvSpPr>
          <p:cNvPr id="20" name="Text 18"/>
          <p:cNvSpPr/>
          <p:nvPr/>
        </p:nvSpPr>
        <p:spPr>
          <a:xfrm>
            <a:off x="877824" y="4078224"/>
            <a:ext cx="3072384" cy="457200"/>
          </a:xfrm>
          <a:prstGeom prst="rect">
            <a:avLst/>
          </a:prstGeom>
          <a:noFill/>
          <a:ln/>
        </p:spPr>
        <p:txBody>
          <a:bodyPr wrap="square" lIns="0" tIns="0" rIns="0" bIns="0" rtlCol="0" anchor="ctr"/>
          <a:lstStyle/>
          <a:p>
            <a:pPr marL="0" indent="0">
              <a:buNone/>
            </a:pPr>
            <a:r>
              <a:rPr lang="en-US" sz="1550" b="1">
                <a:solidFill>
                  <a:srgbClr val="2B2A45"/>
                </a:solidFill>
                <a:latin typeface="Trebuchet MS" pitchFamily="34" charset="0"/>
                <a:ea typeface="Trebuchet MS" pitchFamily="34" charset="-122"/>
                <a:cs typeface="Trebuchet MS" pitchFamily="34" charset="-120"/>
              </a:rPr>
              <a:t>Charge / Service</a:t>
            </a:r>
            <a:endParaRPr lang="en-US" sz="1550" dirty="0"/>
          </a:p>
        </p:txBody>
      </p:sp>
      <p:sp>
        <p:nvSpPr>
          <p:cNvPr id="21" name="Text 19"/>
          <p:cNvSpPr/>
          <p:nvPr/>
        </p:nvSpPr>
        <p:spPr>
          <a:xfrm>
            <a:off x="877824" y="4590288"/>
            <a:ext cx="3072384" cy="822960"/>
          </a:xfrm>
          <a:prstGeom prst="rect">
            <a:avLst/>
          </a:prstGeom>
          <a:noFill/>
          <a:ln/>
        </p:spPr>
        <p:txBody>
          <a:bodyPr wrap="square" lIns="0" tIns="0" rIns="0" bIns="0" rtlCol="0" anchor="t"/>
          <a:lstStyle/>
          <a:p>
            <a:pPr marL="0" indent="0">
              <a:lnSpc>
                <a:spcPct val="103000"/>
              </a:lnSpc>
              <a:buNone/>
            </a:pPr>
            <a:r>
              <a:rPr lang="en-US" sz="1250">
                <a:solidFill>
                  <a:srgbClr val="7C7E96"/>
                </a:solidFill>
                <a:latin typeface="Calibri" pitchFamily="34" charset="0"/>
                <a:ea typeface="Calibri" pitchFamily="34" charset="-122"/>
                <a:cs typeface="Calibri" pitchFamily="34" charset="-120"/>
              </a:rPr>
              <a:t>Allowed charges ÷ services — average approved price per service.</a:t>
            </a:r>
            <a:endParaRPr lang="en-US" sz="1250" dirty="0"/>
          </a:p>
        </p:txBody>
      </p:sp>
      <p:sp>
        <p:nvSpPr>
          <p:cNvPr id="22" name="def card">
            <a:extLst>
              <a:ext uri="{C183D7F6-B498-43B3-948B-1728B52AA6E4}">
                <adec:decorative xmlns:adec="http://schemas.microsoft.com/office/drawing/2017/decorative" val="1"/>
              </a:ext>
            </a:extLst>
          </p:cNvPr>
          <p:cNvSpPr/>
          <p:nvPr/>
        </p:nvSpPr>
        <p:spPr>
          <a:xfrm>
            <a:off x="4498848" y="3858768"/>
            <a:ext cx="3529584" cy="1737360"/>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23" name="def accent">
            <a:extLst>
              <a:ext uri="{C183D7F6-B498-43B3-948B-1728B52AA6E4}">
                <adec:decorative xmlns:adec="http://schemas.microsoft.com/office/drawing/2017/decorative" val="1"/>
              </a:ext>
            </a:extLst>
          </p:cNvPr>
          <p:cNvSpPr/>
          <p:nvPr/>
        </p:nvSpPr>
        <p:spPr>
          <a:xfrm>
            <a:off x="4498848" y="3858768"/>
            <a:ext cx="3529584" cy="73152"/>
          </a:xfrm>
          <a:prstGeom prst="rect">
            <a:avLst/>
          </a:prstGeom>
          <a:solidFill>
            <a:srgbClr val="6BA5D7"/>
          </a:solidFill>
          <a:ln/>
        </p:spPr>
        <p:txBody>
          <a:bodyPr/>
          <a:lstStyle/>
          <a:p>
            <a:endParaRPr lang="en-US"/>
          </a:p>
        </p:txBody>
      </p:sp>
      <p:sp>
        <p:nvSpPr>
          <p:cNvPr id="24" name="Text 22">
            <a:extLst>
              <a:ext uri="{C183D7F6-B498-43B3-948B-1728B52AA6E4}">
                <adec:decorative xmlns:adec="http://schemas.microsoft.com/office/drawing/2017/decorative" val="1"/>
              </a:ext>
            </a:extLst>
          </p:cNvPr>
          <p:cNvSpPr/>
          <p:nvPr/>
        </p:nvSpPr>
        <p:spPr>
          <a:xfrm>
            <a:off x="4736592" y="4078224"/>
            <a:ext cx="3072384" cy="457200"/>
          </a:xfrm>
          <a:prstGeom prst="rect">
            <a:avLst/>
          </a:prstGeom>
          <a:noFill/>
          <a:ln/>
        </p:spPr>
        <p:txBody>
          <a:bodyPr wrap="square" lIns="0" tIns="0" rIns="0" bIns="0" rtlCol="0" anchor="ctr"/>
          <a:lstStyle/>
          <a:p>
            <a:pPr marL="0" indent="0">
              <a:buNone/>
            </a:pPr>
            <a:r>
              <a:rPr lang="en-US" sz="1550" b="1">
                <a:solidFill>
                  <a:srgbClr val="2B2A45"/>
                </a:solidFill>
                <a:latin typeface="Trebuchet MS" pitchFamily="34" charset="0"/>
                <a:ea typeface="Trebuchet MS" pitchFamily="34" charset="-122"/>
                <a:cs typeface="Trebuchet MS" pitchFamily="34" charset="-120"/>
              </a:rPr>
              <a:t>Payment / Service</a:t>
            </a:r>
            <a:endParaRPr lang="en-US" sz="1550" dirty="0"/>
          </a:p>
        </p:txBody>
      </p:sp>
      <p:sp>
        <p:nvSpPr>
          <p:cNvPr id="25" name="Text 23"/>
          <p:cNvSpPr/>
          <p:nvPr/>
        </p:nvSpPr>
        <p:spPr>
          <a:xfrm>
            <a:off x="4736592" y="4590288"/>
            <a:ext cx="3072384" cy="822960"/>
          </a:xfrm>
          <a:prstGeom prst="rect">
            <a:avLst/>
          </a:prstGeom>
          <a:noFill/>
          <a:ln/>
        </p:spPr>
        <p:txBody>
          <a:bodyPr wrap="square" lIns="0" tIns="0" rIns="0" bIns="0" rtlCol="0" anchor="t"/>
          <a:lstStyle/>
          <a:p>
            <a:pPr marL="0" indent="0">
              <a:lnSpc>
                <a:spcPct val="103000"/>
              </a:lnSpc>
              <a:buNone/>
            </a:pPr>
            <a:r>
              <a:rPr lang="en-US" sz="1250">
                <a:solidFill>
                  <a:srgbClr val="7C7E96"/>
                </a:solidFill>
                <a:latin typeface="Calibri" pitchFamily="34" charset="0"/>
                <a:ea typeface="Calibri" pitchFamily="34" charset="-122"/>
                <a:cs typeface="Calibri" pitchFamily="34" charset="-120"/>
              </a:rPr>
              <a:t>Payment ÷ services — average dollars paid per service (cost intensity).</a:t>
            </a:r>
            <a:endParaRPr lang="en-US" sz="1250" dirty="0"/>
          </a:p>
        </p:txBody>
      </p:sp>
      <p:sp>
        <p:nvSpPr>
          <p:cNvPr id="26" name="def card">
            <a:extLst>
              <a:ext uri="{C183D7F6-B498-43B3-948B-1728B52AA6E4}">
                <adec:decorative xmlns:adec="http://schemas.microsoft.com/office/drawing/2017/decorative" val="1"/>
              </a:ext>
            </a:extLst>
          </p:cNvPr>
          <p:cNvSpPr/>
          <p:nvPr/>
        </p:nvSpPr>
        <p:spPr>
          <a:xfrm>
            <a:off x="8357616" y="3858768"/>
            <a:ext cx="3529584" cy="1737360"/>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27" name="def accent">
            <a:extLst>
              <a:ext uri="{C183D7F6-B498-43B3-948B-1728B52AA6E4}">
                <adec:decorative xmlns:adec="http://schemas.microsoft.com/office/drawing/2017/decorative" val="1"/>
              </a:ext>
            </a:extLst>
          </p:cNvPr>
          <p:cNvSpPr/>
          <p:nvPr/>
        </p:nvSpPr>
        <p:spPr>
          <a:xfrm>
            <a:off x="8357616" y="3858768"/>
            <a:ext cx="3529584" cy="73152"/>
          </a:xfrm>
          <a:prstGeom prst="rect">
            <a:avLst/>
          </a:prstGeom>
          <a:solidFill>
            <a:srgbClr val="6BA5D7"/>
          </a:solidFill>
          <a:ln/>
        </p:spPr>
        <p:txBody>
          <a:bodyPr/>
          <a:lstStyle/>
          <a:p>
            <a:endParaRPr lang="en-US"/>
          </a:p>
        </p:txBody>
      </p:sp>
      <p:sp>
        <p:nvSpPr>
          <p:cNvPr id="28" name="Text 26">
            <a:extLst>
              <a:ext uri="{C183D7F6-B498-43B3-948B-1728B52AA6E4}">
                <adec:decorative xmlns:adec="http://schemas.microsoft.com/office/drawing/2017/decorative" val="1"/>
              </a:ext>
            </a:extLst>
          </p:cNvPr>
          <p:cNvSpPr/>
          <p:nvPr/>
        </p:nvSpPr>
        <p:spPr>
          <a:xfrm>
            <a:off x="8595360" y="4078224"/>
            <a:ext cx="3072384" cy="457200"/>
          </a:xfrm>
          <a:prstGeom prst="rect">
            <a:avLst/>
          </a:prstGeom>
          <a:noFill/>
          <a:ln/>
        </p:spPr>
        <p:txBody>
          <a:bodyPr wrap="square" lIns="0" tIns="0" rIns="0" bIns="0" rtlCol="0" anchor="ctr"/>
          <a:lstStyle/>
          <a:p>
            <a:pPr marL="0" indent="0">
              <a:buNone/>
            </a:pPr>
            <a:r>
              <a:rPr lang="en-US" sz="1550" b="1">
                <a:solidFill>
                  <a:srgbClr val="2B2A45"/>
                </a:solidFill>
                <a:latin typeface="Trebuchet MS" pitchFamily="34" charset="0"/>
                <a:ea typeface="Trebuchet MS" pitchFamily="34" charset="-122"/>
                <a:cs typeface="Trebuchet MS" pitchFamily="34" charset="-120"/>
              </a:rPr>
              <a:t>Payment Rate</a:t>
            </a:r>
            <a:endParaRPr lang="en-US" sz="1550" dirty="0"/>
          </a:p>
        </p:txBody>
      </p:sp>
      <p:sp>
        <p:nvSpPr>
          <p:cNvPr id="29" name="Text 27"/>
          <p:cNvSpPr/>
          <p:nvPr/>
        </p:nvSpPr>
        <p:spPr>
          <a:xfrm>
            <a:off x="8595360" y="4590288"/>
            <a:ext cx="3072384" cy="822960"/>
          </a:xfrm>
          <a:prstGeom prst="rect">
            <a:avLst/>
          </a:prstGeom>
          <a:noFill/>
          <a:ln/>
        </p:spPr>
        <p:txBody>
          <a:bodyPr wrap="square" lIns="0" tIns="0" rIns="0" bIns="0" rtlCol="0" anchor="t"/>
          <a:lstStyle/>
          <a:p>
            <a:pPr marL="0" indent="0">
              <a:lnSpc>
                <a:spcPct val="103000"/>
              </a:lnSpc>
              <a:buNone/>
            </a:pPr>
            <a:r>
              <a:rPr lang="en-US" sz="1250">
                <a:solidFill>
                  <a:srgbClr val="7C7E96"/>
                </a:solidFill>
                <a:latin typeface="Calibri" pitchFamily="34" charset="0"/>
                <a:ea typeface="Calibri" pitchFamily="34" charset="-122"/>
                <a:cs typeface="Calibri" pitchFamily="34" charset="-120"/>
              </a:rPr>
              <a:t>Payment ÷ allowed charges — share of approved charges that is paid.</a:t>
            </a:r>
            <a:endParaRPr lang="en-US" sz="1250" dirty="0"/>
          </a:p>
        </p:txBody>
      </p:sp>
      <p:sp>
        <p:nvSpPr>
          <p:cNvPr id="30" name="Text 28"/>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a:solidFill>
                  <a:srgbClr val="7C7E96"/>
                </a:solidFill>
                <a:latin typeface="Trebuchet MS" pitchFamily="34" charset="0"/>
                <a:ea typeface="Trebuchet MS" pitchFamily="34" charset="-122"/>
                <a:cs typeface="Trebuchet MS" pitchFamily="34" charset="-120"/>
              </a:rPr>
              <a:t>CMS MEDICARE PART B  ·  CY 2022–2024</a:t>
            </a:r>
            <a:endParaRPr lang="en-US" sz="900" dirty="0"/>
          </a:p>
        </p:txBody>
      </p:sp>
      <p:sp>
        <p:nvSpPr>
          <p:cNvPr id="31" name="Text 29">
            <a:extLst>
              <a:ext uri="{C183D7F6-B498-43B3-948B-1728B52AA6E4}">
                <adec:decorative xmlns:adec="http://schemas.microsoft.com/office/drawing/2017/decorative" val="1"/>
              </a:ext>
            </a:extLst>
          </p:cNvPr>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a:solidFill>
                  <a:srgbClr val="4E79A7"/>
                </a:solidFill>
                <a:latin typeface="Consolas" pitchFamily="34" charset="0"/>
                <a:ea typeface="Consolas" pitchFamily="34" charset="-122"/>
                <a:cs typeface="Consolas"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40080" y="406908"/>
            <a:ext cx="201168" cy="128016"/>
          </a:xfrm>
          <a:prstGeom prst="rect">
            <a:avLst/>
          </a:prstGeom>
          <a:solidFill>
            <a:srgbClr val="6BA5D7"/>
          </a:solidFill>
          <a:ln/>
        </p:spPr>
        <p:txBody>
          <a:bodyPr/>
          <a:lstStyle/>
          <a:p>
            <a:endParaRPr lang="en-US"/>
          </a:p>
        </p:txBody>
      </p:sp>
      <p:sp>
        <p:nvSpPr>
          <p:cNvPr id="3" name="Text 1"/>
          <p:cNvSpPr/>
          <p:nvPr/>
        </p:nvSpPr>
        <p:spPr>
          <a:xfrm>
            <a:off x="932688" y="310896"/>
            <a:ext cx="8229600" cy="310896"/>
          </a:xfrm>
          <a:prstGeom prst="rect">
            <a:avLst/>
          </a:prstGeom>
          <a:noFill/>
          <a:ln/>
        </p:spPr>
        <p:txBody>
          <a:bodyPr wrap="square" lIns="0" tIns="0" rIns="0" bIns="0" rtlCol="0" anchor="ctr"/>
          <a:lstStyle/>
          <a:p>
            <a:pPr marL="0" indent="0" algn="l">
              <a:buNone/>
            </a:pPr>
            <a:r>
              <a:rPr lang="en-US" sz="1250" b="1" kern="0" spc="300">
                <a:solidFill>
                  <a:srgbClr val="6BA5D7"/>
                </a:solidFill>
                <a:latin typeface="Trebuchet MS" pitchFamily="34" charset="0"/>
                <a:ea typeface="Trebuchet MS" pitchFamily="34" charset="-122"/>
                <a:cs typeface="Trebuchet MS" pitchFamily="34" charset="-120"/>
              </a:rPr>
              <a:t>METHODOLOGY</a:t>
            </a:r>
            <a:endParaRPr lang="en-US" sz="1250" dirty="0"/>
          </a:p>
        </p:txBody>
      </p:sp>
      <p:sp>
        <p:nvSpPr>
          <p:cNvPr id="4" name="Text 0"/>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3000" b="1" dirty="0">
                <a:solidFill>
                  <a:srgbClr val="FFFFFF"/>
                </a:solidFill>
                <a:latin typeface="Trebuchet MS" pitchFamily="34" charset="0"/>
                <a:ea typeface="Trebuchet MS" pitchFamily="34" charset="-122"/>
                <a:cs typeface="Trebuchet MS" pitchFamily="34" charset="-120"/>
              </a:rPr>
              <a:t>Analytical Approach</a:t>
            </a:r>
            <a:endParaRPr lang="en-US" sz="3000" dirty="0"/>
          </a:p>
        </p:txBody>
      </p:sp>
      <p:sp>
        <p:nvSpPr>
          <p:cNvPr id="5" name="Text 3">
            <a:extLst>
              <a:ext uri="{C183D7F6-B498-43B3-948B-1728B52AA6E4}">
                <adec:decorative xmlns:adec="http://schemas.microsoft.com/office/drawing/2017/decorative" val="1"/>
              </a:ext>
            </a:extLst>
          </p:cNvPr>
          <p:cNvSpPr/>
          <p:nvPr/>
        </p:nvSpPr>
        <p:spPr>
          <a:xfrm>
            <a:off x="640080" y="1463040"/>
            <a:ext cx="5394960" cy="365760"/>
          </a:xfrm>
          <a:prstGeom prst="rect">
            <a:avLst/>
          </a:prstGeom>
          <a:noFill/>
          <a:ln/>
        </p:spPr>
        <p:txBody>
          <a:bodyPr wrap="square" lIns="0" tIns="0" rIns="0" bIns="0" rtlCol="0" anchor="ctr"/>
          <a:lstStyle/>
          <a:p>
            <a:pPr marL="0" indent="0">
              <a:buNone/>
            </a:pPr>
            <a:r>
              <a:rPr lang="en-US" sz="1600" b="1">
                <a:solidFill>
                  <a:srgbClr val="6BA5D7"/>
                </a:solidFill>
                <a:latin typeface="Trebuchet MS" pitchFamily="34" charset="0"/>
                <a:ea typeface="Trebuchet MS" pitchFamily="34" charset="-122"/>
                <a:cs typeface="Trebuchet MS" pitchFamily="34" charset="-120"/>
              </a:rPr>
              <a:t>Data Preparation</a:t>
            </a:r>
            <a:endParaRPr lang="en-US" sz="1600" dirty="0"/>
          </a:p>
        </p:txBody>
      </p:sp>
      <p:sp>
        <p:nvSpPr>
          <p:cNvPr id="6" name="step card">
            <a:extLst>
              <a:ext uri="{C183D7F6-B498-43B3-948B-1728B52AA6E4}">
                <adec:decorative xmlns:adec="http://schemas.microsoft.com/office/drawing/2017/decorative" val="1"/>
              </a:ext>
            </a:extLst>
          </p:cNvPr>
          <p:cNvSpPr/>
          <p:nvPr/>
        </p:nvSpPr>
        <p:spPr>
          <a:xfrm>
            <a:off x="640080" y="1965960"/>
            <a:ext cx="5394960" cy="896112"/>
          </a:xfrm>
          <a:prstGeom prst="rect">
            <a:avLst/>
          </a:prstGeom>
          <a:solidFill>
            <a:srgbClr val="43426A"/>
          </a:solidFill>
          <a:ln w="12700">
            <a:solidFill>
              <a:srgbClr val="5A5880"/>
            </a:solidFill>
            <a:prstDash val="solid"/>
          </a:ln>
        </p:spPr>
        <p:txBody>
          <a:bodyPr/>
          <a:lstStyle/>
          <a:p>
            <a:endParaRPr lang="en-US"/>
          </a:p>
        </p:txBody>
      </p:sp>
      <p:sp>
        <p:nvSpPr>
          <p:cNvPr id="7" name="Text 5"/>
          <p:cNvSpPr/>
          <p:nvPr/>
        </p:nvSpPr>
        <p:spPr>
          <a:xfrm>
            <a:off x="777240" y="2148840"/>
            <a:ext cx="640080" cy="530352"/>
          </a:xfrm>
          <a:prstGeom prst="rect">
            <a:avLst/>
          </a:prstGeom>
          <a:noFill/>
          <a:ln/>
        </p:spPr>
        <p:txBody>
          <a:bodyPr wrap="square" lIns="0" tIns="0" rIns="0" bIns="0" rtlCol="0" anchor="ctr"/>
          <a:lstStyle/>
          <a:p>
            <a:pPr marL="0" indent="0" algn="ctr">
              <a:buNone/>
            </a:pPr>
            <a:r>
              <a:rPr lang="en-US" sz="2600" b="1">
                <a:solidFill>
                  <a:srgbClr val="6BA5D7"/>
                </a:solidFill>
                <a:latin typeface="Consolas" pitchFamily="34" charset="0"/>
                <a:ea typeface="Consolas" pitchFamily="34" charset="-122"/>
                <a:cs typeface="Consolas" pitchFamily="34" charset="-120"/>
              </a:rPr>
              <a:t>1</a:t>
            </a:r>
            <a:endParaRPr lang="en-US" sz="2600" dirty="0"/>
          </a:p>
        </p:txBody>
      </p:sp>
      <p:sp>
        <p:nvSpPr>
          <p:cNvPr id="8" name="Text 6">
            <a:extLst>
              <a:ext uri="{C183D7F6-B498-43B3-948B-1728B52AA6E4}">
                <adec:decorative xmlns:adec="http://schemas.microsoft.com/office/drawing/2017/decorative" val="1"/>
              </a:ext>
            </a:extLst>
          </p:cNvPr>
          <p:cNvSpPr/>
          <p:nvPr/>
        </p:nvSpPr>
        <p:spPr>
          <a:xfrm>
            <a:off x="1463040" y="2075688"/>
            <a:ext cx="4434840" cy="36576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Combine years</a:t>
            </a:r>
            <a:endParaRPr lang="en-US" sz="1400" dirty="0"/>
          </a:p>
        </p:txBody>
      </p:sp>
      <p:sp>
        <p:nvSpPr>
          <p:cNvPr id="9" name="Text 7">
            <a:extLst>
              <a:ext uri="{C183D7F6-B498-43B3-948B-1728B52AA6E4}">
                <adec:decorative xmlns:adec="http://schemas.microsoft.com/office/drawing/2017/decorative" val="1"/>
              </a:ext>
            </a:extLst>
          </p:cNvPr>
          <p:cNvSpPr/>
          <p:nvPr/>
        </p:nvSpPr>
        <p:spPr>
          <a:xfrm>
            <a:off x="1463040" y="2423160"/>
            <a:ext cx="4434840" cy="365760"/>
          </a:xfrm>
          <a:prstGeom prst="rect">
            <a:avLst/>
          </a:prstGeom>
          <a:noFill/>
          <a:ln/>
        </p:spPr>
        <p:txBody>
          <a:bodyPr wrap="square" lIns="0" tIns="0" rIns="0" bIns="0" rtlCol="0" anchor="ctr"/>
          <a:lstStyle/>
          <a:p>
            <a:pPr marL="0" indent="0">
              <a:buNone/>
            </a:pPr>
            <a:r>
              <a:rPr lang="en-US" sz="1150">
                <a:solidFill>
                  <a:srgbClr val="CBD9E9"/>
                </a:solidFill>
                <a:latin typeface="Calibri" pitchFamily="34" charset="0"/>
                <a:ea typeface="Calibri" pitchFamily="34" charset="-122"/>
                <a:cs typeface="Calibri" pitchFamily="34" charset="-120"/>
              </a:rPr>
              <a:t>Stack CY 2022–2024 into one specialty-year table.</a:t>
            </a:r>
            <a:endParaRPr lang="en-US" sz="1150" dirty="0"/>
          </a:p>
        </p:txBody>
      </p:sp>
      <p:sp>
        <p:nvSpPr>
          <p:cNvPr id="10" name="step card">
            <a:extLst>
              <a:ext uri="{C183D7F6-B498-43B3-948B-1728B52AA6E4}">
                <adec:decorative xmlns:adec="http://schemas.microsoft.com/office/drawing/2017/decorative" val="1"/>
              </a:ext>
            </a:extLst>
          </p:cNvPr>
          <p:cNvSpPr/>
          <p:nvPr/>
        </p:nvSpPr>
        <p:spPr>
          <a:xfrm>
            <a:off x="640080" y="2990088"/>
            <a:ext cx="5394960" cy="896112"/>
          </a:xfrm>
          <a:prstGeom prst="rect">
            <a:avLst/>
          </a:prstGeom>
          <a:solidFill>
            <a:srgbClr val="43426A"/>
          </a:solidFill>
          <a:ln w="12700">
            <a:solidFill>
              <a:srgbClr val="5A5880"/>
            </a:solidFill>
            <a:prstDash val="solid"/>
          </a:ln>
        </p:spPr>
        <p:txBody>
          <a:bodyPr/>
          <a:lstStyle/>
          <a:p>
            <a:endParaRPr lang="en-US"/>
          </a:p>
        </p:txBody>
      </p:sp>
      <p:sp>
        <p:nvSpPr>
          <p:cNvPr id="11" name="Text 9"/>
          <p:cNvSpPr/>
          <p:nvPr/>
        </p:nvSpPr>
        <p:spPr>
          <a:xfrm>
            <a:off x="777240" y="3172968"/>
            <a:ext cx="640080" cy="530352"/>
          </a:xfrm>
          <a:prstGeom prst="rect">
            <a:avLst/>
          </a:prstGeom>
          <a:noFill/>
          <a:ln/>
        </p:spPr>
        <p:txBody>
          <a:bodyPr wrap="square" lIns="0" tIns="0" rIns="0" bIns="0" rtlCol="0" anchor="ctr"/>
          <a:lstStyle/>
          <a:p>
            <a:pPr marL="0" indent="0" algn="ctr">
              <a:buNone/>
            </a:pPr>
            <a:r>
              <a:rPr lang="en-US" sz="2600" b="1">
                <a:solidFill>
                  <a:srgbClr val="6BA5D7"/>
                </a:solidFill>
                <a:latin typeface="Consolas" pitchFamily="34" charset="0"/>
                <a:ea typeface="Consolas" pitchFamily="34" charset="-122"/>
                <a:cs typeface="Consolas" pitchFamily="34" charset="-120"/>
              </a:rPr>
              <a:t>2</a:t>
            </a:r>
            <a:endParaRPr lang="en-US" sz="2600" dirty="0"/>
          </a:p>
        </p:txBody>
      </p:sp>
      <p:sp>
        <p:nvSpPr>
          <p:cNvPr id="12" name="Text 10"/>
          <p:cNvSpPr/>
          <p:nvPr/>
        </p:nvSpPr>
        <p:spPr>
          <a:xfrm>
            <a:off x="1463040" y="3099816"/>
            <a:ext cx="4434840" cy="36576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Standardize names</a:t>
            </a:r>
            <a:endParaRPr lang="en-US" sz="1400" dirty="0"/>
          </a:p>
        </p:txBody>
      </p:sp>
      <p:sp>
        <p:nvSpPr>
          <p:cNvPr id="13" name="Text 11">
            <a:extLst>
              <a:ext uri="{C183D7F6-B498-43B3-948B-1728B52AA6E4}">
                <adec:decorative xmlns:adec="http://schemas.microsoft.com/office/drawing/2017/decorative" val="1"/>
              </a:ext>
            </a:extLst>
          </p:cNvPr>
          <p:cNvSpPr/>
          <p:nvPr/>
        </p:nvSpPr>
        <p:spPr>
          <a:xfrm>
            <a:off x="1463040" y="3447288"/>
            <a:ext cx="4434840" cy="365760"/>
          </a:xfrm>
          <a:prstGeom prst="rect">
            <a:avLst/>
          </a:prstGeom>
          <a:noFill/>
          <a:ln/>
        </p:spPr>
        <p:txBody>
          <a:bodyPr wrap="square" lIns="0" tIns="0" rIns="0" bIns="0" rtlCol="0" anchor="ctr"/>
          <a:lstStyle/>
          <a:p>
            <a:pPr marL="0" indent="0">
              <a:buNone/>
            </a:pPr>
            <a:r>
              <a:rPr lang="en-US" sz="1150">
                <a:solidFill>
                  <a:srgbClr val="CBD9E9"/>
                </a:solidFill>
                <a:latin typeface="Calibri" pitchFamily="34" charset="0"/>
                <a:ea typeface="Calibri" pitchFamily="34" charset="-122"/>
                <a:cs typeface="Calibri" pitchFamily="34" charset="-120"/>
              </a:rPr>
              <a:t>Normalize specialty labels for consistent grouping.</a:t>
            </a:r>
            <a:endParaRPr lang="en-US" sz="1150" dirty="0"/>
          </a:p>
        </p:txBody>
      </p:sp>
      <p:sp>
        <p:nvSpPr>
          <p:cNvPr id="14" name="step card">
            <a:extLst>
              <a:ext uri="{C183D7F6-B498-43B3-948B-1728B52AA6E4}">
                <adec:decorative xmlns:adec="http://schemas.microsoft.com/office/drawing/2017/decorative" val="1"/>
              </a:ext>
            </a:extLst>
          </p:cNvPr>
          <p:cNvSpPr/>
          <p:nvPr/>
        </p:nvSpPr>
        <p:spPr>
          <a:xfrm>
            <a:off x="640080" y="4014216"/>
            <a:ext cx="5394960" cy="896112"/>
          </a:xfrm>
          <a:prstGeom prst="rect">
            <a:avLst/>
          </a:prstGeom>
          <a:solidFill>
            <a:srgbClr val="43426A"/>
          </a:solidFill>
          <a:ln w="12700">
            <a:solidFill>
              <a:srgbClr val="5A5880"/>
            </a:solidFill>
            <a:prstDash val="solid"/>
          </a:ln>
        </p:spPr>
        <p:txBody>
          <a:bodyPr/>
          <a:lstStyle/>
          <a:p>
            <a:endParaRPr lang="en-US"/>
          </a:p>
        </p:txBody>
      </p:sp>
      <p:sp>
        <p:nvSpPr>
          <p:cNvPr id="15" name="Text 13"/>
          <p:cNvSpPr/>
          <p:nvPr/>
        </p:nvSpPr>
        <p:spPr>
          <a:xfrm>
            <a:off x="777240" y="4197096"/>
            <a:ext cx="640080" cy="530352"/>
          </a:xfrm>
          <a:prstGeom prst="rect">
            <a:avLst/>
          </a:prstGeom>
          <a:noFill/>
          <a:ln/>
        </p:spPr>
        <p:txBody>
          <a:bodyPr wrap="square" lIns="0" tIns="0" rIns="0" bIns="0" rtlCol="0" anchor="ctr"/>
          <a:lstStyle/>
          <a:p>
            <a:pPr marL="0" indent="0" algn="ctr">
              <a:buNone/>
            </a:pPr>
            <a:r>
              <a:rPr lang="en-US" sz="2600" b="1">
                <a:solidFill>
                  <a:srgbClr val="6BA5D7"/>
                </a:solidFill>
                <a:latin typeface="Consolas" pitchFamily="34" charset="0"/>
                <a:ea typeface="Consolas" pitchFamily="34" charset="-122"/>
                <a:cs typeface="Consolas" pitchFamily="34" charset="-120"/>
              </a:rPr>
              <a:t>3</a:t>
            </a:r>
            <a:endParaRPr lang="en-US" sz="2600" dirty="0"/>
          </a:p>
        </p:txBody>
      </p:sp>
      <p:sp>
        <p:nvSpPr>
          <p:cNvPr id="16" name="Text 14"/>
          <p:cNvSpPr/>
          <p:nvPr/>
        </p:nvSpPr>
        <p:spPr>
          <a:xfrm>
            <a:off x="1463040" y="4123944"/>
            <a:ext cx="4434840" cy="36576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Exclude Total row</a:t>
            </a:r>
            <a:endParaRPr lang="en-US" sz="1400" dirty="0"/>
          </a:p>
        </p:txBody>
      </p:sp>
      <p:sp>
        <p:nvSpPr>
          <p:cNvPr id="17" name="Text 15"/>
          <p:cNvSpPr/>
          <p:nvPr/>
        </p:nvSpPr>
        <p:spPr>
          <a:xfrm>
            <a:off x="1463040" y="4471416"/>
            <a:ext cx="4434840" cy="365760"/>
          </a:xfrm>
          <a:prstGeom prst="rect">
            <a:avLst/>
          </a:prstGeom>
          <a:noFill/>
          <a:ln/>
        </p:spPr>
        <p:txBody>
          <a:bodyPr wrap="square" lIns="0" tIns="0" rIns="0" bIns="0" rtlCol="0" anchor="ctr"/>
          <a:lstStyle/>
          <a:p>
            <a:pPr marL="0" indent="0">
              <a:buNone/>
            </a:pPr>
            <a:r>
              <a:rPr lang="en-US" sz="1150">
                <a:solidFill>
                  <a:srgbClr val="CBD9E9"/>
                </a:solidFill>
                <a:latin typeface="Calibri" pitchFamily="34" charset="0"/>
                <a:ea typeface="Calibri" pitchFamily="34" charset="-122"/>
                <a:cs typeface="Calibri" pitchFamily="34" charset="-120"/>
              </a:rPr>
              <a:t>Remove aggregate/source rows from specialty analysis.</a:t>
            </a:r>
            <a:endParaRPr lang="en-US" sz="1150" dirty="0"/>
          </a:p>
        </p:txBody>
      </p:sp>
      <p:sp>
        <p:nvSpPr>
          <p:cNvPr id="18" name="step card">
            <a:extLst>
              <a:ext uri="{C183D7F6-B498-43B3-948B-1728B52AA6E4}">
                <adec:decorative xmlns:adec="http://schemas.microsoft.com/office/drawing/2017/decorative" val="1"/>
              </a:ext>
            </a:extLst>
          </p:cNvPr>
          <p:cNvSpPr/>
          <p:nvPr/>
        </p:nvSpPr>
        <p:spPr>
          <a:xfrm>
            <a:off x="640080" y="5038344"/>
            <a:ext cx="5394960" cy="896112"/>
          </a:xfrm>
          <a:prstGeom prst="rect">
            <a:avLst/>
          </a:prstGeom>
          <a:solidFill>
            <a:srgbClr val="43426A"/>
          </a:solidFill>
          <a:ln w="12700">
            <a:solidFill>
              <a:srgbClr val="5A5880"/>
            </a:solidFill>
            <a:prstDash val="solid"/>
          </a:ln>
        </p:spPr>
        <p:txBody>
          <a:bodyPr/>
          <a:lstStyle/>
          <a:p>
            <a:endParaRPr lang="en-US"/>
          </a:p>
        </p:txBody>
      </p:sp>
      <p:sp>
        <p:nvSpPr>
          <p:cNvPr id="19" name="Text 17"/>
          <p:cNvSpPr/>
          <p:nvPr/>
        </p:nvSpPr>
        <p:spPr>
          <a:xfrm>
            <a:off x="777240" y="5221224"/>
            <a:ext cx="640080" cy="530352"/>
          </a:xfrm>
          <a:prstGeom prst="rect">
            <a:avLst/>
          </a:prstGeom>
          <a:noFill/>
          <a:ln/>
        </p:spPr>
        <p:txBody>
          <a:bodyPr wrap="square" lIns="0" tIns="0" rIns="0" bIns="0" rtlCol="0" anchor="ctr"/>
          <a:lstStyle/>
          <a:p>
            <a:pPr marL="0" indent="0" algn="ctr">
              <a:buNone/>
            </a:pPr>
            <a:r>
              <a:rPr lang="en-US" sz="2600" b="1">
                <a:solidFill>
                  <a:srgbClr val="6BA5D7"/>
                </a:solidFill>
                <a:latin typeface="Consolas" pitchFamily="34" charset="0"/>
                <a:ea typeface="Consolas" pitchFamily="34" charset="-122"/>
                <a:cs typeface="Consolas" pitchFamily="34" charset="-120"/>
              </a:rPr>
              <a:t>4</a:t>
            </a:r>
            <a:endParaRPr lang="en-US" sz="2600" dirty="0"/>
          </a:p>
        </p:txBody>
      </p:sp>
      <p:sp>
        <p:nvSpPr>
          <p:cNvPr id="20" name="Text 18"/>
          <p:cNvSpPr/>
          <p:nvPr/>
        </p:nvSpPr>
        <p:spPr>
          <a:xfrm>
            <a:off x="1463040" y="5148072"/>
            <a:ext cx="4434840" cy="36576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Validate numerics</a:t>
            </a:r>
            <a:endParaRPr lang="en-US" sz="1400" dirty="0"/>
          </a:p>
        </p:txBody>
      </p:sp>
      <p:sp>
        <p:nvSpPr>
          <p:cNvPr id="21" name="Text 19"/>
          <p:cNvSpPr/>
          <p:nvPr/>
        </p:nvSpPr>
        <p:spPr>
          <a:xfrm>
            <a:off x="1463040" y="5495544"/>
            <a:ext cx="4434840" cy="365760"/>
          </a:xfrm>
          <a:prstGeom prst="rect">
            <a:avLst/>
          </a:prstGeom>
          <a:noFill/>
          <a:ln/>
        </p:spPr>
        <p:txBody>
          <a:bodyPr wrap="square" lIns="0" tIns="0" rIns="0" bIns="0" rtlCol="0" anchor="ctr"/>
          <a:lstStyle/>
          <a:p>
            <a:pPr marL="0" indent="0">
              <a:buNone/>
            </a:pPr>
            <a:r>
              <a:rPr lang="en-US" sz="1150">
                <a:solidFill>
                  <a:srgbClr val="CBD9E9"/>
                </a:solidFill>
                <a:latin typeface="Calibri" pitchFamily="34" charset="0"/>
                <a:ea typeface="Calibri" pitchFamily="34" charset="-122"/>
                <a:cs typeface="Calibri" pitchFamily="34" charset="-120"/>
              </a:rPr>
              <a:t>Parse currency, services, and rate fields; check ranges.</a:t>
            </a:r>
            <a:endParaRPr lang="en-US" sz="1150" dirty="0"/>
          </a:p>
        </p:txBody>
      </p:sp>
      <p:sp>
        <p:nvSpPr>
          <p:cNvPr id="22" name="Text 20"/>
          <p:cNvSpPr/>
          <p:nvPr/>
        </p:nvSpPr>
        <p:spPr>
          <a:xfrm>
            <a:off x="6355080" y="1463040"/>
            <a:ext cx="5394960" cy="365760"/>
          </a:xfrm>
          <a:prstGeom prst="rect">
            <a:avLst/>
          </a:prstGeom>
          <a:noFill/>
          <a:ln/>
        </p:spPr>
        <p:txBody>
          <a:bodyPr wrap="square" lIns="0" tIns="0" rIns="0" bIns="0" rtlCol="0" anchor="ctr"/>
          <a:lstStyle/>
          <a:p>
            <a:pPr marL="0" indent="0">
              <a:buNone/>
            </a:pPr>
            <a:r>
              <a:rPr lang="en-US" sz="1600" b="1">
                <a:solidFill>
                  <a:srgbClr val="6BA5D7"/>
                </a:solidFill>
                <a:latin typeface="Trebuchet MS" pitchFamily="34" charset="0"/>
                <a:ea typeface="Trebuchet MS" pitchFamily="34" charset="-122"/>
                <a:cs typeface="Trebuchet MS" pitchFamily="34" charset="-120"/>
              </a:rPr>
              <a:t>Analysis Tracks</a:t>
            </a:r>
            <a:endParaRPr lang="en-US" sz="1600" dirty="0"/>
          </a:p>
        </p:txBody>
      </p:sp>
      <p:sp>
        <p:nvSpPr>
          <p:cNvPr id="23" name="track card">
            <a:extLst>
              <a:ext uri="{C183D7F6-B498-43B3-948B-1728B52AA6E4}">
                <adec:decorative xmlns:adec="http://schemas.microsoft.com/office/drawing/2017/decorative" val="1"/>
              </a:ext>
            </a:extLst>
          </p:cNvPr>
          <p:cNvSpPr/>
          <p:nvPr/>
        </p:nvSpPr>
        <p:spPr>
          <a:xfrm>
            <a:off x="6355080" y="1965960"/>
            <a:ext cx="5166360" cy="1225296"/>
          </a:xfrm>
          <a:prstGeom prst="rect">
            <a:avLst/>
          </a:prstGeom>
          <a:solidFill>
            <a:srgbClr val="43426A"/>
          </a:solidFill>
          <a:ln w="12700">
            <a:solidFill>
              <a:srgbClr val="5A5880"/>
            </a:solidFill>
            <a:prstDash val="solid"/>
          </a:ln>
        </p:spPr>
        <p:txBody>
          <a:bodyPr/>
          <a:lstStyle/>
          <a:p>
            <a:endParaRPr lang="en-US"/>
          </a:p>
        </p:txBody>
      </p:sp>
      <p:sp>
        <p:nvSpPr>
          <p:cNvPr id="24" name="track accent">
            <a:extLst>
              <a:ext uri="{C183D7F6-B498-43B3-948B-1728B52AA6E4}">
                <adec:decorative xmlns:adec="http://schemas.microsoft.com/office/drawing/2017/decorative" val="1"/>
              </a:ext>
            </a:extLst>
          </p:cNvPr>
          <p:cNvSpPr/>
          <p:nvPr/>
        </p:nvSpPr>
        <p:spPr>
          <a:xfrm>
            <a:off x="6355080" y="1965960"/>
            <a:ext cx="82296" cy="1225296"/>
          </a:xfrm>
          <a:prstGeom prst="rect">
            <a:avLst/>
          </a:prstGeom>
          <a:solidFill>
            <a:srgbClr val="6BA5D7"/>
          </a:solidFill>
          <a:ln/>
        </p:spPr>
        <p:txBody>
          <a:bodyPr/>
          <a:lstStyle/>
          <a:p>
            <a:endParaRPr lang="en-US"/>
          </a:p>
        </p:txBody>
      </p:sp>
      <p:sp>
        <p:nvSpPr>
          <p:cNvPr id="25" name="Text 23"/>
          <p:cNvSpPr/>
          <p:nvPr/>
        </p:nvSpPr>
        <p:spPr>
          <a:xfrm>
            <a:off x="6629400" y="2112264"/>
            <a:ext cx="4663440" cy="41148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Descriptive</a:t>
            </a:r>
            <a:endParaRPr lang="en-US" sz="1600" dirty="0"/>
          </a:p>
        </p:txBody>
      </p:sp>
      <p:sp>
        <p:nvSpPr>
          <p:cNvPr id="26" name="Text 24"/>
          <p:cNvSpPr/>
          <p:nvPr/>
        </p:nvSpPr>
        <p:spPr>
          <a:xfrm>
            <a:off x="6629400" y="2532888"/>
            <a:ext cx="4709160" cy="566928"/>
          </a:xfrm>
          <a:prstGeom prst="rect">
            <a:avLst/>
          </a:prstGeom>
          <a:noFill/>
          <a:ln/>
        </p:spPr>
        <p:txBody>
          <a:bodyPr wrap="square" lIns="0" tIns="0" rIns="0" bIns="0" rtlCol="0" anchor="t"/>
          <a:lstStyle/>
          <a:p>
            <a:pPr marL="0" indent="0">
              <a:lnSpc>
                <a:spcPct val="102000"/>
              </a:lnSpc>
              <a:buNone/>
            </a:pPr>
            <a:r>
              <a:rPr lang="en-US" sz="1200">
                <a:solidFill>
                  <a:srgbClr val="CBD9E9"/>
                </a:solidFill>
                <a:latin typeface="Calibri" pitchFamily="34" charset="0"/>
                <a:ea typeface="Calibri" pitchFamily="34" charset="-122"/>
                <a:cs typeface="Calibri" pitchFamily="34" charset="-120"/>
              </a:rPr>
              <a:t>Totals, averages, medians, percent change, correlations, and top/bottom rankings.</a:t>
            </a:r>
            <a:endParaRPr lang="en-US" sz="1200" dirty="0"/>
          </a:p>
        </p:txBody>
      </p:sp>
      <p:sp>
        <p:nvSpPr>
          <p:cNvPr id="27" name="track card">
            <a:extLst>
              <a:ext uri="{C183D7F6-B498-43B3-948B-1728B52AA6E4}">
                <adec:decorative xmlns:adec="http://schemas.microsoft.com/office/drawing/2017/decorative" val="1"/>
              </a:ext>
            </a:extLst>
          </p:cNvPr>
          <p:cNvSpPr/>
          <p:nvPr/>
        </p:nvSpPr>
        <p:spPr>
          <a:xfrm>
            <a:off x="6355080" y="3337560"/>
            <a:ext cx="5166360" cy="1225296"/>
          </a:xfrm>
          <a:prstGeom prst="rect">
            <a:avLst/>
          </a:prstGeom>
          <a:solidFill>
            <a:srgbClr val="43426A"/>
          </a:solidFill>
          <a:ln w="12700">
            <a:solidFill>
              <a:srgbClr val="5A5880"/>
            </a:solidFill>
            <a:prstDash val="solid"/>
          </a:ln>
        </p:spPr>
        <p:txBody>
          <a:bodyPr/>
          <a:lstStyle/>
          <a:p>
            <a:endParaRPr lang="en-US"/>
          </a:p>
        </p:txBody>
      </p:sp>
      <p:sp>
        <p:nvSpPr>
          <p:cNvPr id="28" name="track accent">
            <a:extLst>
              <a:ext uri="{C183D7F6-B498-43B3-948B-1728B52AA6E4}">
                <adec:decorative xmlns:adec="http://schemas.microsoft.com/office/drawing/2017/decorative" val="1"/>
              </a:ext>
            </a:extLst>
          </p:cNvPr>
          <p:cNvSpPr/>
          <p:nvPr/>
        </p:nvSpPr>
        <p:spPr>
          <a:xfrm>
            <a:off x="6355080" y="3337560"/>
            <a:ext cx="82296" cy="1225296"/>
          </a:xfrm>
          <a:prstGeom prst="rect">
            <a:avLst/>
          </a:prstGeom>
          <a:solidFill>
            <a:srgbClr val="6BA5D7"/>
          </a:solidFill>
          <a:ln/>
        </p:spPr>
        <p:txBody>
          <a:bodyPr/>
          <a:lstStyle/>
          <a:p>
            <a:endParaRPr lang="en-US"/>
          </a:p>
        </p:txBody>
      </p:sp>
      <p:sp>
        <p:nvSpPr>
          <p:cNvPr id="29" name="Text 27"/>
          <p:cNvSpPr/>
          <p:nvPr/>
        </p:nvSpPr>
        <p:spPr>
          <a:xfrm>
            <a:off x="6629400" y="3483864"/>
            <a:ext cx="4663440" cy="41148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Predictive</a:t>
            </a:r>
            <a:endParaRPr lang="en-US" sz="1600" dirty="0"/>
          </a:p>
        </p:txBody>
      </p:sp>
      <p:sp>
        <p:nvSpPr>
          <p:cNvPr id="30" name="Text 28"/>
          <p:cNvSpPr/>
          <p:nvPr/>
        </p:nvSpPr>
        <p:spPr>
          <a:xfrm>
            <a:off x="6629400" y="3904488"/>
            <a:ext cx="4709160" cy="566928"/>
          </a:xfrm>
          <a:prstGeom prst="rect">
            <a:avLst/>
          </a:prstGeom>
          <a:noFill/>
          <a:ln/>
        </p:spPr>
        <p:txBody>
          <a:bodyPr wrap="square" lIns="0" tIns="0" rIns="0" bIns="0" rtlCol="0" anchor="t"/>
          <a:lstStyle/>
          <a:p>
            <a:pPr marL="0" indent="0">
              <a:lnSpc>
                <a:spcPct val="102000"/>
              </a:lnSpc>
              <a:buNone/>
            </a:pPr>
            <a:r>
              <a:rPr lang="en-US" sz="1200">
                <a:solidFill>
                  <a:srgbClr val="CBD9E9"/>
                </a:solidFill>
                <a:latin typeface="Calibri" pitchFamily="34" charset="0"/>
                <a:ea typeface="Calibri" pitchFamily="34" charset="-122"/>
                <a:cs typeface="Calibri" pitchFamily="34" charset="-120"/>
              </a:rPr>
              <a:t>Regression to estimate payment amount; evaluate with MAE, RMSE, and R².</a:t>
            </a:r>
            <a:endParaRPr lang="en-US" sz="1200" dirty="0"/>
          </a:p>
        </p:txBody>
      </p:sp>
      <p:sp>
        <p:nvSpPr>
          <p:cNvPr id="31" name="track card">
            <a:extLst>
              <a:ext uri="{C183D7F6-B498-43B3-948B-1728B52AA6E4}">
                <adec:decorative xmlns:adec="http://schemas.microsoft.com/office/drawing/2017/decorative" val="1"/>
              </a:ext>
            </a:extLst>
          </p:cNvPr>
          <p:cNvSpPr/>
          <p:nvPr/>
        </p:nvSpPr>
        <p:spPr>
          <a:xfrm>
            <a:off x="6355080" y="4709160"/>
            <a:ext cx="5166360" cy="1225296"/>
          </a:xfrm>
          <a:prstGeom prst="rect">
            <a:avLst/>
          </a:prstGeom>
          <a:solidFill>
            <a:srgbClr val="43426A"/>
          </a:solidFill>
          <a:ln w="12700">
            <a:solidFill>
              <a:srgbClr val="5A5880"/>
            </a:solidFill>
            <a:prstDash val="solid"/>
          </a:ln>
        </p:spPr>
        <p:txBody>
          <a:bodyPr/>
          <a:lstStyle/>
          <a:p>
            <a:endParaRPr lang="en-US"/>
          </a:p>
        </p:txBody>
      </p:sp>
      <p:sp>
        <p:nvSpPr>
          <p:cNvPr id="32" name="track accent">
            <a:extLst>
              <a:ext uri="{C183D7F6-B498-43B3-948B-1728B52AA6E4}">
                <adec:decorative xmlns:adec="http://schemas.microsoft.com/office/drawing/2017/decorative" val="1"/>
              </a:ext>
            </a:extLst>
          </p:cNvPr>
          <p:cNvSpPr/>
          <p:nvPr/>
        </p:nvSpPr>
        <p:spPr>
          <a:xfrm>
            <a:off x="6355080" y="4709160"/>
            <a:ext cx="82296" cy="1225296"/>
          </a:xfrm>
          <a:prstGeom prst="rect">
            <a:avLst/>
          </a:prstGeom>
          <a:solidFill>
            <a:srgbClr val="6BA5D7"/>
          </a:solidFill>
          <a:ln/>
        </p:spPr>
        <p:txBody>
          <a:bodyPr/>
          <a:lstStyle/>
          <a:p>
            <a:endParaRPr lang="en-US"/>
          </a:p>
        </p:txBody>
      </p:sp>
      <p:sp>
        <p:nvSpPr>
          <p:cNvPr id="33" name="Text 31"/>
          <p:cNvSpPr/>
          <p:nvPr/>
        </p:nvSpPr>
        <p:spPr>
          <a:xfrm>
            <a:off x="6629400" y="4855464"/>
            <a:ext cx="4663440" cy="41148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Segmentation</a:t>
            </a:r>
            <a:endParaRPr lang="en-US" sz="1600" dirty="0"/>
          </a:p>
        </p:txBody>
      </p:sp>
      <p:sp>
        <p:nvSpPr>
          <p:cNvPr id="34" name="Text 32"/>
          <p:cNvSpPr/>
          <p:nvPr/>
        </p:nvSpPr>
        <p:spPr>
          <a:xfrm>
            <a:off x="6629400" y="5276088"/>
            <a:ext cx="4709160" cy="566928"/>
          </a:xfrm>
          <a:prstGeom prst="rect">
            <a:avLst/>
          </a:prstGeom>
          <a:noFill/>
          <a:ln/>
        </p:spPr>
        <p:txBody>
          <a:bodyPr wrap="square" lIns="0" tIns="0" rIns="0" bIns="0" rtlCol="0" anchor="t"/>
          <a:lstStyle/>
          <a:p>
            <a:pPr marL="0" indent="0">
              <a:lnSpc>
                <a:spcPct val="102000"/>
              </a:lnSpc>
              <a:buNone/>
            </a:pPr>
            <a:r>
              <a:rPr lang="en-US" sz="1200">
                <a:solidFill>
                  <a:srgbClr val="CBD9E9"/>
                </a:solidFill>
                <a:latin typeface="Calibri" pitchFamily="34" charset="0"/>
                <a:ea typeface="Calibri" pitchFamily="34" charset="-122"/>
                <a:cs typeface="Calibri" pitchFamily="34" charset="-120"/>
              </a:rPr>
              <a:t>K-means to surface high-volume, high-cost, and specialized low-volume clusters.</a:t>
            </a:r>
            <a:endParaRPr lang="en-US" sz="1200" dirty="0"/>
          </a:p>
        </p:txBody>
      </p:sp>
      <p:sp>
        <p:nvSpPr>
          <p:cNvPr id="35" name="Text 33"/>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a:solidFill>
                  <a:srgbClr val="A8B2C6"/>
                </a:solidFill>
                <a:latin typeface="Trebuchet MS" pitchFamily="34" charset="0"/>
                <a:ea typeface="Trebuchet MS" pitchFamily="34" charset="-122"/>
                <a:cs typeface="Trebuchet MS" pitchFamily="34" charset="-120"/>
              </a:rPr>
              <a:t>CMS MEDICARE PART B  ·  CY 2022–2024</a:t>
            </a:r>
            <a:endParaRPr lang="en-US" sz="900" dirty="0"/>
          </a:p>
        </p:txBody>
      </p:sp>
      <p:sp>
        <p:nvSpPr>
          <p:cNvPr id="36" name="Text 34"/>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a:solidFill>
                  <a:srgbClr val="6BA5D7"/>
                </a:solidFill>
                <a:latin typeface="Consolas" pitchFamily="34" charset="0"/>
                <a:ea typeface="Consolas" pitchFamily="34" charset="-122"/>
                <a:cs typeface="Consolas"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40080" y="406908"/>
            <a:ext cx="201168" cy="128016"/>
          </a:xfrm>
          <a:prstGeom prst="rect">
            <a:avLst/>
          </a:prstGeom>
          <a:solidFill>
            <a:srgbClr val="6BA5D7"/>
          </a:solidFill>
          <a:ln/>
        </p:spPr>
        <p:txBody>
          <a:bodyPr/>
          <a:lstStyle/>
          <a:p>
            <a:endParaRPr lang="en-US"/>
          </a:p>
        </p:txBody>
      </p:sp>
      <p:sp>
        <p:nvSpPr>
          <p:cNvPr id="3" name="Text 1"/>
          <p:cNvSpPr/>
          <p:nvPr/>
        </p:nvSpPr>
        <p:spPr>
          <a:xfrm>
            <a:off x="932688" y="310896"/>
            <a:ext cx="8229600" cy="310896"/>
          </a:xfrm>
          <a:prstGeom prst="rect">
            <a:avLst/>
          </a:prstGeom>
          <a:noFill/>
          <a:ln/>
        </p:spPr>
        <p:txBody>
          <a:bodyPr wrap="square" lIns="0" tIns="0" rIns="0" bIns="0" rtlCol="0" anchor="ctr"/>
          <a:lstStyle/>
          <a:p>
            <a:pPr marL="0" indent="0" algn="l">
              <a:buNone/>
            </a:pPr>
            <a:r>
              <a:rPr lang="en-US" sz="1250" b="1" kern="0" spc="300">
                <a:solidFill>
                  <a:srgbClr val="4E79A7"/>
                </a:solidFill>
                <a:latin typeface="Trebuchet MS" pitchFamily="34" charset="0"/>
                <a:ea typeface="Trebuchet MS" pitchFamily="34" charset="-122"/>
                <a:cs typeface="Trebuchet MS" pitchFamily="34" charset="-120"/>
              </a:rPr>
              <a:t>APPENDIX</a:t>
            </a:r>
            <a:endParaRPr lang="en-US" sz="1250" dirty="0"/>
          </a:p>
        </p:txBody>
      </p:sp>
      <p:sp>
        <p:nvSpPr>
          <p:cNvPr id="4" name="Text 0"/>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3000" b="1">
                <a:solidFill>
                  <a:srgbClr val="2B2A45"/>
                </a:solidFill>
                <a:latin typeface="Trebuchet MS" pitchFamily="34" charset="0"/>
                <a:ea typeface="Trebuchet MS" pitchFamily="34" charset="-122"/>
                <a:cs typeface="Trebuchet MS" pitchFamily="34" charset="-120"/>
              </a:rPr>
              <a:t>Sources &amp; Notes</a:t>
            </a:r>
            <a:endParaRPr lang="en-US" sz="3000" dirty="0"/>
          </a:p>
        </p:txBody>
      </p:sp>
      <p:sp>
        <p:nvSpPr>
          <p:cNvPr id="5" name="sources card">
            <a:extLst>
              <a:ext uri="{C183D7F6-B498-43B3-948B-1728B52AA6E4}">
                <adec:decorative xmlns:adec="http://schemas.microsoft.com/office/drawing/2017/decorative" val="1"/>
              </a:ext>
            </a:extLst>
          </p:cNvPr>
          <p:cNvSpPr/>
          <p:nvPr/>
        </p:nvSpPr>
        <p:spPr>
          <a:xfrm>
            <a:off x="640080" y="1600200"/>
            <a:ext cx="6400800" cy="4480560"/>
          </a:xfrm>
          <a:prstGeom prst="rect">
            <a:avLst/>
          </a:prstGeom>
          <a:solidFill>
            <a:srgbClr val="FFFFFF"/>
          </a:solidFill>
          <a:ln/>
          <a:effectLst>
            <a:outerShdw blurRad="114300" dist="38100" dir="5400000" algn="bl" rotWithShape="0">
              <a:srgbClr val="43426A">
                <a:alpha val="16000"/>
              </a:srgbClr>
            </a:outerShdw>
          </a:effectLst>
        </p:spPr>
        <p:txBody>
          <a:bodyPr/>
          <a:lstStyle/>
          <a:p>
            <a:endParaRPr lang="en-US"/>
          </a:p>
        </p:txBody>
      </p:sp>
      <p:sp>
        <p:nvSpPr>
          <p:cNvPr id="6" name="Text 4"/>
          <p:cNvSpPr/>
          <p:nvPr/>
        </p:nvSpPr>
        <p:spPr>
          <a:xfrm>
            <a:off x="896112" y="1810512"/>
            <a:ext cx="5943600" cy="365760"/>
          </a:xfrm>
          <a:prstGeom prst="rect">
            <a:avLst/>
          </a:prstGeom>
          <a:noFill/>
          <a:ln/>
        </p:spPr>
        <p:txBody>
          <a:bodyPr wrap="square" lIns="0" tIns="0" rIns="0" bIns="0" rtlCol="0" anchor="ctr"/>
          <a:lstStyle/>
          <a:p>
            <a:pPr marL="0" indent="0">
              <a:buNone/>
            </a:pPr>
            <a:r>
              <a:rPr lang="en-US" sz="1500" b="1">
                <a:solidFill>
                  <a:srgbClr val="2B2A45"/>
                </a:solidFill>
                <a:latin typeface="Trebuchet MS" pitchFamily="34" charset="0"/>
                <a:ea typeface="Trebuchet MS" pitchFamily="34" charset="-122"/>
                <a:cs typeface="Trebuchet MS" pitchFamily="34" charset="-120"/>
              </a:rPr>
              <a:t>CMS Datasets</a:t>
            </a:r>
            <a:endParaRPr lang="en-US" sz="1500" dirty="0"/>
          </a:p>
        </p:txBody>
      </p:sp>
      <p:sp>
        <p:nvSpPr>
          <p:cNvPr id="7" name="Text 5"/>
          <p:cNvSpPr/>
          <p:nvPr/>
        </p:nvSpPr>
        <p:spPr>
          <a:xfrm>
            <a:off x="896112" y="2286000"/>
            <a:ext cx="1188720" cy="457200"/>
          </a:xfrm>
          <a:prstGeom prst="rect">
            <a:avLst/>
          </a:prstGeom>
          <a:noFill/>
          <a:ln/>
        </p:spPr>
        <p:txBody>
          <a:bodyPr wrap="square" lIns="0" tIns="0" rIns="0" bIns="0" rtlCol="0" anchor="ctr"/>
          <a:lstStyle/>
          <a:p>
            <a:pPr marL="0" indent="0">
              <a:buNone/>
            </a:pPr>
            <a:r>
              <a:rPr lang="en-US" sz="1800" b="1">
                <a:solidFill>
                  <a:srgbClr val="4E79A7"/>
                </a:solidFill>
                <a:latin typeface="Consolas" pitchFamily="34" charset="0"/>
                <a:ea typeface="Consolas" pitchFamily="34" charset="-122"/>
                <a:cs typeface="Consolas" pitchFamily="34" charset="-120"/>
              </a:rPr>
              <a:t>CY 2022</a:t>
            </a:r>
            <a:endParaRPr lang="en-US" sz="1800" dirty="0"/>
          </a:p>
        </p:txBody>
      </p:sp>
      <p:sp>
        <p:nvSpPr>
          <p:cNvPr id="8" name="Text 6"/>
          <p:cNvSpPr/>
          <p:nvPr/>
        </p:nvSpPr>
        <p:spPr>
          <a:xfrm>
            <a:off x="2057400" y="2267712"/>
            <a:ext cx="4846320" cy="384048"/>
          </a:xfrm>
          <a:prstGeom prst="rect">
            <a:avLst/>
          </a:prstGeom>
          <a:noFill/>
          <a:ln/>
        </p:spPr>
        <p:txBody>
          <a:bodyPr wrap="square" lIns="0" tIns="0" rIns="0" bIns="0" rtlCol="0" anchor="ctr"/>
          <a:lstStyle/>
          <a:p>
            <a:pPr marL="0" indent="0">
              <a:buNone/>
            </a:pPr>
            <a:r>
              <a:rPr lang="en-US" sz="1300" b="1">
                <a:solidFill>
                  <a:srgbClr val="2B2A45"/>
                </a:solidFill>
                <a:latin typeface="Calibri" pitchFamily="34" charset="0"/>
                <a:ea typeface="Calibri" pitchFamily="34" charset="-122"/>
                <a:cs typeface="Calibri" pitchFamily="34" charset="-120"/>
              </a:rPr>
              <a:t>Expenditures and Services by Specialty</a:t>
            </a:r>
            <a:endParaRPr lang="en-US" sz="1300" dirty="0"/>
          </a:p>
        </p:txBody>
      </p:sp>
      <p:sp>
        <p:nvSpPr>
          <p:cNvPr id="9" name="Text 7"/>
          <p:cNvSpPr/>
          <p:nvPr/>
        </p:nvSpPr>
        <p:spPr>
          <a:xfrm>
            <a:off x="2057400" y="2670048"/>
            <a:ext cx="4846320" cy="384048"/>
          </a:xfrm>
          <a:prstGeom prst="rect">
            <a:avLst/>
          </a:prstGeom>
          <a:noFill/>
          <a:ln/>
        </p:spPr>
        <p:txBody>
          <a:bodyPr wrap="square" lIns="0" tIns="0" rIns="0" bIns="0" rtlCol="0" anchor="ctr"/>
          <a:lstStyle/>
          <a:p>
            <a:pPr marL="0" indent="0">
              <a:buNone/>
            </a:pPr>
            <a:r>
              <a:rPr lang="en-US" sz="1050">
                <a:solidFill>
                  <a:srgbClr val="7C7E96"/>
                </a:solidFill>
                <a:latin typeface="Calibri" pitchFamily="34" charset="0"/>
                <a:ea typeface="Calibri" pitchFamily="34" charset="-122"/>
                <a:cs typeface="Calibri" pitchFamily="34" charset="-120"/>
              </a:rPr>
              <a:t>cms.gov/files/document/cy-2022-expenditures-and-services-specialty.xlsx</a:t>
            </a:r>
            <a:endParaRPr lang="en-US" sz="1050" dirty="0"/>
          </a:p>
        </p:txBody>
      </p:sp>
      <p:sp>
        <p:nvSpPr>
          <p:cNvPr id="10" name="Text 8"/>
          <p:cNvSpPr/>
          <p:nvPr/>
        </p:nvSpPr>
        <p:spPr>
          <a:xfrm>
            <a:off x="896112" y="3493008"/>
            <a:ext cx="1188720" cy="457200"/>
          </a:xfrm>
          <a:prstGeom prst="rect">
            <a:avLst/>
          </a:prstGeom>
          <a:noFill/>
          <a:ln/>
        </p:spPr>
        <p:txBody>
          <a:bodyPr wrap="square" lIns="0" tIns="0" rIns="0" bIns="0" rtlCol="0" anchor="ctr"/>
          <a:lstStyle/>
          <a:p>
            <a:pPr marL="0" indent="0">
              <a:buNone/>
            </a:pPr>
            <a:r>
              <a:rPr lang="en-US" sz="1800" b="1">
                <a:solidFill>
                  <a:srgbClr val="4E79A7"/>
                </a:solidFill>
                <a:latin typeface="Consolas" pitchFamily="34" charset="0"/>
                <a:ea typeface="Consolas" pitchFamily="34" charset="-122"/>
                <a:cs typeface="Consolas" pitchFamily="34" charset="-120"/>
              </a:rPr>
              <a:t>CY 2023</a:t>
            </a:r>
            <a:endParaRPr lang="en-US" sz="1800" dirty="0"/>
          </a:p>
        </p:txBody>
      </p:sp>
      <p:sp>
        <p:nvSpPr>
          <p:cNvPr id="11" name="Text 9"/>
          <p:cNvSpPr/>
          <p:nvPr/>
        </p:nvSpPr>
        <p:spPr>
          <a:xfrm>
            <a:off x="2057400" y="3474720"/>
            <a:ext cx="4846320" cy="384048"/>
          </a:xfrm>
          <a:prstGeom prst="rect">
            <a:avLst/>
          </a:prstGeom>
          <a:noFill/>
          <a:ln/>
        </p:spPr>
        <p:txBody>
          <a:bodyPr wrap="square" lIns="0" tIns="0" rIns="0" bIns="0" rtlCol="0" anchor="ctr"/>
          <a:lstStyle/>
          <a:p>
            <a:pPr marL="0" indent="0">
              <a:buNone/>
            </a:pPr>
            <a:r>
              <a:rPr lang="en-US" sz="1300" b="1">
                <a:solidFill>
                  <a:srgbClr val="2B2A45"/>
                </a:solidFill>
                <a:latin typeface="Calibri" pitchFamily="34" charset="0"/>
                <a:ea typeface="Calibri" pitchFamily="34" charset="-122"/>
                <a:cs typeface="Calibri" pitchFamily="34" charset="-120"/>
              </a:rPr>
              <a:t>Expenditures and Services by Specialty</a:t>
            </a:r>
            <a:endParaRPr lang="en-US" sz="1300" dirty="0"/>
          </a:p>
        </p:txBody>
      </p:sp>
      <p:sp>
        <p:nvSpPr>
          <p:cNvPr id="12" name="Text 10"/>
          <p:cNvSpPr/>
          <p:nvPr/>
        </p:nvSpPr>
        <p:spPr>
          <a:xfrm>
            <a:off x="2057400" y="3877056"/>
            <a:ext cx="4846320" cy="384048"/>
          </a:xfrm>
          <a:prstGeom prst="rect">
            <a:avLst/>
          </a:prstGeom>
          <a:noFill/>
          <a:ln/>
        </p:spPr>
        <p:txBody>
          <a:bodyPr wrap="square" lIns="0" tIns="0" rIns="0" bIns="0" rtlCol="0" anchor="ctr"/>
          <a:lstStyle/>
          <a:p>
            <a:pPr marL="0" indent="0">
              <a:buNone/>
            </a:pPr>
            <a:r>
              <a:rPr lang="en-US" sz="1050">
                <a:solidFill>
                  <a:srgbClr val="7C7E96"/>
                </a:solidFill>
                <a:latin typeface="Calibri" pitchFamily="34" charset="0"/>
                <a:ea typeface="Calibri" pitchFamily="34" charset="-122"/>
                <a:cs typeface="Calibri" pitchFamily="34" charset="-120"/>
              </a:rPr>
              <a:t>cms.gov/files/document/cy-2023-expenditures-and-services-specialty.xlsx</a:t>
            </a:r>
            <a:endParaRPr lang="en-US" sz="1050" dirty="0"/>
          </a:p>
        </p:txBody>
      </p:sp>
      <p:sp>
        <p:nvSpPr>
          <p:cNvPr id="13" name="Text 11"/>
          <p:cNvSpPr/>
          <p:nvPr/>
        </p:nvSpPr>
        <p:spPr>
          <a:xfrm>
            <a:off x="896112" y="4700016"/>
            <a:ext cx="1188720" cy="457200"/>
          </a:xfrm>
          <a:prstGeom prst="rect">
            <a:avLst/>
          </a:prstGeom>
          <a:noFill/>
          <a:ln/>
        </p:spPr>
        <p:txBody>
          <a:bodyPr wrap="square" lIns="0" tIns="0" rIns="0" bIns="0" rtlCol="0" anchor="ctr"/>
          <a:lstStyle/>
          <a:p>
            <a:pPr marL="0" indent="0">
              <a:buNone/>
            </a:pPr>
            <a:r>
              <a:rPr lang="en-US" sz="1800" b="1">
                <a:solidFill>
                  <a:srgbClr val="4E79A7"/>
                </a:solidFill>
                <a:latin typeface="Consolas" pitchFamily="34" charset="0"/>
                <a:ea typeface="Consolas" pitchFamily="34" charset="-122"/>
                <a:cs typeface="Consolas" pitchFamily="34" charset="-120"/>
              </a:rPr>
              <a:t>CY 2024</a:t>
            </a:r>
            <a:endParaRPr lang="en-US" sz="1800" dirty="0"/>
          </a:p>
        </p:txBody>
      </p:sp>
      <p:sp>
        <p:nvSpPr>
          <p:cNvPr id="14" name="Text 12"/>
          <p:cNvSpPr/>
          <p:nvPr/>
        </p:nvSpPr>
        <p:spPr>
          <a:xfrm>
            <a:off x="2057400" y="4681728"/>
            <a:ext cx="4846320" cy="384048"/>
          </a:xfrm>
          <a:prstGeom prst="rect">
            <a:avLst/>
          </a:prstGeom>
          <a:noFill/>
          <a:ln/>
        </p:spPr>
        <p:txBody>
          <a:bodyPr wrap="square" lIns="0" tIns="0" rIns="0" bIns="0" rtlCol="0" anchor="ctr"/>
          <a:lstStyle/>
          <a:p>
            <a:pPr marL="0" indent="0">
              <a:buNone/>
            </a:pPr>
            <a:r>
              <a:rPr lang="en-US" sz="1300" b="1">
                <a:solidFill>
                  <a:srgbClr val="2B2A45"/>
                </a:solidFill>
                <a:latin typeface="Calibri" pitchFamily="34" charset="0"/>
                <a:ea typeface="Calibri" pitchFamily="34" charset="-122"/>
                <a:cs typeface="Calibri" pitchFamily="34" charset="-120"/>
              </a:rPr>
              <a:t>Expenditures and Services by Specialty</a:t>
            </a:r>
            <a:endParaRPr lang="en-US" sz="1300" dirty="0"/>
          </a:p>
        </p:txBody>
      </p:sp>
      <p:sp>
        <p:nvSpPr>
          <p:cNvPr id="15" name="Text 13"/>
          <p:cNvSpPr/>
          <p:nvPr/>
        </p:nvSpPr>
        <p:spPr>
          <a:xfrm>
            <a:off x="2057400" y="5084064"/>
            <a:ext cx="4846320" cy="384048"/>
          </a:xfrm>
          <a:prstGeom prst="rect">
            <a:avLst/>
          </a:prstGeom>
          <a:noFill/>
          <a:ln/>
        </p:spPr>
        <p:txBody>
          <a:bodyPr wrap="square" lIns="0" tIns="0" rIns="0" bIns="0" rtlCol="0" anchor="ctr"/>
          <a:lstStyle/>
          <a:p>
            <a:pPr marL="0" indent="0">
              <a:buNone/>
            </a:pPr>
            <a:r>
              <a:rPr lang="en-US" sz="1050">
                <a:solidFill>
                  <a:srgbClr val="7C7E96"/>
                </a:solidFill>
                <a:latin typeface="Calibri" pitchFamily="34" charset="0"/>
                <a:ea typeface="Calibri" pitchFamily="34" charset="-122"/>
                <a:cs typeface="Calibri" pitchFamily="34" charset="-120"/>
              </a:rPr>
              <a:t>cms.gov/files/document/cy-2024-expenditures-and-services-specialty.xlsx</a:t>
            </a:r>
            <a:endParaRPr lang="en-US" sz="1050" dirty="0"/>
          </a:p>
        </p:txBody>
      </p:sp>
      <p:sp>
        <p:nvSpPr>
          <p:cNvPr id="16" name="notes card">
            <a:extLst>
              <a:ext uri="{C183D7F6-B498-43B3-948B-1728B52AA6E4}">
                <adec:decorative xmlns:adec="http://schemas.microsoft.com/office/drawing/2017/decorative" val="1"/>
              </a:ext>
            </a:extLst>
          </p:cNvPr>
          <p:cNvSpPr/>
          <p:nvPr/>
        </p:nvSpPr>
        <p:spPr>
          <a:xfrm>
            <a:off x="7223760" y="1600200"/>
            <a:ext cx="4297680" cy="4480560"/>
          </a:xfrm>
          <a:prstGeom prst="rect">
            <a:avLst/>
          </a:prstGeom>
          <a:solidFill>
            <a:srgbClr val="43426A"/>
          </a:solidFill>
          <a:ln/>
        </p:spPr>
        <p:txBody>
          <a:bodyPr/>
          <a:lstStyle/>
          <a:p>
            <a:endParaRPr lang="en-US"/>
          </a:p>
        </p:txBody>
      </p:sp>
      <p:sp>
        <p:nvSpPr>
          <p:cNvPr id="17" name="Text 15"/>
          <p:cNvSpPr/>
          <p:nvPr/>
        </p:nvSpPr>
        <p:spPr>
          <a:xfrm>
            <a:off x="7479792" y="1810512"/>
            <a:ext cx="3840480" cy="365760"/>
          </a:xfrm>
          <a:prstGeom prst="rect">
            <a:avLst/>
          </a:prstGeom>
          <a:noFill/>
          <a:ln/>
        </p:spPr>
        <p:txBody>
          <a:bodyPr wrap="square" lIns="0" tIns="0" rIns="0" bIns="0" rtlCol="0" anchor="ctr"/>
          <a:lstStyle/>
          <a:p>
            <a:pPr marL="0" indent="0">
              <a:buNone/>
            </a:pPr>
            <a:r>
              <a:rPr lang="en-US" sz="1500" b="1">
                <a:solidFill>
                  <a:srgbClr val="6BA5D7"/>
                </a:solidFill>
                <a:latin typeface="Trebuchet MS" pitchFamily="34" charset="0"/>
                <a:ea typeface="Trebuchet MS" pitchFamily="34" charset="-122"/>
                <a:cs typeface="Trebuchet MS" pitchFamily="34" charset="-120"/>
              </a:rPr>
              <a:t>Notes &amp; Limitations</a:t>
            </a:r>
            <a:endParaRPr lang="en-US" sz="1500" dirty="0"/>
          </a:p>
        </p:txBody>
      </p:sp>
      <p:sp>
        <p:nvSpPr>
          <p:cNvPr id="18" name="Text 16"/>
          <p:cNvSpPr/>
          <p:nvPr/>
        </p:nvSpPr>
        <p:spPr>
          <a:xfrm>
            <a:off x="7479792" y="2286000"/>
            <a:ext cx="3840480" cy="3657600"/>
          </a:xfrm>
          <a:prstGeom prst="rect">
            <a:avLst/>
          </a:prstGeom>
          <a:noFill/>
          <a:ln/>
        </p:spPr>
        <p:txBody>
          <a:bodyPr wrap="square" lIns="0" tIns="0" rIns="0" bIns="0" rtlCol="0" anchor="t"/>
          <a:lstStyle/>
          <a:p>
            <a:pPr marL="342900" indent="-342900">
              <a:lnSpc>
                <a:spcPct val="103000"/>
              </a:lnSpc>
              <a:spcAft>
                <a:spcPts val="1000"/>
              </a:spcAft>
              <a:buSzPct val="100000"/>
              <a:buChar char="•"/>
            </a:pPr>
            <a:r>
              <a:rPr lang="en-US" sz="1250">
                <a:solidFill>
                  <a:srgbClr val="CBD9E9"/>
                </a:solidFill>
                <a:latin typeface="Calibri" pitchFamily="34" charset="0"/>
                <a:ea typeface="Calibri" pitchFamily="34" charset="-122"/>
                <a:cs typeface="Calibri" pitchFamily="34" charset="-120"/>
              </a:rPr>
              <a:t>Aggregated public-use national summary data — not beneficiary-level claims.</a:t>
            </a:r>
            <a:endParaRPr lang="en-US" sz="1250" dirty="0"/>
          </a:p>
          <a:p>
            <a:pPr marL="342900" indent="-342900">
              <a:lnSpc>
                <a:spcPct val="103000"/>
              </a:lnSpc>
              <a:spcAft>
                <a:spcPts val="1000"/>
              </a:spcAft>
              <a:buSzPct val="100000"/>
              <a:buChar char="•"/>
            </a:pPr>
            <a:r>
              <a:rPr lang="en-US" sz="1250">
                <a:solidFill>
                  <a:srgbClr val="CBD9E9"/>
                </a:solidFill>
                <a:latin typeface="Calibri" pitchFamily="34" charset="0"/>
                <a:ea typeface="Calibri" pitchFamily="34" charset="-122"/>
                <a:cs typeface="Calibri" pitchFamily="34" charset="-120"/>
              </a:rPr>
              <a:t>Original Medicare Part B physician/supplier only; excludes Medicare Advantage.</a:t>
            </a:r>
            <a:endParaRPr lang="en-US" sz="1250" dirty="0"/>
          </a:p>
          <a:p>
            <a:pPr marL="342900" indent="-342900">
              <a:lnSpc>
                <a:spcPct val="103000"/>
              </a:lnSpc>
              <a:spcAft>
                <a:spcPts val="1000"/>
              </a:spcAft>
              <a:buSzPct val="100000"/>
              <a:buChar char="•"/>
            </a:pPr>
            <a:r>
              <a:rPr lang="en-US" sz="1250">
                <a:solidFill>
                  <a:srgbClr val="CBD9E9"/>
                </a:solidFill>
                <a:latin typeface="Calibri" pitchFamily="34" charset="0"/>
                <a:ea typeface="Calibri" pitchFamily="34" charset="-122"/>
                <a:cs typeface="Calibri" pitchFamily="34" charset="-120"/>
              </a:rPr>
              <a:t>Specialty rankings use CY 2022, the year with complete specialty detail in this extract; national trends span 2022–2024.</a:t>
            </a:r>
            <a:endParaRPr lang="en-US" sz="1250" dirty="0"/>
          </a:p>
          <a:p>
            <a:pPr marL="342900" indent="-342900">
              <a:lnSpc>
                <a:spcPct val="103000"/>
              </a:lnSpc>
              <a:spcAft>
                <a:spcPts val="1000"/>
              </a:spcAft>
              <a:buSzPct val="100000"/>
              <a:buChar char="•"/>
            </a:pPr>
            <a:r>
              <a:rPr lang="en-US" sz="1250">
                <a:solidFill>
                  <a:srgbClr val="CBD9E9"/>
                </a:solidFill>
                <a:latin typeface="Calibri" pitchFamily="34" charset="0"/>
                <a:ea typeface="Calibri" pitchFamily="34" charset="-122"/>
                <a:cs typeface="Calibri" pitchFamily="34" charset="-120"/>
              </a:rPr>
              <a:t>Aggregate/Total and source rows excluded from specialty-level analysis.</a:t>
            </a:r>
            <a:endParaRPr lang="en-US" sz="1250" dirty="0"/>
          </a:p>
          <a:p>
            <a:pPr marL="342900" indent="-342900">
              <a:lnSpc>
                <a:spcPct val="103000"/>
              </a:lnSpc>
              <a:spcAft>
                <a:spcPts val="1000"/>
              </a:spcAft>
              <a:buSzPct val="100000"/>
              <a:buChar char="•"/>
            </a:pPr>
            <a:r>
              <a:rPr lang="en-US" sz="1250">
                <a:solidFill>
                  <a:srgbClr val="CBD9E9"/>
                </a:solidFill>
                <a:latin typeface="Calibri" pitchFamily="34" charset="0"/>
                <a:ea typeface="Calibri" pitchFamily="34" charset="-122"/>
                <a:cs typeface="Calibri" pitchFamily="34" charset="-120"/>
              </a:rPr>
              <a:t>Figures rounded for presentation; see source files for exact values.</a:t>
            </a:r>
            <a:endParaRPr lang="en-US" sz="1250" dirty="0"/>
          </a:p>
        </p:txBody>
      </p:sp>
      <p:sp>
        <p:nvSpPr>
          <p:cNvPr id="19" name="Text 17"/>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a:solidFill>
                  <a:srgbClr val="7C7E96"/>
                </a:solidFill>
                <a:latin typeface="Trebuchet MS" pitchFamily="34" charset="0"/>
                <a:ea typeface="Trebuchet MS" pitchFamily="34" charset="-122"/>
                <a:cs typeface="Trebuchet MS" pitchFamily="34" charset="-120"/>
              </a:rPr>
              <a:t>CMS MEDICARE PART B  ·  CY 2022–2024</a:t>
            </a:r>
            <a:endParaRPr lang="en-US" sz="900" dirty="0"/>
          </a:p>
        </p:txBody>
      </p:sp>
      <p:sp>
        <p:nvSpPr>
          <p:cNvPr id="20" name="Text 18"/>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a:solidFill>
                  <a:srgbClr val="4E79A7"/>
                </a:solidFill>
                <a:latin typeface="Consolas" pitchFamily="34" charset="0"/>
                <a:ea typeface="Consolas" pitchFamily="34" charset="-122"/>
                <a:cs typeface="Consolas" pitchFamily="34" charset="-120"/>
              </a:rPr>
              <a:t>25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3426A"/>
      </a:dk2>
      <a:lt2>
        <a:srgbClr val="E7E6E6"/>
      </a:lt2>
      <a:accent1>
        <a:srgbClr val="4E79A7"/>
      </a:accent1>
      <a:accent2>
        <a:srgbClr val="A0CBE8"/>
      </a:accent2>
      <a:accent3>
        <a:srgbClr val="A5A5A5"/>
      </a:accent3>
      <a:accent4>
        <a:srgbClr val="FFC000"/>
      </a:accent4>
      <a:accent5>
        <a:srgbClr val="6BA5D7"/>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3426A"/>
      </a:dk2>
      <a:lt2>
        <a:srgbClr val="E7E6E6"/>
      </a:lt2>
      <a:accent1>
        <a:srgbClr val="4E79A7"/>
      </a:accent1>
      <a:accent2>
        <a:srgbClr val="A0CBE8"/>
      </a:accent2>
      <a:accent3>
        <a:srgbClr val="A5A5A5"/>
      </a:accent3>
      <a:accent4>
        <a:srgbClr val="FFC000"/>
      </a:accent4>
      <a:accent5>
        <a:srgbClr val="6BA5D7"/>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11391</TotalTime>
  <Words>6019</Words>
  <Application>Microsoft Office PowerPoint</Application>
  <PresentationFormat>Widescreen</PresentationFormat>
  <Paragraphs>588</Paragraphs>
  <Slides>25</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Consolas</vt:lpstr>
      <vt:lpstr>Trebuchet MS</vt:lpstr>
      <vt:lpstr>Office Theme</vt:lpstr>
      <vt:lpstr>Utilization &amp; Cost Analytics</vt:lpstr>
      <vt:lpstr>The Bottom Line</vt:lpstr>
      <vt:lpstr>2024 at a Glance</vt:lpstr>
      <vt:lpstr>What This Analysis Covers</vt:lpstr>
      <vt:lpstr>Medicare Part B Spending Is Climbing</vt:lpstr>
      <vt:lpstr>Payment Rate Holds Near 77%</vt:lpstr>
      <vt:lpstr>Volume Peaked in 2023; Unit Cost Rebounded</vt:lpstr>
      <vt:lpstr>Top 10 Specialties by Medicare Payment</vt:lpstr>
      <vt:lpstr>Internal Medicine: The Volume Engine</vt:lpstr>
      <vt:lpstr>What Drives the Top of the Ranking</vt:lpstr>
      <vt:lpstr>High Volume vs. High Intensity</vt:lpstr>
      <vt:lpstr>A 160× Spread in Payment per Service</vt:lpstr>
      <vt:lpstr>Three Natural Specialty Segments</vt:lpstr>
      <vt:lpstr>The Clusters, Made Visible</vt:lpstr>
      <vt:lpstr>Volume and Price Explain 99.9% of Payment</vt:lpstr>
      <vt:lpstr>The Fit Holds, Year After Year</vt:lpstr>
      <vt:lpstr>Key Findings</vt:lpstr>
      <vt:lpstr>Where to Focus Next</vt:lpstr>
      <vt:lpstr>From Insight to Action</vt:lpstr>
      <vt:lpstr>Tableau Dashboard — Interactive View</vt:lpstr>
      <vt:lpstr>Cost Intensity — The Dashboard Scatter</vt:lpstr>
      <vt:lpstr>Tableau Build Blueprint</vt:lpstr>
      <vt:lpstr>Six Core KPIs</vt:lpstr>
      <vt:lpstr>Analytical Approach</vt:lpstr>
      <vt:lpstr>Sources &amp; Notes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Lisa .</dc:creator>
  <cp:lastModifiedBy>Lisa .</cp:lastModifiedBy>
  <cp:revision>4</cp:revision>
  <dcterms:created xsi:type="dcterms:W3CDTF">2026-07-18T16:02:08Z</dcterms:created>
  <dcterms:modified xsi:type="dcterms:W3CDTF">2026-08-10T13:20:35Z</dcterms:modified>
</cp:coreProperties>
</file>